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png"/><Relationship Id="rId27" Type="http://schemas.openxmlformats.org/officeDocument/2006/relationships/image" Target="../media/image-10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pn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png"/><Relationship Id="rId23" Type="http://schemas.openxmlformats.org/officeDocument/2006/relationships/image" Target="../media/image-14-23.png"/><Relationship Id="rId24" Type="http://schemas.openxmlformats.org/officeDocument/2006/relationships/image" Target="../media/image-14-24.png"/><Relationship Id="rId25" Type="http://schemas.openxmlformats.org/officeDocument/2006/relationships/image" Target="../media/image-14-25.png"/><Relationship Id="rId26" Type="http://schemas.openxmlformats.org/officeDocument/2006/relationships/image" Target="../media/image-14-26.png"/><Relationship Id="rId27" Type="http://schemas.openxmlformats.org/officeDocument/2006/relationships/image" Target="../media/image-14-27.png"/><Relationship Id="rId28" Type="http://schemas.openxmlformats.org/officeDocument/2006/relationships/image" Target="../media/image-14-28.png"/><Relationship Id="rId29" Type="http://schemas.openxmlformats.org/officeDocument/2006/relationships/image" Target="../media/image-14-29.png"/><Relationship Id="rId30" Type="http://schemas.openxmlformats.org/officeDocument/2006/relationships/image" Target="../media/image-14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" b="-2"/>
          <a:stretch/>
        </p:blipFill>
        <p:spPr>
          <a:xfrm>
            <a:off x="10668305" y="0"/>
            <a:ext cx="7619695" cy="102870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571500" y="761695"/>
            <a:ext cx="17145000" cy="19202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16894454" y="428854"/>
            <a:ext cx="95098" cy="9509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17065447" y="381305"/>
            <a:ext cx="773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연결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1159459" y="9329623"/>
            <a:ext cx="296814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PCB 생산 및 공급 전문 기업 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5" b="-45"/>
          <a:stretch/>
        </p:blipFill>
        <p:spPr>
          <a:xfrm>
            <a:off x="761695" y="9396374"/>
            <a:ext cx="256946" cy="2286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5813634" y="9277502"/>
            <a:ext cx="204094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75" kern="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SiliconCube</a:t>
            </a:r>
            <a:endParaRPr lang="en-US" sz="2400" dirty="0"/>
          </a:p>
        </p:txBody>
      </p:sp>
      <p:sp>
        <p:nvSpPr>
          <p:cNvPr id="11" name="Shape 5"/>
          <p:cNvSpPr/>
          <p:nvPr/>
        </p:nvSpPr>
        <p:spPr>
          <a:xfrm>
            <a:off x="14477695" y="952805"/>
            <a:ext cx="1904695" cy="1904695"/>
          </a:xfrm>
          <a:prstGeom prst="ellipse">
            <a:avLst/>
          </a:prstGeom>
          <a:noFill/>
          <a:ln w="254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15792602" y="1429207"/>
            <a:ext cx="114300" cy="1143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761695" y="1143000"/>
            <a:ext cx="16935602" cy="139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-75" kern="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Multi-Agentic AI</a:t>
            </a:r>
            <a:pPr algn="l" indent="0" marL="0">
              <a:buNone/>
            </a:pPr>
            <a:r>
              <a:rPr lang="en-US" sz="4200" b="1" spc="-75" kern="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기반</a:t>
            </a:r>
            <a:pPr algn="l" indent="0" marL="0">
              <a:buNone/>
            </a:pPr>
            <a:endParaRPr lang="en-US" sz="4200" dirty="0"/>
          </a:p>
          <a:p>
            <a:pPr algn="l" indent="0" marL="0">
              <a:buNone/>
            </a:pPr>
            <a:r>
              <a:rPr lang="en-US" sz="4200" b="1" spc="-75" kern="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PCB 생산라인 </a:t>
            </a:r>
            <a:pPr algn="l" indent="0" marL="0">
              <a:buNone/>
            </a:pPr>
            <a:r>
              <a:rPr lang="en-US" sz="4200" b="1" spc="-75" kern="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 모니터링 플랫폼</a:t>
            </a:r>
            <a:pPr algn="l" indent="0" marL="0">
              <a:buNone/>
            </a:pPr>
            <a:r>
              <a:rPr lang="en-US" sz="4200" b="1" spc="-75" kern="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구축 제안 </a:t>
            </a:r>
            <a:endParaRPr lang="en-US" sz="4200" dirty="0"/>
          </a:p>
        </p:txBody>
      </p:sp>
      <p:sp>
        <p:nvSpPr>
          <p:cNvPr id="14" name="Text 8"/>
          <p:cNvSpPr txBox="1"/>
          <p:nvPr/>
        </p:nvSpPr>
        <p:spPr>
          <a:xfrm>
            <a:off x="761695" y="2720340"/>
            <a:ext cx="168789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Twin 기반 실시간 운영 최적화 | Agentic AI 기반 자율 대응 시스템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761695" y="1095451"/>
            <a:ext cx="5339182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-75" kern="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Multi-Agentic AI</a:t>
            </a:r>
            <a:endParaRPr lang="en-US" sz="4200" dirty="0"/>
          </a:p>
        </p:txBody>
      </p:sp>
      <p:sp>
        <p:nvSpPr>
          <p:cNvPr id="16" name="Text 10"/>
          <p:cNvSpPr txBox="1"/>
          <p:nvPr/>
        </p:nvSpPr>
        <p:spPr>
          <a:xfrm>
            <a:off x="4006901" y="1788566"/>
            <a:ext cx="7145122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-75" kern="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 모니터링 플랫폼</a:t>
            </a:r>
            <a:endParaRPr lang="en-US" sz="4200" dirty="0"/>
          </a:p>
        </p:txBody>
      </p:sp>
      <p:sp>
        <p:nvSpPr>
          <p:cNvPr id="17" name="Shape 11"/>
          <p:cNvSpPr/>
          <p:nvPr/>
        </p:nvSpPr>
        <p:spPr>
          <a:xfrm>
            <a:off x="761695" y="3047695"/>
            <a:ext cx="5333695" cy="2238451"/>
          </a:xfrm>
          <a:prstGeom prst="roundRect">
            <a:avLst>
              <a:gd name="adj" fmla="val 4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57046" y="3343046"/>
            <a:ext cx="571500" cy="571500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75918" y="3495751"/>
            <a:ext cx="333756" cy="26700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57046" y="4105656"/>
            <a:ext cx="48582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Multi-Agent AI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1057046" y="4496105"/>
            <a:ext cx="48198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6개의 전문 AI Agent가 협업하여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상황을 분석하고 자율 대응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6476695" y="3047695"/>
            <a:ext cx="5333695" cy="2238451"/>
          </a:xfrm>
          <a:prstGeom prst="roundRect">
            <a:avLst>
              <a:gd name="adj" fmla="val 4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772046" y="3343046"/>
            <a:ext cx="571500" cy="571500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rcRect l="-685" r="-685" t="0" b="0"/>
          <a:stretch/>
        </p:blipFill>
        <p:spPr>
          <a:xfrm>
            <a:off x="6905549" y="3495751"/>
            <a:ext cx="304495" cy="267005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6772046" y="4105656"/>
            <a:ext cx="48582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Twin</a:t>
            </a:r>
            <a:endParaRPr lang="en-US" sz="1500" dirty="0"/>
          </a:p>
        </p:txBody>
      </p:sp>
      <p:sp>
        <p:nvSpPr>
          <p:cNvPr id="26" name="Text 16"/>
          <p:cNvSpPr txBox="1"/>
          <p:nvPr/>
        </p:nvSpPr>
        <p:spPr>
          <a:xfrm>
            <a:off x="6772046" y="4496105"/>
            <a:ext cx="48198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가상 생산라인 구성으로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상태 반영 및 예측</a:t>
            </a:r>
            <a:endParaRPr lang="en-US" sz="1200" dirty="0"/>
          </a:p>
        </p:txBody>
      </p:sp>
      <p:sp>
        <p:nvSpPr>
          <p:cNvPr id="27" name="Shape 17"/>
          <p:cNvSpPr/>
          <p:nvPr/>
        </p:nvSpPr>
        <p:spPr>
          <a:xfrm>
            <a:off x="12191695" y="3047695"/>
            <a:ext cx="5333695" cy="2238451"/>
          </a:xfrm>
          <a:prstGeom prst="roundRect">
            <a:avLst>
              <a:gd name="adj" fmla="val 41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2487046" y="3343046"/>
            <a:ext cx="571500" cy="571500"/>
          </a:xfrm>
          <a:prstGeom prst="rect">
            <a:avLst/>
          </a:prstGeom>
        </p:spPr>
      </p:pic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rcRect l="-881" r="-881" t="0" b="0"/>
          <a:stretch/>
        </p:blipFill>
        <p:spPr>
          <a:xfrm>
            <a:off x="12654382" y="3495751"/>
            <a:ext cx="237744" cy="267005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2487046" y="4105656"/>
            <a:ext cx="49341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대응</a:t>
            </a:r>
            <a:endParaRPr lang="en-US" sz="1500" dirty="0"/>
          </a:p>
        </p:txBody>
      </p:sp>
      <p:sp>
        <p:nvSpPr>
          <p:cNvPr id="31" name="Text 19"/>
          <p:cNvSpPr txBox="1"/>
          <p:nvPr/>
        </p:nvSpPr>
        <p:spPr>
          <a:xfrm>
            <a:off x="12487046" y="4496105"/>
            <a:ext cx="48198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감지부터 조치까지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자동화된 전체 프로세스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8758" y="514807"/>
            <a:ext cx="158099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제안 개요 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5" b="-45"/>
          <a:stretch/>
        </p:blipFill>
        <p:spPr>
          <a:xfrm>
            <a:off x="571500" y="614477"/>
            <a:ext cx="256946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846759" y="638251"/>
            <a:ext cx="461406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PCB 생산라인 운영 효율성 극대화 및 장애 대응 자동화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1500" y="1333195"/>
            <a:ext cx="8382305" cy="2924251"/>
          </a:xfrm>
          <a:prstGeom prst="roundRect">
            <a:avLst>
              <a:gd name="adj" fmla="val 24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9244" y="1571854"/>
            <a:ext cx="381305" cy="38130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05256" y="1666951"/>
            <a:ext cx="190195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04849" y="1623974"/>
            <a:ext cx="93543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 목표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809244" y="2104949"/>
            <a:ext cx="82012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본 제안은 PCB 생산 및 공급 전문 기업의 </a:t>
            </a:r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생산라인 운영 효율성 극대화</a:t>
            </a:r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</a:t>
            </a:r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대응 자동화</a:t>
            </a:r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목표로 합니다. 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809244" y="2577694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42746" y="2500884"/>
            <a:ext cx="39246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생산라인 장비 상태 실시간 파악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42746" y="2739542"/>
            <a:ext cx="4415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장비의 상태를 실시간으로 모니터링하여 이상 징후를 즉시 감지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809244" y="3119933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42746" y="3044038"/>
            <a:ext cx="29151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상황 발생 시 즉각적인 대응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942746" y="3282696"/>
            <a:ext cx="33110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발생 시 자동으로 대응하여 생산 중단 최소화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09244" y="3663086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942746" y="3587191"/>
            <a:ext cx="27816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의존도 감소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942746" y="3824935"/>
            <a:ext cx="3215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자율 대응으로 인력 의존도를 대폭 감소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" b="-4"/>
          <a:stretch/>
        </p:blipFill>
        <p:spPr>
          <a:xfrm>
            <a:off x="571500" y="4710989"/>
            <a:ext cx="8382305" cy="957377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00" b="-100"/>
          <a:stretch/>
        </p:blipFill>
        <p:spPr>
          <a:xfrm>
            <a:off x="771754" y="4948733"/>
            <a:ext cx="114300" cy="15270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61949" y="4911242"/>
            <a:ext cx="11713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해결 방향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771754" y="5254142"/>
            <a:ext cx="80970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Multi-Agentic AI + Digital Twin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기반의 </a:t>
            </a:r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 운영 플랫폼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구축으로 예측 → 판단 → 실행까지 자동화 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9334195" y="1333195"/>
            <a:ext cx="8382305" cy="4972507"/>
          </a:xfrm>
          <a:prstGeom prst="roundRect">
            <a:avLst>
              <a:gd name="adj" fmla="val 8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572854" y="1571854"/>
            <a:ext cx="381305" cy="381305"/>
          </a:xfrm>
          <a:prstGeom prst="rect">
            <a:avLst/>
          </a:prstGeom>
        </p:spPr>
      </p:pic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667951" y="1666951"/>
            <a:ext cx="190195" cy="190195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0067544" y="1623974"/>
            <a:ext cx="166603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방식의 한계</a:t>
            </a:r>
            <a:endParaRPr lang="en-US" sz="1500" dirty="0"/>
          </a:p>
        </p:txBody>
      </p:sp>
      <p:sp>
        <p:nvSpPr>
          <p:cNvPr id="29" name="Shape 20"/>
          <p:cNvSpPr/>
          <p:nvPr/>
        </p:nvSpPr>
        <p:spPr>
          <a:xfrm>
            <a:off x="9572854" y="2180844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1"/>
          <p:cNvSpPr txBox="1"/>
          <p:nvPr/>
        </p:nvSpPr>
        <p:spPr>
          <a:xfrm>
            <a:off x="9706356" y="2104949"/>
            <a:ext cx="27624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모니터링 중심</a:t>
            </a:r>
            <a:endParaRPr lang="en-US" sz="1100" dirty="0"/>
          </a:p>
        </p:txBody>
      </p:sp>
      <p:sp>
        <p:nvSpPr>
          <p:cNvPr id="31" name="Text 22"/>
          <p:cNvSpPr txBox="1"/>
          <p:nvPr/>
        </p:nvSpPr>
        <p:spPr>
          <a:xfrm>
            <a:off x="9706356" y="2343607"/>
            <a:ext cx="31034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수집만 하고 분석/대응은 수동으로 진행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9572854" y="2723998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9706356" y="2648102"/>
            <a:ext cx="20574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발생 후 대응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9706356" y="2885846"/>
            <a:ext cx="23454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 대응 방식으로 생산 손실 발생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9572854" y="3267151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9706356" y="3191256"/>
            <a:ext cx="215066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데이터는 있으나 활용 부족</a:t>
            </a:r>
            <a:endParaRPr lang="en-US" sz="1100" dirty="0"/>
          </a:p>
        </p:txBody>
      </p:sp>
      <p:sp>
        <p:nvSpPr>
          <p:cNvPr id="37" name="Text 28"/>
          <p:cNvSpPr txBox="1"/>
          <p:nvPr/>
        </p:nvSpPr>
        <p:spPr>
          <a:xfrm>
            <a:off x="9706356" y="3429000"/>
            <a:ext cx="24323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수집된 데이터를 AI로 분석하지 않음</a:t>
            </a:r>
            <a:endParaRPr lang="en-US" sz="100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399" b="-399"/>
          <a:stretch/>
        </p:blipFill>
        <p:spPr>
          <a:xfrm>
            <a:off x="9572854" y="3771900"/>
            <a:ext cx="7905902" cy="19202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17401946" y="3733495"/>
            <a:ext cx="75895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13340182" y="3943807"/>
            <a:ext cx="43296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해결 방향 </a:t>
            </a:r>
            <a:endParaRPr lang="en-US" sz="120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00" b="-100"/>
          <a:stretch/>
        </p:blipFill>
        <p:spPr>
          <a:xfrm>
            <a:off x="13107010" y="3991356"/>
            <a:ext cx="114300" cy="152705"/>
          </a:xfrm>
          <a:prstGeom prst="rect">
            <a:avLst/>
          </a:prstGeom>
        </p:spPr>
      </p:pic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7" b="-7"/>
          <a:stretch/>
        </p:blipFill>
        <p:spPr>
          <a:xfrm>
            <a:off x="9572854" y="4286707"/>
            <a:ext cx="7905902" cy="1776679"/>
          </a:xfrm>
          <a:prstGeom prst="rect">
            <a:avLst/>
          </a:prstGeom>
        </p:spPr>
      </p:pic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782251" y="4533595"/>
            <a:ext cx="152705" cy="152705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10010851" y="4496105"/>
            <a:ext cx="748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결과</a:t>
            </a:r>
            <a:endParaRPr lang="en-US" sz="1200" dirty="0"/>
          </a:p>
        </p:txBody>
      </p:sp>
      <p:sp>
        <p:nvSpPr>
          <p:cNvPr id="45" name="Text 32"/>
          <p:cNvSpPr txBox="1"/>
          <p:nvPr/>
        </p:nvSpPr>
        <p:spPr>
          <a:xfrm>
            <a:off x="9782251" y="4839005"/>
            <a:ext cx="7601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Multi-Agentic AI + Digital Twin</a:t>
            </a:r>
            <a:pPr algn="l"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기반 </a:t>
            </a:r>
            <a:pPr algn="l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 운영 플랫폼</a:t>
            </a:r>
            <a:pPr algn="l"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전환 완료 </a:t>
            </a:r>
            <a:endParaRPr lang="en-US" sz="110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100" b="-1100"/>
          <a:stretch/>
        </p:blipFill>
        <p:spPr>
          <a:xfrm>
            <a:off x="9782251" y="5158130"/>
            <a:ext cx="114300" cy="133502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9972446" y="5128870"/>
            <a:ext cx="18489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데이터 분석 및 예측</a:t>
            </a:r>
            <a:endParaRPr lang="en-US" sz="1000" dirty="0"/>
          </a:p>
        </p:txBody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1100" b="-1100"/>
          <a:stretch/>
        </p:blipFill>
        <p:spPr>
          <a:xfrm>
            <a:off x="9782251" y="5424221"/>
            <a:ext cx="114300" cy="133502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9972446" y="5395874"/>
            <a:ext cx="17657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자동화된 장애 대응 시스템</a:t>
            </a:r>
            <a:endParaRPr lang="en-US" sz="1000" dirty="0"/>
          </a:p>
        </p:txBody>
      </p:sp>
      <p:pic>
        <p:nvPicPr>
          <p:cNvPr id="50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100" b="-1100"/>
          <a:stretch/>
        </p:blipFill>
        <p:spPr>
          <a:xfrm>
            <a:off x="9782251" y="5691226"/>
            <a:ext cx="114300" cy="133502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9972446" y="5662879"/>
            <a:ext cx="14767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 효율성 25% 향상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10666" y="514807"/>
            <a:ext cx="332293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고객 요구사항 분석 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27" r="-27" t="0" b="0"/>
          <a:stretch/>
        </p:blipFill>
        <p:spPr>
          <a:xfrm>
            <a:off x="571500" y="614477"/>
            <a:ext cx="428854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069873" y="638251"/>
            <a:ext cx="43104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PCB 생산라인 운영의 핵심 니즈와 Pain Point 분석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1500" y="1333195"/>
            <a:ext cx="8382305" cy="3467405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9244" y="1571854"/>
            <a:ext cx="381305" cy="38130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05256" y="1666951"/>
            <a:ext cx="190195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04849" y="1623974"/>
            <a:ext cx="93543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니즈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809244" y="2104949"/>
            <a:ext cx="8097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PCB 생산라인 운영에 필요한 </a:t>
            </a:r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요구사항</a:t>
            </a:r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분석하여 </a:t>
            </a:r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구축 방향</a:t>
            </a:r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설정합니다. 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809244" y="2577694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42746" y="2500884"/>
            <a:ext cx="39246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생산라인 장비 상태 실시간 파악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42746" y="2739542"/>
            <a:ext cx="4415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장비의 상태를 실시간으로 모니터링하여 이상 징후를 즉시 감지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809244" y="3119933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42746" y="3044038"/>
            <a:ext cx="29151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상황 발생 시 즉각적인 대응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942746" y="3282696"/>
            <a:ext cx="33110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발생 시 자동으로 대응하여 생산 중단 최소화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09244" y="3663086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942746" y="3587191"/>
            <a:ext cx="27816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의존도 감소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942746" y="3824935"/>
            <a:ext cx="3215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자율 대응으로 인력 의존도를 대폭 감소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09244" y="4206240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942746" y="4130345"/>
            <a:ext cx="24588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 중단 최소화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942746" y="4368089"/>
            <a:ext cx="27587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예방적 유지보수로 계획 외 다운타임 방지</a:t>
            </a:r>
            <a:endParaRPr lang="en-US" sz="10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" b="-8"/>
          <a:stretch/>
        </p:blipFill>
        <p:spPr>
          <a:xfrm>
            <a:off x="571500" y="4987138"/>
            <a:ext cx="8382305" cy="2343607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9244" y="5225796"/>
            <a:ext cx="381305" cy="381305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05256" y="5320894"/>
            <a:ext cx="190195" cy="19019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304849" y="5277917"/>
            <a:ext cx="14639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성과 지표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809244" y="5758891"/>
            <a:ext cx="7905902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923544" y="5892394"/>
            <a:ext cx="9107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가용성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8142732" y="5873191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99.9%</a:t>
            </a:r>
            <a:endParaRPr lang="en-US" sz="12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-202" r="-202" t="0" b="0"/>
          <a:stretch/>
        </p:blipFill>
        <p:spPr>
          <a:xfrm>
            <a:off x="809244" y="6291986"/>
            <a:ext cx="7905902" cy="75895"/>
          </a:xfrm>
          <a:prstGeom prst="rect">
            <a:avLst/>
          </a:prstGeom>
        </p:spPr>
      </p:pic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rcRect l="-201" r="-201" t="0" b="0"/>
          <a:stretch/>
        </p:blipFill>
        <p:spPr>
          <a:xfrm>
            <a:off x="809244" y="6291986"/>
            <a:ext cx="7897673" cy="75895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809244" y="6483096"/>
            <a:ext cx="7905902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923544" y="6615684"/>
            <a:ext cx="9939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감지 시간</a:t>
            </a:r>
            <a:endParaRPr lang="en-US" sz="1000" dirty="0"/>
          </a:p>
        </p:txBody>
      </p:sp>
      <p:sp>
        <p:nvSpPr>
          <p:cNvPr id="35" name="Text 25"/>
          <p:cNvSpPr txBox="1"/>
          <p:nvPr/>
        </p:nvSpPr>
        <p:spPr>
          <a:xfrm>
            <a:off x="8241487" y="6597396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 5초</a:t>
            </a:r>
            <a:endParaRPr lang="en-US" sz="12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rcRect l="-202" r="-202" t="0" b="0"/>
          <a:stretch/>
        </p:blipFill>
        <p:spPr>
          <a:xfrm>
            <a:off x="809244" y="7016191"/>
            <a:ext cx="7905902" cy="75895"/>
          </a:xfrm>
          <a:prstGeom prst="rect">
            <a:avLst/>
          </a:prstGeom>
        </p:spPr>
      </p:pic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rcRect l="-204" r="-204" t="0" b="0"/>
          <a:stretch/>
        </p:blipFill>
        <p:spPr>
          <a:xfrm>
            <a:off x="809244" y="7016191"/>
            <a:ext cx="7510882" cy="75895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9334195" y="1333195"/>
            <a:ext cx="8382305" cy="4600346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572854" y="1571854"/>
            <a:ext cx="381305" cy="381305"/>
          </a:xfrm>
          <a:prstGeom prst="rect">
            <a:avLst/>
          </a:prstGeom>
        </p:spPr>
      </p:pic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667951" y="1666951"/>
            <a:ext cx="190195" cy="190195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10067544" y="1623974"/>
            <a:ext cx="162123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Pain Point</a:t>
            </a:r>
            <a:endParaRPr lang="en-US" sz="1500" dirty="0"/>
          </a:p>
        </p:txBody>
      </p:sp>
      <p:sp>
        <p:nvSpPr>
          <p:cNvPr id="42" name="Text 28"/>
          <p:cNvSpPr txBox="1"/>
          <p:nvPr/>
        </p:nvSpPr>
        <p:spPr>
          <a:xfrm>
            <a:off x="9572854" y="2104949"/>
            <a:ext cx="8097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현재 PCB 생산라인 운영에서 발생하는 </a:t>
            </a:r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문제점</a:t>
            </a:r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분석하여 </a:t>
            </a:r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우선순위</a:t>
            </a:r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설정합니다. </a:t>
            </a:r>
            <a:endParaRPr lang="en-US" sz="120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rcRect l="-7" r="-7" t="0" b="0"/>
          <a:stretch/>
        </p:blipFill>
        <p:spPr>
          <a:xfrm>
            <a:off x="9572854" y="2500884"/>
            <a:ext cx="7905902" cy="985723"/>
          </a:xfrm>
          <a:prstGeom prst="rect">
            <a:avLst/>
          </a:prstGeom>
        </p:spPr>
      </p:pic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9773107" y="2753258"/>
            <a:ext cx="152705" cy="152705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10001707" y="2701138"/>
            <a:ext cx="12673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장비별 데이터 분산</a:t>
            </a:r>
            <a:endParaRPr lang="en-US" sz="1200" dirty="0"/>
          </a:p>
        </p:txBody>
      </p:sp>
      <p:sp>
        <p:nvSpPr>
          <p:cNvPr id="46" name="Shape 30"/>
          <p:cNvSpPr/>
          <p:nvPr/>
        </p:nvSpPr>
        <p:spPr>
          <a:xfrm>
            <a:off x="16822217" y="2701138"/>
            <a:ext cx="457200" cy="256946"/>
          </a:xfrm>
          <a:prstGeom prst="roundRect">
            <a:avLst>
              <a:gd name="adj" fmla="val 105444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1"/>
          <p:cNvSpPr txBox="1"/>
          <p:nvPr/>
        </p:nvSpPr>
        <p:spPr>
          <a:xfrm>
            <a:off x="16822217" y="2701138"/>
            <a:ext cx="514807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900" dirty="0"/>
          </a:p>
        </p:txBody>
      </p:sp>
      <p:sp>
        <p:nvSpPr>
          <p:cNvPr id="48" name="Text 32"/>
          <p:cNvSpPr txBox="1"/>
          <p:nvPr/>
        </p:nvSpPr>
        <p:spPr>
          <a:xfrm>
            <a:off x="9773107" y="3072384"/>
            <a:ext cx="76965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장비별로 데이터가 분산되어 있어 </a:t>
            </a:r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통합된 상태 파악이 어려움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실시간 동기화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필요. </a:t>
            </a:r>
            <a:endParaRPr lang="en-US" sz="1100" dirty="0"/>
          </a:p>
        </p:txBody>
      </p:sp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15"/>
          <a:srcRect l="-7" r="-7" t="0" b="0"/>
          <a:stretch/>
        </p:blipFill>
        <p:spPr>
          <a:xfrm>
            <a:off x="9572854" y="3600907"/>
            <a:ext cx="7905902" cy="985723"/>
          </a:xfrm>
          <a:prstGeom prst="rect">
            <a:avLst/>
          </a:prstGeom>
        </p:spPr>
      </p:pic>
      <p:pic>
        <p:nvPicPr>
          <p:cNvPr id="50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9773107" y="3854196"/>
            <a:ext cx="152705" cy="152705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10001707" y="3801161"/>
            <a:ext cx="183337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발생 시 원인 분석 지연</a:t>
            </a:r>
            <a:endParaRPr lang="en-US" sz="1200" dirty="0"/>
          </a:p>
        </p:txBody>
      </p:sp>
      <p:sp>
        <p:nvSpPr>
          <p:cNvPr id="52" name="Shape 34"/>
          <p:cNvSpPr/>
          <p:nvPr/>
        </p:nvSpPr>
        <p:spPr>
          <a:xfrm>
            <a:off x="16822217" y="3801161"/>
            <a:ext cx="457200" cy="256946"/>
          </a:xfrm>
          <a:prstGeom prst="roundRect">
            <a:avLst>
              <a:gd name="adj" fmla="val 105444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35"/>
          <p:cNvSpPr txBox="1"/>
          <p:nvPr/>
        </p:nvSpPr>
        <p:spPr>
          <a:xfrm>
            <a:off x="16822217" y="3801161"/>
            <a:ext cx="514807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900" dirty="0"/>
          </a:p>
        </p:txBody>
      </p:sp>
      <p:sp>
        <p:nvSpPr>
          <p:cNvPr id="54" name="Text 36"/>
          <p:cNvSpPr txBox="1"/>
          <p:nvPr/>
        </p:nvSpPr>
        <p:spPr>
          <a:xfrm>
            <a:off x="9773107" y="4172407"/>
            <a:ext cx="76965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문제 발생 시 원인 분석에 </a:t>
            </a:r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30분 이상 소요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자동 분석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필요. </a:t>
            </a:r>
            <a:endParaRPr lang="en-US" sz="1100" dirty="0"/>
          </a:p>
        </p:txBody>
      </p:sp>
      <p:pic>
        <p:nvPicPr>
          <p:cNvPr id="55" name="Image 16" descr="preencoded.png">    </p:cNvPr>
          <p:cNvPicPr>
            <a:picLocks noChangeAspect="1"/>
          </p:cNvPicPr>
          <p:nvPr/>
        </p:nvPicPr>
        <p:blipFill>
          <a:blip r:embed="rId17"/>
          <a:srcRect l="-7" r="-7" t="0" b="0"/>
          <a:stretch/>
        </p:blipFill>
        <p:spPr>
          <a:xfrm>
            <a:off x="9572854" y="4701845"/>
            <a:ext cx="7905902" cy="985723"/>
          </a:xfrm>
          <a:prstGeom prst="rect">
            <a:avLst/>
          </a:prstGeom>
        </p:spPr>
      </p:pic>
      <p:pic>
        <p:nvPicPr>
          <p:cNvPr id="56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9773107" y="4954219"/>
            <a:ext cx="152705" cy="152705"/>
          </a:xfrm>
          <a:prstGeom prst="rect">
            <a:avLst/>
          </a:prstGeom>
        </p:spPr>
      </p:pic>
      <p:sp>
        <p:nvSpPr>
          <p:cNvPr id="57" name="Text 37"/>
          <p:cNvSpPr txBox="1"/>
          <p:nvPr/>
        </p:nvSpPr>
        <p:spPr>
          <a:xfrm>
            <a:off x="10001707" y="4901184"/>
            <a:ext cx="17437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 대응으로 인한 비효율</a:t>
            </a:r>
            <a:endParaRPr lang="en-US" sz="1200" dirty="0"/>
          </a:p>
        </p:txBody>
      </p:sp>
      <p:sp>
        <p:nvSpPr>
          <p:cNvPr id="58" name="Shape 38"/>
          <p:cNvSpPr/>
          <p:nvPr/>
        </p:nvSpPr>
        <p:spPr>
          <a:xfrm>
            <a:off x="16822217" y="4901184"/>
            <a:ext cx="457200" cy="256946"/>
          </a:xfrm>
          <a:prstGeom prst="roundRect">
            <a:avLst>
              <a:gd name="adj" fmla="val 105444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39"/>
          <p:cNvSpPr txBox="1"/>
          <p:nvPr/>
        </p:nvSpPr>
        <p:spPr>
          <a:xfrm>
            <a:off x="16822217" y="4901184"/>
            <a:ext cx="514807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</a:t>
            </a:r>
            <a:endParaRPr lang="en-US" sz="900" dirty="0"/>
          </a:p>
        </p:txBody>
      </p:sp>
      <p:sp>
        <p:nvSpPr>
          <p:cNvPr id="60" name="Text 40"/>
          <p:cNvSpPr txBox="1"/>
          <p:nvPr/>
        </p:nvSpPr>
        <p:spPr>
          <a:xfrm>
            <a:off x="9773107" y="5273345"/>
            <a:ext cx="76965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장애 대응을 </a:t>
            </a:r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수동으로 처리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</a:t>
            </a:r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 손실 발생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시스템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필요. 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24712" y="514807"/>
            <a:ext cx="194675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목표 시스템 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614477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98296" y="638251"/>
            <a:ext cx="467624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"생산라인을 이해하고 스스로 대응하는 AI 운영 시스템"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108399" y="2581351"/>
            <a:ext cx="1007760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"스스로 이해하고 대응하는</a:t>
            </a:r>
            <a:pPr algn="ctr"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운영 시스템" 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4629607" y="2581351"/>
            <a:ext cx="623346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"스스로 이해하고 대응하는</a:t>
            </a:r>
            <a:endParaRPr lang="en-US" sz="3100" dirty="0"/>
          </a:p>
        </p:txBody>
      </p:sp>
      <p:sp>
        <p:nvSpPr>
          <p:cNvPr id="9" name="Text 6"/>
          <p:cNvSpPr txBox="1"/>
          <p:nvPr/>
        </p:nvSpPr>
        <p:spPr>
          <a:xfrm>
            <a:off x="4951476" y="3353105"/>
            <a:ext cx="8392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Twin 기반 가상 생산라인 구성 | Multi-Agent 기반 상황 판단 | 자동 알림 + 자동 조치 수행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324551" y="4581144"/>
            <a:ext cx="1904695" cy="1543507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7900" y="4828946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680253" y="5362956"/>
            <a:ext cx="119329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664708" y="5686654"/>
            <a:ext cx="12252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예측 및 분석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57" r="-57" t="0" b="0"/>
          <a:stretch/>
        </p:blipFill>
        <p:spPr>
          <a:xfrm>
            <a:off x="7610551" y="5253228"/>
            <a:ext cx="200254" cy="2286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191195" y="4581144"/>
            <a:ext cx="1904695" cy="1543507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924544" y="4828946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547811" y="5362956"/>
            <a:ext cx="119329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553298" y="5686654"/>
            <a:ext cx="1181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상황 판단</a:t>
            </a:r>
            <a:endParaRPr lang="en-US" sz="1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-57" r="-57" t="0" b="0"/>
          <a:stretch/>
        </p:blipFill>
        <p:spPr>
          <a:xfrm>
            <a:off x="10477195" y="5253228"/>
            <a:ext cx="200254" cy="2286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1058754" y="4581144"/>
            <a:ext cx="1904695" cy="1543507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1792102" y="4828946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11414455" y="5362956"/>
            <a:ext cx="119329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1414455" y="5686654"/>
            <a:ext cx="11932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대응 수행</a:t>
            </a:r>
            <a:endParaRPr lang="en-US" sz="10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3" b="-13"/>
          <a:stretch/>
        </p:blipFill>
        <p:spPr>
          <a:xfrm>
            <a:off x="4572000" y="6696151"/>
            <a:ext cx="2857500" cy="1772107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848502" y="7019849"/>
            <a:ext cx="304495" cy="3044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714646" y="7524598"/>
            <a:ext cx="2572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분석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772254" y="7848295"/>
            <a:ext cx="2457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실시간으로 분석하여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징후 감지</a:t>
            </a:r>
            <a:endParaRPr lang="en-US" sz="10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3" b="-13"/>
          <a:stretch/>
        </p:blipFill>
        <p:spPr>
          <a:xfrm>
            <a:off x="7715707" y="6696151"/>
            <a:ext cx="2857500" cy="1772107"/>
          </a:xfrm>
          <a:prstGeom prst="rect">
            <a:avLst/>
          </a:prstGeom>
        </p:spPr>
      </p:pic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-90" r="-90" t="0" b="0"/>
          <a:stretch/>
        </p:blipFill>
        <p:spPr>
          <a:xfrm>
            <a:off x="8953805" y="7019849"/>
            <a:ext cx="381305" cy="304495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858354" y="7524598"/>
            <a:ext cx="2572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판단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7915046" y="7848295"/>
            <a:ext cx="2457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스스로 상황을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판단하고 대응</a:t>
            </a:r>
            <a:endParaRPr lang="en-US" sz="10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3" b="-13"/>
          <a:stretch/>
        </p:blipFill>
        <p:spPr>
          <a:xfrm>
            <a:off x="10858500" y="6696151"/>
            <a:ext cx="2857500" cy="1772107"/>
          </a:xfrm>
          <a:prstGeom prst="rect">
            <a:avLst/>
          </a:prstGeom>
        </p:spPr>
      </p:pic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-90" r="-90" t="0" b="0"/>
          <a:stretch/>
        </p:blipFill>
        <p:spPr>
          <a:xfrm>
            <a:off x="12096598" y="7019849"/>
            <a:ext cx="381305" cy="304495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11001146" y="7524598"/>
            <a:ext cx="2572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실행</a:t>
            </a:r>
            <a:endParaRPr lang="en-US" sz="1300" dirty="0"/>
          </a:p>
        </p:txBody>
      </p:sp>
      <p:sp>
        <p:nvSpPr>
          <p:cNvPr id="35" name="Text 24"/>
          <p:cNvSpPr txBox="1"/>
          <p:nvPr/>
        </p:nvSpPr>
        <p:spPr>
          <a:xfrm>
            <a:off x="11058754" y="7848295"/>
            <a:ext cx="2457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 결과에 따라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자동으로 조치 수행</a:t>
            </a:r>
            <a:endParaRPr lang="en-US" sz="1000" dirty="0"/>
          </a:p>
        </p:txBody>
      </p:sp>
      <p:sp>
        <p:nvSpPr>
          <p:cNvPr id="36" name="Shape 25"/>
          <p:cNvSpPr/>
          <p:nvPr/>
        </p:nvSpPr>
        <p:spPr>
          <a:xfrm>
            <a:off x="1143000" y="9201607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26"/>
          <p:cNvSpPr txBox="1"/>
          <p:nvPr/>
        </p:nvSpPr>
        <p:spPr>
          <a:xfrm>
            <a:off x="1295705" y="9144000"/>
            <a:ext cx="12143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상태: 정상</a:t>
            </a:r>
            <a:endParaRPr lang="en-US" sz="1000" dirty="0"/>
          </a:p>
        </p:txBody>
      </p:sp>
      <p:sp>
        <p:nvSpPr>
          <p:cNvPr id="38" name="Shape 27"/>
          <p:cNvSpPr/>
          <p:nvPr/>
        </p:nvSpPr>
        <p:spPr>
          <a:xfrm>
            <a:off x="8460943" y="9201607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8"/>
          <p:cNvSpPr txBox="1"/>
          <p:nvPr/>
        </p:nvSpPr>
        <p:spPr>
          <a:xfrm>
            <a:off x="8612734" y="9144000"/>
            <a:ext cx="862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연결: 활성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15530170" y="9201607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0"/>
          <p:cNvSpPr txBox="1"/>
          <p:nvPr/>
        </p:nvSpPr>
        <p:spPr>
          <a:xfrm>
            <a:off x="15682874" y="9144000"/>
            <a:ext cx="17455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Twin: 동기화 완료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72261" y="514807"/>
            <a:ext cx="36292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시스템 개념 (3-Layer) 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607" r="-607" t="0" b="0"/>
          <a:stretch/>
        </p:blipFill>
        <p:spPr>
          <a:xfrm>
            <a:off x="571500" y="614477"/>
            <a:ext cx="390449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988491" y="638251"/>
            <a:ext cx="440832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Twin + Multi-Agent AI + Execution Layer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5719572" y="1333195"/>
            <a:ext cx="6847942" cy="4572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48172" y="1476756"/>
            <a:ext cx="171907" cy="17190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234379" y="1333195"/>
            <a:ext cx="6182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3계층 구조로 실시간 데이터 수집, AI 분석, 자동 실행까지 완전 자동화된 지능형 운영 시스템 구축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571500" y="2171700"/>
            <a:ext cx="17145000" cy="972007"/>
          </a:xfrm>
          <a:prstGeom prst="roundRect">
            <a:avLst>
              <a:gd name="adj" fmla="val 22135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75995" y="2419502"/>
            <a:ext cx="476402" cy="476402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5" b="-45"/>
          <a:stretch/>
        </p:blipFill>
        <p:spPr>
          <a:xfrm>
            <a:off x="985723" y="2542946"/>
            <a:ext cx="256946" cy="2286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466698" y="2419502"/>
            <a:ext cx="17913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Twin Layer</a:t>
            </a:r>
            <a:endParaRPr lang="en-US" sz="1300" dirty="0"/>
          </a:p>
        </p:txBody>
      </p:sp>
      <p:sp>
        <p:nvSpPr>
          <p:cNvPr id="14" name="Text 7"/>
          <p:cNvSpPr txBox="1"/>
          <p:nvPr/>
        </p:nvSpPr>
        <p:spPr>
          <a:xfrm>
            <a:off x="1466698" y="2704795"/>
            <a:ext cx="162580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생산라인/장비 가상화</a:t>
            </a:r>
            <a:endParaRPr lang="en-US" sz="1000" dirty="0"/>
          </a:p>
        </p:txBody>
      </p:sp>
      <p:sp>
        <p:nvSpPr>
          <p:cNvPr id="15" name="Shape 8"/>
          <p:cNvSpPr/>
          <p:nvPr/>
        </p:nvSpPr>
        <p:spPr>
          <a:xfrm>
            <a:off x="3160166" y="2381098"/>
            <a:ext cx="4657954" cy="552298"/>
          </a:xfrm>
          <a:prstGeom prst="roundRect">
            <a:avLst>
              <a:gd name="adj" fmla="val 4567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3322015" y="2505456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407969" y="2590495"/>
            <a:ext cx="133502" cy="133502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3740810" y="2562149"/>
            <a:ext cx="9939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상태 수집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7961681" y="2381098"/>
            <a:ext cx="4657954" cy="552298"/>
          </a:xfrm>
          <a:prstGeom prst="roundRect">
            <a:avLst>
              <a:gd name="adj" fmla="val 4567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8123530" y="2505456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209483" y="2590495"/>
            <a:ext cx="133502" cy="133502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8542325" y="2562149"/>
            <a:ext cx="11311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상태 반영</a:t>
            </a:r>
            <a:endParaRPr lang="en-US" sz="1000" dirty="0"/>
          </a:p>
        </p:txBody>
      </p:sp>
      <p:sp>
        <p:nvSpPr>
          <p:cNvPr id="23" name="Shape 14"/>
          <p:cNvSpPr/>
          <p:nvPr/>
        </p:nvSpPr>
        <p:spPr>
          <a:xfrm>
            <a:off x="12763195" y="2381098"/>
            <a:ext cx="4657954" cy="552298"/>
          </a:xfrm>
          <a:prstGeom prst="roundRect">
            <a:avLst>
              <a:gd name="adj" fmla="val 4567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15"/>
          <p:cNvSpPr/>
          <p:nvPr/>
        </p:nvSpPr>
        <p:spPr>
          <a:xfrm>
            <a:off x="12925044" y="2505456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3010083" y="2590495"/>
            <a:ext cx="133502" cy="133502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3343839" y="2562149"/>
            <a:ext cx="773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가상 모델링</a:t>
            </a:r>
            <a:endParaRPr lang="en-US" sz="1000" dirty="0"/>
          </a:p>
        </p:txBody>
      </p:sp>
      <p:sp>
        <p:nvSpPr>
          <p:cNvPr id="27" name="Text 17"/>
          <p:cNvSpPr txBox="1"/>
          <p:nvPr/>
        </p:nvSpPr>
        <p:spPr>
          <a:xfrm>
            <a:off x="16967606" y="2324405"/>
            <a:ext cx="61996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2E8F0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36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rcRect l="-320" r="-320" t="0" b="0"/>
          <a:stretch/>
        </p:blipFill>
        <p:spPr>
          <a:xfrm>
            <a:off x="9134856" y="3409798"/>
            <a:ext cx="19202" cy="286207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9096451" y="3619195"/>
            <a:ext cx="95098" cy="75895"/>
          </a:xfrm>
          <a:prstGeom prst="rect">
            <a:avLst/>
          </a:prstGeom>
          <a:noFill/>
          <a:ln w="101600">
            <a:solidFill>
              <a:srgbClr val="3B82F6"/>
            </a:solidFill>
            <a:prstDash val="solid"/>
          </a:ln>
        </p:spPr>
      </p:sp>
      <p:sp>
        <p:nvSpPr>
          <p:cNvPr id="30" name="Shape 19"/>
          <p:cNvSpPr/>
          <p:nvPr/>
        </p:nvSpPr>
        <p:spPr>
          <a:xfrm>
            <a:off x="571500" y="3962095"/>
            <a:ext cx="17145000" cy="972007"/>
          </a:xfrm>
          <a:prstGeom prst="roundRect">
            <a:avLst>
              <a:gd name="adj" fmla="val 22135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75995" y="4209898"/>
            <a:ext cx="476402" cy="476402"/>
          </a:xfrm>
          <a:prstGeom prst="rect">
            <a:avLst/>
          </a:prstGeom>
        </p:spPr>
      </p:pic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rcRect l="-80" r="-80" t="0" b="0"/>
          <a:stretch/>
        </p:blipFill>
        <p:spPr>
          <a:xfrm>
            <a:off x="972007" y="4334256"/>
            <a:ext cx="286207" cy="228600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1466698" y="4209898"/>
            <a:ext cx="201808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Multi-Agent AI Layer</a:t>
            </a:r>
            <a:endParaRPr lang="en-US" sz="1300" dirty="0"/>
          </a:p>
        </p:txBody>
      </p:sp>
      <p:sp>
        <p:nvSpPr>
          <p:cNvPr id="34" name="Text 21"/>
          <p:cNvSpPr txBox="1"/>
          <p:nvPr/>
        </p:nvSpPr>
        <p:spPr>
          <a:xfrm>
            <a:off x="1466698" y="4496105"/>
            <a:ext cx="18315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 분석 및 자율 대응</a:t>
            </a:r>
            <a:endParaRPr lang="en-US" sz="1000" dirty="0"/>
          </a:p>
        </p:txBody>
      </p:sp>
      <p:sp>
        <p:nvSpPr>
          <p:cNvPr id="35" name="Shape 22"/>
          <p:cNvSpPr/>
          <p:nvPr/>
        </p:nvSpPr>
        <p:spPr>
          <a:xfrm>
            <a:off x="3347618" y="4172407"/>
            <a:ext cx="3409798" cy="552298"/>
          </a:xfrm>
          <a:prstGeom prst="roundRect">
            <a:avLst>
              <a:gd name="adj" fmla="val 4567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23"/>
          <p:cNvSpPr/>
          <p:nvPr/>
        </p:nvSpPr>
        <p:spPr>
          <a:xfrm>
            <a:off x="3510382" y="4295851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3595421" y="4381805"/>
            <a:ext cx="133502" cy="133502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3929177" y="4352544"/>
            <a:ext cx="6355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탐지</a:t>
            </a:r>
            <a:endParaRPr lang="en-US" sz="1000" dirty="0"/>
          </a:p>
        </p:txBody>
      </p:sp>
      <p:sp>
        <p:nvSpPr>
          <p:cNvPr id="39" name="Shape 25"/>
          <p:cNvSpPr/>
          <p:nvPr/>
        </p:nvSpPr>
        <p:spPr>
          <a:xfrm>
            <a:off x="6901891" y="4172407"/>
            <a:ext cx="3409798" cy="552298"/>
          </a:xfrm>
          <a:prstGeom prst="roundRect">
            <a:avLst>
              <a:gd name="adj" fmla="val 4567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26"/>
          <p:cNvSpPr/>
          <p:nvPr/>
        </p:nvSpPr>
        <p:spPr>
          <a:xfrm>
            <a:off x="7063740" y="4295851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7149694" y="4381805"/>
            <a:ext cx="133502" cy="133502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7483450" y="4352544"/>
            <a:ext cx="6355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분석</a:t>
            </a:r>
            <a:endParaRPr lang="en-US" sz="1000" dirty="0"/>
          </a:p>
        </p:txBody>
      </p:sp>
      <p:sp>
        <p:nvSpPr>
          <p:cNvPr id="43" name="Shape 28"/>
          <p:cNvSpPr/>
          <p:nvPr/>
        </p:nvSpPr>
        <p:spPr>
          <a:xfrm>
            <a:off x="10456164" y="4172407"/>
            <a:ext cx="3409798" cy="552298"/>
          </a:xfrm>
          <a:prstGeom prst="roundRect">
            <a:avLst>
              <a:gd name="adj" fmla="val 4567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29"/>
          <p:cNvSpPr/>
          <p:nvPr/>
        </p:nvSpPr>
        <p:spPr>
          <a:xfrm>
            <a:off x="10618013" y="4295851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0703966" y="4381805"/>
            <a:ext cx="133502" cy="133502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11036808" y="4352544"/>
            <a:ext cx="9939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전략 생성</a:t>
            </a:r>
            <a:endParaRPr lang="en-US" sz="1000" dirty="0"/>
          </a:p>
        </p:txBody>
      </p:sp>
      <p:sp>
        <p:nvSpPr>
          <p:cNvPr id="47" name="Shape 31"/>
          <p:cNvSpPr/>
          <p:nvPr/>
        </p:nvSpPr>
        <p:spPr>
          <a:xfrm>
            <a:off x="14010437" y="4172407"/>
            <a:ext cx="3409798" cy="552298"/>
          </a:xfrm>
          <a:prstGeom prst="roundRect">
            <a:avLst>
              <a:gd name="adj" fmla="val 4567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32"/>
          <p:cNvSpPr/>
          <p:nvPr/>
        </p:nvSpPr>
        <p:spPr>
          <a:xfrm>
            <a:off x="14172286" y="4295851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1100" b="-1100"/>
          <a:stretch/>
        </p:blipFill>
        <p:spPr>
          <a:xfrm>
            <a:off x="14267383" y="4381805"/>
            <a:ext cx="114300" cy="133502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14591081" y="4352544"/>
            <a:ext cx="6355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조치</a:t>
            </a:r>
            <a:endParaRPr lang="en-US" sz="1000" dirty="0"/>
          </a:p>
        </p:txBody>
      </p:sp>
      <p:sp>
        <p:nvSpPr>
          <p:cNvPr id="51" name="Text 34"/>
          <p:cNvSpPr txBox="1"/>
          <p:nvPr/>
        </p:nvSpPr>
        <p:spPr>
          <a:xfrm>
            <a:off x="16967606" y="4114800"/>
            <a:ext cx="61996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2E8F0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3600" dirty="0"/>
          </a:p>
        </p:txBody>
      </p:sp>
      <p:pic>
        <p:nvPicPr>
          <p:cNvPr id="52" name="Image 15" descr="preencoded.png">    </p:cNvPr>
          <p:cNvPicPr>
            <a:picLocks noChangeAspect="1"/>
          </p:cNvPicPr>
          <p:nvPr/>
        </p:nvPicPr>
        <p:blipFill>
          <a:blip r:embed="rId16"/>
          <a:srcRect l="-320" r="-320" t="0" b="0"/>
          <a:stretch/>
        </p:blipFill>
        <p:spPr>
          <a:xfrm>
            <a:off x="9134856" y="5201107"/>
            <a:ext cx="19202" cy="286207"/>
          </a:xfrm>
          <a:prstGeom prst="rect">
            <a:avLst/>
          </a:prstGeom>
        </p:spPr>
      </p:pic>
      <p:sp>
        <p:nvSpPr>
          <p:cNvPr id="53" name="Shape 35"/>
          <p:cNvSpPr/>
          <p:nvPr/>
        </p:nvSpPr>
        <p:spPr>
          <a:xfrm>
            <a:off x="9096451" y="5410505"/>
            <a:ext cx="95098" cy="75895"/>
          </a:xfrm>
          <a:prstGeom prst="rect">
            <a:avLst/>
          </a:prstGeom>
          <a:noFill/>
          <a:ln w="101600">
            <a:solidFill>
              <a:srgbClr val="3B82F6"/>
            </a:solidFill>
            <a:prstDash val="solid"/>
          </a:ln>
        </p:spPr>
      </p:sp>
      <p:sp>
        <p:nvSpPr>
          <p:cNvPr id="54" name="Shape 36"/>
          <p:cNvSpPr/>
          <p:nvPr/>
        </p:nvSpPr>
        <p:spPr>
          <a:xfrm>
            <a:off x="571500" y="5753405"/>
            <a:ext cx="17145000" cy="972007"/>
          </a:xfrm>
          <a:prstGeom prst="roundRect">
            <a:avLst>
              <a:gd name="adj" fmla="val 22135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55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875995" y="6001207"/>
            <a:ext cx="476402" cy="476402"/>
          </a:xfrm>
          <a:prstGeom prst="rect">
            <a:avLst/>
          </a:prstGeom>
        </p:spPr>
      </p:pic>
      <p:pic>
        <p:nvPicPr>
          <p:cNvPr id="56" name="Image 17" descr="preencoded.png">    </p:cNvPr>
          <p:cNvPicPr>
            <a:picLocks noChangeAspect="1"/>
          </p:cNvPicPr>
          <p:nvPr/>
        </p:nvPicPr>
        <p:blipFill>
          <a:blip r:embed="rId18"/>
          <a:srcRect l="-80" r="-80" t="0" b="0"/>
          <a:stretch/>
        </p:blipFill>
        <p:spPr>
          <a:xfrm>
            <a:off x="972007" y="6124651"/>
            <a:ext cx="286207" cy="228600"/>
          </a:xfrm>
          <a:prstGeom prst="rect">
            <a:avLst/>
          </a:prstGeom>
        </p:spPr>
      </p:pic>
      <p:sp>
        <p:nvSpPr>
          <p:cNvPr id="57" name="Text 37"/>
          <p:cNvSpPr txBox="1"/>
          <p:nvPr/>
        </p:nvSpPr>
        <p:spPr>
          <a:xfrm>
            <a:off x="1466698" y="6001207"/>
            <a:ext cx="164409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Execution Layer</a:t>
            </a:r>
            <a:endParaRPr lang="en-US" sz="1300" dirty="0"/>
          </a:p>
        </p:txBody>
      </p:sp>
      <p:sp>
        <p:nvSpPr>
          <p:cNvPr id="58" name="Text 38"/>
          <p:cNvSpPr txBox="1"/>
          <p:nvPr/>
        </p:nvSpPr>
        <p:spPr>
          <a:xfrm>
            <a:off x="1466698" y="6286500"/>
            <a:ext cx="17108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알림 및 자동 제어</a:t>
            </a:r>
            <a:endParaRPr lang="en-US" sz="1000" dirty="0"/>
          </a:p>
        </p:txBody>
      </p:sp>
      <p:sp>
        <p:nvSpPr>
          <p:cNvPr id="59" name="Shape 39"/>
          <p:cNvSpPr/>
          <p:nvPr/>
        </p:nvSpPr>
        <p:spPr>
          <a:xfrm>
            <a:off x="3033979" y="5962802"/>
            <a:ext cx="4695444" cy="552298"/>
          </a:xfrm>
          <a:prstGeom prst="roundRect">
            <a:avLst>
              <a:gd name="adj" fmla="val 4567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40"/>
          <p:cNvSpPr/>
          <p:nvPr/>
        </p:nvSpPr>
        <p:spPr>
          <a:xfrm>
            <a:off x="3195828" y="6086246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1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-1100" b="-1100"/>
          <a:stretch/>
        </p:blipFill>
        <p:spPr>
          <a:xfrm>
            <a:off x="3290926" y="6172200"/>
            <a:ext cx="114300" cy="133502"/>
          </a:xfrm>
          <a:prstGeom prst="rect">
            <a:avLst/>
          </a:prstGeom>
        </p:spPr>
      </p:pic>
      <p:sp>
        <p:nvSpPr>
          <p:cNvPr id="62" name="Text 41"/>
          <p:cNvSpPr txBox="1"/>
          <p:nvPr/>
        </p:nvSpPr>
        <p:spPr>
          <a:xfrm>
            <a:off x="3614623" y="6143854"/>
            <a:ext cx="773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알림</a:t>
            </a:r>
            <a:endParaRPr lang="en-US" sz="1000" dirty="0"/>
          </a:p>
        </p:txBody>
      </p:sp>
      <p:sp>
        <p:nvSpPr>
          <p:cNvPr id="63" name="Shape 42"/>
          <p:cNvSpPr/>
          <p:nvPr/>
        </p:nvSpPr>
        <p:spPr>
          <a:xfrm>
            <a:off x="7876642" y="5962802"/>
            <a:ext cx="4695444" cy="552298"/>
          </a:xfrm>
          <a:prstGeom prst="roundRect">
            <a:avLst>
              <a:gd name="adj" fmla="val 4567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43"/>
          <p:cNvSpPr/>
          <p:nvPr/>
        </p:nvSpPr>
        <p:spPr>
          <a:xfrm>
            <a:off x="8039405" y="6086246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5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8124444" y="6172200"/>
            <a:ext cx="133502" cy="133502"/>
          </a:xfrm>
          <a:prstGeom prst="rect">
            <a:avLst/>
          </a:prstGeom>
        </p:spPr>
      </p:pic>
      <p:sp>
        <p:nvSpPr>
          <p:cNvPr id="66" name="Text 44"/>
          <p:cNvSpPr txBox="1"/>
          <p:nvPr/>
        </p:nvSpPr>
        <p:spPr>
          <a:xfrm>
            <a:off x="8458200" y="6143854"/>
            <a:ext cx="9939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제어 수행</a:t>
            </a:r>
            <a:endParaRPr lang="en-US" sz="1000" dirty="0"/>
          </a:p>
        </p:txBody>
      </p:sp>
      <p:sp>
        <p:nvSpPr>
          <p:cNvPr id="67" name="Shape 45"/>
          <p:cNvSpPr/>
          <p:nvPr/>
        </p:nvSpPr>
        <p:spPr>
          <a:xfrm>
            <a:off x="12720218" y="5962802"/>
            <a:ext cx="4695444" cy="552298"/>
          </a:xfrm>
          <a:prstGeom prst="roundRect">
            <a:avLst>
              <a:gd name="adj" fmla="val 4567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Shape 46"/>
          <p:cNvSpPr/>
          <p:nvPr/>
        </p:nvSpPr>
        <p:spPr>
          <a:xfrm>
            <a:off x="12882982" y="6086246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9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12968021" y="6172200"/>
            <a:ext cx="133502" cy="133502"/>
          </a:xfrm>
          <a:prstGeom prst="rect">
            <a:avLst/>
          </a:prstGeom>
        </p:spPr>
      </p:pic>
      <p:sp>
        <p:nvSpPr>
          <p:cNvPr id="70" name="Text 47"/>
          <p:cNvSpPr txBox="1"/>
          <p:nvPr/>
        </p:nvSpPr>
        <p:spPr>
          <a:xfrm>
            <a:off x="13301777" y="6143854"/>
            <a:ext cx="773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피드백</a:t>
            </a:r>
            <a:endParaRPr lang="en-US" sz="1000" dirty="0"/>
          </a:p>
        </p:txBody>
      </p:sp>
      <p:sp>
        <p:nvSpPr>
          <p:cNvPr id="71" name="Text 48"/>
          <p:cNvSpPr txBox="1"/>
          <p:nvPr/>
        </p:nvSpPr>
        <p:spPr>
          <a:xfrm>
            <a:off x="16967606" y="5905195"/>
            <a:ext cx="61996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2E8F0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3600" dirty="0"/>
          </a:p>
        </p:txBody>
      </p:sp>
      <p:sp>
        <p:nvSpPr>
          <p:cNvPr id="72" name="Shape 49"/>
          <p:cNvSpPr/>
          <p:nvPr/>
        </p:nvSpPr>
        <p:spPr>
          <a:xfrm>
            <a:off x="1143000" y="8820302"/>
            <a:ext cx="16002000" cy="514807"/>
          </a:xfrm>
          <a:prstGeom prst="roundRect">
            <a:avLst>
              <a:gd name="adj" fmla="val 526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Shape 50"/>
          <p:cNvSpPr/>
          <p:nvPr/>
        </p:nvSpPr>
        <p:spPr>
          <a:xfrm>
            <a:off x="1380744" y="9038844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51"/>
          <p:cNvSpPr txBox="1"/>
          <p:nvPr/>
        </p:nvSpPr>
        <p:spPr>
          <a:xfrm>
            <a:off x="1533449" y="8982151"/>
            <a:ext cx="12143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상태: 정상</a:t>
            </a:r>
            <a:endParaRPr lang="en-US" sz="1000" dirty="0"/>
          </a:p>
        </p:txBody>
      </p:sp>
      <p:sp>
        <p:nvSpPr>
          <p:cNvPr id="75" name="Shape 52"/>
          <p:cNvSpPr/>
          <p:nvPr/>
        </p:nvSpPr>
        <p:spPr>
          <a:xfrm>
            <a:off x="8460943" y="9038844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53"/>
          <p:cNvSpPr txBox="1"/>
          <p:nvPr/>
        </p:nvSpPr>
        <p:spPr>
          <a:xfrm>
            <a:off x="8612734" y="8982151"/>
            <a:ext cx="862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연결: 활성</a:t>
            </a:r>
            <a:endParaRPr lang="en-US" sz="1000" dirty="0"/>
          </a:p>
        </p:txBody>
      </p:sp>
      <p:sp>
        <p:nvSpPr>
          <p:cNvPr id="77" name="Shape 54"/>
          <p:cNvSpPr/>
          <p:nvPr/>
        </p:nvSpPr>
        <p:spPr>
          <a:xfrm>
            <a:off x="15292426" y="9038844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55"/>
          <p:cNvSpPr txBox="1"/>
          <p:nvPr/>
        </p:nvSpPr>
        <p:spPr>
          <a:xfrm>
            <a:off x="15445130" y="8982151"/>
            <a:ext cx="17455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Twin: 동기화 완료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10666" y="514807"/>
            <a:ext cx="289499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Multi-Agent 구조 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27" r="-27" t="0" b="0"/>
          <a:stretch/>
        </p:blipFill>
        <p:spPr>
          <a:xfrm>
            <a:off x="571500" y="614477"/>
            <a:ext cx="428854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466369" y="638251"/>
            <a:ext cx="512887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6개의 전문 AI Agent가 협업하여 상황을 분석하고 자율 대응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-15" r="-15" t="0" b="0"/>
          <a:stretch/>
        </p:blipFill>
        <p:spPr>
          <a:xfrm>
            <a:off x="6587338" y="1333195"/>
            <a:ext cx="5115154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087514" y="1333195"/>
            <a:ext cx="46917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Multi Agentic AI를 통한 시나리오 기반의 안정적인 운영 시스템 구축 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15938" y="1495044"/>
            <a:ext cx="152705" cy="15270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752137" y="1981505"/>
            <a:ext cx="879104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AI가 아닌 협업형 AI 구조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로, 각 Agent가 전문 영역을 담당하여 효율적인 운영을 가능하게 합니다. 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1524305" y="2419502"/>
            <a:ext cx="4934102" cy="1609344"/>
          </a:xfrm>
          <a:prstGeom prst="roundRect">
            <a:avLst>
              <a:gd name="adj" fmla="val 806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772107" y="2667305"/>
            <a:ext cx="571500" cy="571500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-685" r="-685" t="0" b="0"/>
          <a:stretch/>
        </p:blipFill>
        <p:spPr>
          <a:xfrm>
            <a:off x="1904695" y="2819095"/>
            <a:ext cx="304495" cy="26700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2495398" y="2667305"/>
            <a:ext cx="38295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Monitoring Agent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2495398" y="2991002"/>
            <a:ext cx="37911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상태 실시간 수집 및 모니터링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센서 데이터 분석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2495398" y="3504895"/>
            <a:ext cx="743407" cy="276149"/>
          </a:xfrm>
          <a:prstGeom prst="roundRect">
            <a:avLst>
              <a:gd name="adj" fmla="val 91345"/>
            </a:avLst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2495398" y="3504895"/>
            <a:ext cx="80010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수집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3347618" y="3504895"/>
            <a:ext cx="705002" cy="276149"/>
          </a:xfrm>
          <a:prstGeom prst="roundRect">
            <a:avLst>
              <a:gd name="adj" fmla="val 91345"/>
            </a:avLst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3347618" y="3504895"/>
            <a:ext cx="7626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모니터링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5955487" y="2633472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069787" y="2590495"/>
            <a:ext cx="295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6680606" y="2419502"/>
            <a:ext cx="4934102" cy="1609344"/>
          </a:xfrm>
          <a:prstGeom prst="roundRect">
            <a:avLst>
              <a:gd name="adj" fmla="val 806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927494" y="2667305"/>
            <a:ext cx="571500" cy="571500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080199" y="2819095"/>
            <a:ext cx="267005" cy="26700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651699" y="2667305"/>
            <a:ext cx="38295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Anomaly Detection Agent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7651699" y="2991002"/>
            <a:ext cx="37911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패턴 탐지 및 알림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이상 감지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7651699" y="3504895"/>
            <a:ext cx="743407" cy="276149"/>
          </a:xfrm>
          <a:prstGeom prst="roundRect">
            <a:avLst>
              <a:gd name="adj" fmla="val 91345"/>
            </a:avLst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7651699" y="3504895"/>
            <a:ext cx="80010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탐지</a:t>
            </a:r>
            <a:endParaRPr lang="en-US" sz="900" dirty="0"/>
          </a:p>
        </p:txBody>
      </p:sp>
      <p:sp>
        <p:nvSpPr>
          <p:cNvPr id="29" name="Shape 20"/>
          <p:cNvSpPr/>
          <p:nvPr/>
        </p:nvSpPr>
        <p:spPr>
          <a:xfrm>
            <a:off x="8503920" y="3504895"/>
            <a:ext cx="476402" cy="276149"/>
          </a:xfrm>
          <a:prstGeom prst="roundRect">
            <a:avLst>
              <a:gd name="adj" fmla="val 91345"/>
            </a:avLst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1"/>
          <p:cNvSpPr txBox="1"/>
          <p:nvPr/>
        </p:nvSpPr>
        <p:spPr>
          <a:xfrm>
            <a:off x="8503920" y="3504895"/>
            <a:ext cx="5340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11111789" y="2633472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11226089" y="2590495"/>
            <a:ext cx="295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11835994" y="2419502"/>
            <a:ext cx="4934102" cy="1609344"/>
          </a:xfrm>
          <a:prstGeom prst="roundRect">
            <a:avLst>
              <a:gd name="adj" fmla="val 806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2083796" y="2667305"/>
            <a:ext cx="571500" cy="571500"/>
          </a:xfrm>
          <a:prstGeom prst="rect">
            <a:avLst/>
          </a:prstGeom>
        </p:spPr>
      </p:pic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2236501" y="2819095"/>
            <a:ext cx="267005" cy="267005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12808001" y="2667305"/>
            <a:ext cx="38295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Root Cause Agent</a:t>
            </a:r>
            <a:endParaRPr lang="en-US" sz="1300" dirty="0"/>
          </a:p>
        </p:txBody>
      </p:sp>
      <p:sp>
        <p:nvSpPr>
          <p:cNvPr id="37" name="Text 26"/>
          <p:cNvSpPr txBox="1"/>
          <p:nvPr/>
        </p:nvSpPr>
        <p:spPr>
          <a:xfrm>
            <a:off x="12808001" y="2991002"/>
            <a:ext cx="37911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원인 분석 및 진단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근본 원인 파악</a:t>
            </a:r>
            <a:endParaRPr lang="en-US" sz="1000" dirty="0"/>
          </a:p>
        </p:txBody>
      </p:sp>
      <p:sp>
        <p:nvSpPr>
          <p:cNvPr id="38" name="Shape 27"/>
          <p:cNvSpPr/>
          <p:nvPr/>
        </p:nvSpPr>
        <p:spPr>
          <a:xfrm>
            <a:off x="12808001" y="3504895"/>
            <a:ext cx="743407" cy="276149"/>
          </a:xfrm>
          <a:prstGeom prst="roundRect">
            <a:avLst>
              <a:gd name="adj" fmla="val 91345"/>
            </a:avLst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28"/>
          <p:cNvSpPr txBox="1"/>
          <p:nvPr/>
        </p:nvSpPr>
        <p:spPr>
          <a:xfrm>
            <a:off x="12808001" y="3504895"/>
            <a:ext cx="80010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분석</a:t>
            </a:r>
            <a:endParaRPr lang="en-US" sz="900" dirty="0"/>
          </a:p>
        </p:txBody>
      </p:sp>
      <p:sp>
        <p:nvSpPr>
          <p:cNvPr id="40" name="Shape 29"/>
          <p:cNvSpPr/>
          <p:nvPr/>
        </p:nvSpPr>
        <p:spPr>
          <a:xfrm>
            <a:off x="13660222" y="3504895"/>
            <a:ext cx="476402" cy="276149"/>
          </a:xfrm>
          <a:prstGeom prst="roundRect">
            <a:avLst>
              <a:gd name="adj" fmla="val 91345"/>
            </a:avLst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0"/>
          <p:cNvSpPr txBox="1"/>
          <p:nvPr/>
        </p:nvSpPr>
        <p:spPr>
          <a:xfrm>
            <a:off x="13660222" y="3504895"/>
            <a:ext cx="5340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16268090" y="2633472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2"/>
          <p:cNvSpPr txBox="1"/>
          <p:nvPr/>
        </p:nvSpPr>
        <p:spPr>
          <a:xfrm>
            <a:off x="16382390" y="2590495"/>
            <a:ext cx="295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</a:t>
            </a:r>
            <a:endParaRPr lang="en-US" sz="900" dirty="0"/>
          </a:p>
        </p:txBody>
      </p:sp>
      <p:sp>
        <p:nvSpPr>
          <p:cNvPr id="44" name="Shape 33"/>
          <p:cNvSpPr/>
          <p:nvPr/>
        </p:nvSpPr>
        <p:spPr>
          <a:xfrm>
            <a:off x="1524305" y="4257446"/>
            <a:ext cx="4934102" cy="1609344"/>
          </a:xfrm>
          <a:prstGeom prst="roundRect">
            <a:avLst>
              <a:gd name="adj" fmla="val 806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772107" y="4505249"/>
            <a:ext cx="571500" cy="571500"/>
          </a:xfrm>
          <a:prstGeom prst="rect">
            <a:avLst/>
          </a:prstGeom>
        </p:spPr>
      </p:pic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923898" y="4657954"/>
            <a:ext cx="267005" cy="267005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2495398" y="4505249"/>
            <a:ext cx="38295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Policy Agent</a:t>
            </a:r>
            <a:endParaRPr lang="en-US" sz="1300" dirty="0"/>
          </a:p>
        </p:txBody>
      </p:sp>
      <p:sp>
        <p:nvSpPr>
          <p:cNvPr id="48" name="Text 35"/>
          <p:cNvSpPr txBox="1"/>
          <p:nvPr/>
        </p:nvSpPr>
        <p:spPr>
          <a:xfrm>
            <a:off x="2495398" y="4828946"/>
            <a:ext cx="37911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정책 결정 및 전략 생성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최적화 방안 제시</a:t>
            </a:r>
            <a:endParaRPr lang="en-US" sz="1000" dirty="0"/>
          </a:p>
        </p:txBody>
      </p:sp>
      <p:sp>
        <p:nvSpPr>
          <p:cNvPr id="49" name="Shape 36"/>
          <p:cNvSpPr/>
          <p:nvPr/>
        </p:nvSpPr>
        <p:spPr>
          <a:xfrm>
            <a:off x="2495398" y="5343754"/>
            <a:ext cx="743407" cy="276149"/>
          </a:xfrm>
          <a:prstGeom prst="roundRect">
            <a:avLst>
              <a:gd name="adj" fmla="val 91345"/>
            </a:avLst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37"/>
          <p:cNvSpPr txBox="1"/>
          <p:nvPr/>
        </p:nvSpPr>
        <p:spPr>
          <a:xfrm>
            <a:off x="2495398" y="5343754"/>
            <a:ext cx="80010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결정</a:t>
            </a:r>
            <a:endParaRPr lang="en-US" sz="900" dirty="0"/>
          </a:p>
        </p:txBody>
      </p:sp>
      <p:sp>
        <p:nvSpPr>
          <p:cNvPr id="51" name="Shape 38"/>
          <p:cNvSpPr/>
          <p:nvPr/>
        </p:nvSpPr>
        <p:spPr>
          <a:xfrm>
            <a:off x="3347618" y="5343754"/>
            <a:ext cx="476402" cy="276149"/>
          </a:xfrm>
          <a:prstGeom prst="roundRect">
            <a:avLst>
              <a:gd name="adj" fmla="val 91345"/>
            </a:avLst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Text 39"/>
          <p:cNvSpPr txBox="1"/>
          <p:nvPr/>
        </p:nvSpPr>
        <p:spPr>
          <a:xfrm>
            <a:off x="3347618" y="5343754"/>
            <a:ext cx="5340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</a:t>
            </a:r>
            <a:endParaRPr lang="en-US" sz="900" dirty="0"/>
          </a:p>
        </p:txBody>
      </p:sp>
      <p:sp>
        <p:nvSpPr>
          <p:cNvPr id="53" name="Shape 40"/>
          <p:cNvSpPr/>
          <p:nvPr/>
        </p:nvSpPr>
        <p:spPr>
          <a:xfrm>
            <a:off x="5955487" y="4472330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41"/>
          <p:cNvSpPr txBox="1"/>
          <p:nvPr/>
        </p:nvSpPr>
        <p:spPr>
          <a:xfrm>
            <a:off x="6069787" y="4429354"/>
            <a:ext cx="295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</a:t>
            </a:r>
            <a:endParaRPr lang="en-US" sz="900" dirty="0"/>
          </a:p>
        </p:txBody>
      </p:sp>
      <p:sp>
        <p:nvSpPr>
          <p:cNvPr id="55" name="Shape 42"/>
          <p:cNvSpPr/>
          <p:nvPr/>
        </p:nvSpPr>
        <p:spPr>
          <a:xfrm>
            <a:off x="6680606" y="4257446"/>
            <a:ext cx="4934102" cy="1609344"/>
          </a:xfrm>
          <a:prstGeom prst="roundRect">
            <a:avLst>
              <a:gd name="adj" fmla="val 806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6927494" y="4505249"/>
            <a:ext cx="571500" cy="571500"/>
          </a:xfrm>
          <a:prstGeom prst="rect">
            <a:avLst/>
          </a:prstGeom>
        </p:spPr>
      </p:pic>
      <p:pic>
        <p:nvPicPr>
          <p:cNvPr id="57" name="Image 12" descr="preencoded.png">    </p:cNvPr>
          <p:cNvPicPr>
            <a:picLocks noChangeAspect="1"/>
          </p:cNvPicPr>
          <p:nvPr/>
        </p:nvPicPr>
        <p:blipFill>
          <a:blip r:embed="rId13"/>
          <a:srcRect l="-881" r="-881" t="0" b="0"/>
          <a:stretch/>
        </p:blipFill>
        <p:spPr>
          <a:xfrm>
            <a:off x="7094830" y="4657954"/>
            <a:ext cx="237744" cy="267005"/>
          </a:xfrm>
          <a:prstGeom prst="rect">
            <a:avLst/>
          </a:prstGeom>
        </p:spPr>
      </p:pic>
      <p:sp>
        <p:nvSpPr>
          <p:cNvPr id="58" name="Text 43"/>
          <p:cNvSpPr txBox="1"/>
          <p:nvPr/>
        </p:nvSpPr>
        <p:spPr>
          <a:xfrm>
            <a:off x="7651699" y="4505249"/>
            <a:ext cx="38295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Remediation Agent</a:t>
            </a:r>
            <a:endParaRPr lang="en-US" sz="1300" dirty="0"/>
          </a:p>
        </p:txBody>
      </p:sp>
      <p:sp>
        <p:nvSpPr>
          <p:cNvPr id="59" name="Text 44"/>
          <p:cNvSpPr txBox="1"/>
          <p:nvPr/>
        </p:nvSpPr>
        <p:spPr>
          <a:xfrm>
            <a:off x="7651699" y="4828946"/>
            <a:ext cx="37911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조치 수행 및 실행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해결 자동화</a:t>
            </a:r>
            <a:endParaRPr lang="en-US" sz="1000" dirty="0"/>
          </a:p>
        </p:txBody>
      </p:sp>
      <p:sp>
        <p:nvSpPr>
          <p:cNvPr id="60" name="Shape 45"/>
          <p:cNvSpPr/>
          <p:nvPr/>
        </p:nvSpPr>
        <p:spPr>
          <a:xfrm>
            <a:off x="7651699" y="5343754"/>
            <a:ext cx="743407" cy="276149"/>
          </a:xfrm>
          <a:prstGeom prst="roundRect">
            <a:avLst>
              <a:gd name="adj" fmla="val 91345"/>
            </a:avLst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1" name="Text 46"/>
          <p:cNvSpPr txBox="1"/>
          <p:nvPr/>
        </p:nvSpPr>
        <p:spPr>
          <a:xfrm>
            <a:off x="7651699" y="5343754"/>
            <a:ext cx="80010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조치</a:t>
            </a:r>
            <a:endParaRPr lang="en-US" sz="900" dirty="0"/>
          </a:p>
        </p:txBody>
      </p:sp>
      <p:sp>
        <p:nvSpPr>
          <p:cNvPr id="62" name="Shape 47"/>
          <p:cNvSpPr/>
          <p:nvPr/>
        </p:nvSpPr>
        <p:spPr>
          <a:xfrm>
            <a:off x="8503920" y="5343754"/>
            <a:ext cx="476402" cy="276149"/>
          </a:xfrm>
          <a:prstGeom prst="roundRect">
            <a:avLst>
              <a:gd name="adj" fmla="val 91345"/>
            </a:avLst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Text 48"/>
          <p:cNvSpPr txBox="1"/>
          <p:nvPr/>
        </p:nvSpPr>
        <p:spPr>
          <a:xfrm>
            <a:off x="8503920" y="5343754"/>
            <a:ext cx="5340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</a:t>
            </a:r>
            <a:endParaRPr lang="en-US" sz="900" dirty="0"/>
          </a:p>
        </p:txBody>
      </p:sp>
      <p:sp>
        <p:nvSpPr>
          <p:cNvPr id="64" name="Shape 49"/>
          <p:cNvSpPr/>
          <p:nvPr/>
        </p:nvSpPr>
        <p:spPr>
          <a:xfrm>
            <a:off x="11111789" y="4472330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50"/>
          <p:cNvSpPr txBox="1"/>
          <p:nvPr/>
        </p:nvSpPr>
        <p:spPr>
          <a:xfrm>
            <a:off x="11226089" y="4429354"/>
            <a:ext cx="295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</a:t>
            </a:r>
            <a:endParaRPr lang="en-US" sz="900" dirty="0"/>
          </a:p>
        </p:txBody>
      </p:sp>
      <p:sp>
        <p:nvSpPr>
          <p:cNvPr id="66" name="Shape 51"/>
          <p:cNvSpPr/>
          <p:nvPr/>
        </p:nvSpPr>
        <p:spPr>
          <a:xfrm>
            <a:off x="11835994" y="4257446"/>
            <a:ext cx="4934102" cy="1609344"/>
          </a:xfrm>
          <a:prstGeom prst="roundRect">
            <a:avLst>
              <a:gd name="adj" fmla="val 806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67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2083796" y="4505249"/>
            <a:ext cx="571500" cy="571500"/>
          </a:xfrm>
          <a:prstGeom prst="rect">
            <a:avLst/>
          </a:prstGeom>
        </p:spPr>
      </p:pic>
      <p:pic>
        <p:nvPicPr>
          <p:cNvPr id="68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2236501" y="4657954"/>
            <a:ext cx="267005" cy="267005"/>
          </a:xfrm>
          <a:prstGeom prst="rect">
            <a:avLst/>
          </a:prstGeom>
        </p:spPr>
      </p:pic>
      <p:sp>
        <p:nvSpPr>
          <p:cNvPr id="69" name="Text 52"/>
          <p:cNvSpPr txBox="1"/>
          <p:nvPr/>
        </p:nvSpPr>
        <p:spPr>
          <a:xfrm>
            <a:off x="12808001" y="4505249"/>
            <a:ext cx="38295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Prediction Agent</a:t>
            </a:r>
            <a:endParaRPr lang="en-US" sz="1300" dirty="0"/>
          </a:p>
        </p:txBody>
      </p:sp>
      <p:sp>
        <p:nvSpPr>
          <p:cNvPr id="70" name="Text 53"/>
          <p:cNvSpPr txBox="1"/>
          <p:nvPr/>
        </p:nvSpPr>
        <p:spPr>
          <a:xfrm>
            <a:off x="12808001" y="4828946"/>
            <a:ext cx="37911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예측 및 예방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 상태 예측</a:t>
            </a:r>
            <a:endParaRPr lang="en-US" sz="1000" dirty="0"/>
          </a:p>
        </p:txBody>
      </p:sp>
      <p:sp>
        <p:nvSpPr>
          <p:cNvPr id="71" name="Shape 54"/>
          <p:cNvSpPr/>
          <p:nvPr/>
        </p:nvSpPr>
        <p:spPr>
          <a:xfrm>
            <a:off x="12808001" y="5343754"/>
            <a:ext cx="476402" cy="276149"/>
          </a:xfrm>
          <a:prstGeom prst="roundRect">
            <a:avLst>
              <a:gd name="adj" fmla="val 91345"/>
            </a:avLst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2" name="Text 55"/>
          <p:cNvSpPr txBox="1"/>
          <p:nvPr/>
        </p:nvSpPr>
        <p:spPr>
          <a:xfrm>
            <a:off x="12808001" y="5343754"/>
            <a:ext cx="5340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</a:t>
            </a:r>
            <a:endParaRPr lang="en-US" sz="900" dirty="0"/>
          </a:p>
        </p:txBody>
      </p:sp>
      <p:sp>
        <p:nvSpPr>
          <p:cNvPr id="73" name="Shape 56"/>
          <p:cNvSpPr/>
          <p:nvPr/>
        </p:nvSpPr>
        <p:spPr>
          <a:xfrm>
            <a:off x="13397789" y="5343754"/>
            <a:ext cx="476402" cy="276149"/>
          </a:xfrm>
          <a:prstGeom prst="roundRect">
            <a:avLst>
              <a:gd name="adj" fmla="val 91345"/>
            </a:avLst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4" name="Text 57"/>
          <p:cNvSpPr txBox="1"/>
          <p:nvPr/>
        </p:nvSpPr>
        <p:spPr>
          <a:xfrm>
            <a:off x="13397789" y="5343754"/>
            <a:ext cx="5340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예방</a:t>
            </a:r>
            <a:endParaRPr lang="en-US" sz="900" dirty="0"/>
          </a:p>
        </p:txBody>
      </p:sp>
      <p:sp>
        <p:nvSpPr>
          <p:cNvPr id="75" name="Shape 58"/>
          <p:cNvSpPr/>
          <p:nvPr/>
        </p:nvSpPr>
        <p:spPr>
          <a:xfrm>
            <a:off x="16268090" y="4472330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59"/>
          <p:cNvSpPr txBox="1"/>
          <p:nvPr/>
        </p:nvSpPr>
        <p:spPr>
          <a:xfrm>
            <a:off x="16382390" y="4429354"/>
            <a:ext cx="295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</a:t>
            </a:r>
            <a:endParaRPr lang="en-US" sz="900" dirty="0"/>
          </a:p>
        </p:txBody>
      </p:sp>
      <p:sp>
        <p:nvSpPr>
          <p:cNvPr id="77" name="Shape 60"/>
          <p:cNvSpPr/>
          <p:nvPr/>
        </p:nvSpPr>
        <p:spPr>
          <a:xfrm>
            <a:off x="6633972" y="624809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0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8" name="Image 15" descr="preencoded.png">    </p:cNvPr>
          <p:cNvPicPr>
            <a:picLocks noChangeAspect="1"/>
          </p:cNvPicPr>
          <p:nvPr/>
        </p:nvPicPr>
        <p:blipFill>
          <a:blip r:embed="rId16"/>
          <a:srcRect l="-1064" r="-1064" t="0" b="0"/>
          <a:stretch/>
        </p:blipFill>
        <p:spPr>
          <a:xfrm>
            <a:off x="6714439" y="6353251"/>
            <a:ext cx="219456" cy="171907"/>
          </a:xfrm>
          <a:prstGeom prst="rect">
            <a:avLst/>
          </a:prstGeom>
        </p:spPr>
      </p:pic>
      <p:sp>
        <p:nvSpPr>
          <p:cNvPr id="79" name="Text 61"/>
          <p:cNvSpPr txBox="1"/>
          <p:nvPr/>
        </p:nvSpPr>
        <p:spPr>
          <a:xfrm>
            <a:off x="7129577" y="6248095"/>
            <a:ext cx="10771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협업형 AI</a:t>
            </a:r>
            <a:endParaRPr lang="en-US" sz="1000" dirty="0"/>
          </a:p>
        </p:txBody>
      </p:sp>
      <p:sp>
        <p:nvSpPr>
          <p:cNvPr id="80" name="Text 62"/>
          <p:cNvSpPr txBox="1"/>
          <p:nvPr/>
        </p:nvSpPr>
        <p:spPr>
          <a:xfrm>
            <a:off x="7129577" y="6439205"/>
            <a:ext cx="11905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 Agent가 협업</a:t>
            </a:r>
            <a:endParaRPr lang="en-US" sz="1000" dirty="0"/>
          </a:p>
        </p:txBody>
      </p:sp>
      <p:sp>
        <p:nvSpPr>
          <p:cNvPr id="81" name="Shape 63"/>
          <p:cNvSpPr/>
          <p:nvPr/>
        </p:nvSpPr>
        <p:spPr>
          <a:xfrm>
            <a:off x="8509406" y="624809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0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2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8613648" y="6353251"/>
            <a:ext cx="171907" cy="171907"/>
          </a:xfrm>
          <a:prstGeom prst="rect">
            <a:avLst/>
          </a:prstGeom>
        </p:spPr>
      </p:pic>
      <p:sp>
        <p:nvSpPr>
          <p:cNvPr id="83" name="Text 64"/>
          <p:cNvSpPr txBox="1"/>
          <p:nvPr/>
        </p:nvSpPr>
        <p:spPr>
          <a:xfrm>
            <a:off x="9004097" y="6248095"/>
            <a:ext cx="10497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 대응</a:t>
            </a:r>
            <a:endParaRPr lang="en-US" sz="1000" dirty="0"/>
          </a:p>
        </p:txBody>
      </p:sp>
      <p:sp>
        <p:nvSpPr>
          <p:cNvPr id="84" name="Text 65"/>
          <p:cNvSpPr txBox="1"/>
          <p:nvPr/>
        </p:nvSpPr>
        <p:spPr>
          <a:xfrm>
            <a:off x="9004097" y="6439205"/>
            <a:ext cx="12143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분석 및 조치</a:t>
            </a:r>
            <a:endParaRPr lang="en-US" sz="1000" dirty="0"/>
          </a:p>
        </p:txBody>
      </p:sp>
      <p:sp>
        <p:nvSpPr>
          <p:cNvPr id="85" name="Shape 66"/>
          <p:cNvSpPr/>
          <p:nvPr/>
        </p:nvSpPr>
        <p:spPr>
          <a:xfrm>
            <a:off x="10356494" y="624809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0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6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10460736" y="6353251"/>
            <a:ext cx="171907" cy="171907"/>
          </a:xfrm>
          <a:prstGeom prst="rect">
            <a:avLst/>
          </a:prstGeom>
        </p:spPr>
      </p:pic>
      <p:sp>
        <p:nvSpPr>
          <p:cNvPr id="87" name="Text 67"/>
          <p:cNvSpPr txBox="1"/>
          <p:nvPr/>
        </p:nvSpPr>
        <p:spPr>
          <a:xfrm>
            <a:off x="10851185" y="6248095"/>
            <a:ext cx="886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처리</a:t>
            </a:r>
            <a:endParaRPr lang="en-US" sz="1000" dirty="0"/>
          </a:p>
        </p:txBody>
      </p:sp>
      <p:sp>
        <p:nvSpPr>
          <p:cNvPr id="88" name="Text 68"/>
          <p:cNvSpPr txBox="1"/>
          <p:nvPr/>
        </p:nvSpPr>
        <p:spPr>
          <a:xfrm>
            <a:off x="10851185" y="6439205"/>
            <a:ext cx="94457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24/7 모니터링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10666" y="514807"/>
            <a:ext cx="457748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MCP 기반 인터페이스 구조 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27" r="-27" t="0" b="0"/>
          <a:stretch/>
        </p:blipFill>
        <p:spPr>
          <a:xfrm>
            <a:off x="571500" y="614477"/>
            <a:ext cx="428854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209215" y="638251"/>
            <a:ext cx="30915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↔ AI 간 표준 인터페이스 제공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467966" y="4515307"/>
            <a:ext cx="1904695" cy="2210105"/>
          </a:xfrm>
          <a:prstGeom prst="roundRect">
            <a:avLst>
              <a:gd name="adj" fmla="val 5761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56916" y="4762195"/>
            <a:ext cx="476402" cy="47640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880360" y="4886554"/>
            <a:ext cx="228600" cy="2286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309214" y="4876495"/>
            <a:ext cx="8193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PLC/MES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2927909" y="5391302"/>
            <a:ext cx="9939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 장비 제어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2715768" y="5695798"/>
            <a:ext cx="1410005" cy="352044"/>
          </a:xfrm>
          <a:prstGeom prst="roundRect">
            <a:avLst>
              <a:gd name="adj" fmla="val 842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839212" y="5810098"/>
            <a:ext cx="123444" cy="1234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010205" y="5695798"/>
            <a:ext cx="6574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PLC 시스템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2715768" y="6124651"/>
            <a:ext cx="1410005" cy="352044"/>
          </a:xfrm>
          <a:prstGeom prst="roundRect">
            <a:avLst>
              <a:gd name="adj" fmla="val 842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359" b="-1359"/>
          <a:stretch/>
        </p:blipFill>
        <p:spPr>
          <a:xfrm>
            <a:off x="2839212" y="6238951"/>
            <a:ext cx="105156" cy="1234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2991917" y="6124651"/>
            <a:ext cx="571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 연동</a:t>
            </a:r>
            <a:endParaRPr lang="en-US" sz="9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00" b="-400"/>
          <a:stretch/>
        </p:blipFill>
        <p:spPr>
          <a:xfrm>
            <a:off x="4562856" y="5490972"/>
            <a:ext cx="571500" cy="19202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058461" y="5453482"/>
            <a:ext cx="75895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Text 12"/>
          <p:cNvSpPr txBox="1"/>
          <p:nvPr/>
        </p:nvSpPr>
        <p:spPr>
          <a:xfrm>
            <a:off x="4570171" y="5586070"/>
            <a:ext cx="6629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</a:t>
            </a:r>
            <a:endParaRPr lang="en-US" sz="900" dirty="0"/>
          </a:p>
        </p:txBody>
      </p:sp>
      <p:sp>
        <p:nvSpPr>
          <p:cNvPr id="21" name="Shape 13"/>
          <p:cNvSpPr/>
          <p:nvPr/>
        </p:nvSpPr>
        <p:spPr>
          <a:xfrm>
            <a:off x="5325466" y="4515307"/>
            <a:ext cx="1923898" cy="2210105"/>
          </a:xfrm>
          <a:prstGeom prst="roundRect">
            <a:avLst>
              <a:gd name="adj" fmla="val 5647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573268" y="4762195"/>
            <a:ext cx="476402" cy="476402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070702" y="4876495"/>
            <a:ext cx="10241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센서 시스템</a:t>
            </a:r>
            <a:endParaRPr lang="en-US" sz="1300" dirty="0"/>
          </a:p>
        </p:txBody>
      </p:sp>
      <p:sp>
        <p:nvSpPr>
          <p:cNvPr id="24" name="Text 15"/>
          <p:cNvSpPr txBox="1"/>
          <p:nvPr/>
        </p:nvSpPr>
        <p:spPr>
          <a:xfrm>
            <a:off x="5721401" y="5391302"/>
            <a:ext cx="11311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데이터 수집</a:t>
            </a:r>
            <a:endParaRPr lang="en-US" sz="1000" dirty="0"/>
          </a:p>
        </p:txBody>
      </p:sp>
      <p:sp>
        <p:nvSpPr>
          <p:cNvPr id="25" name="Shape 16"/>
          <p:cNvSpPr/>
          <p:nvPr/>
        </p:nvSpPr>
        <p:spPr>
          <a:xfrm>
            <a:off x="5573268" y="5695798"/>
            <a:ext cx="1429207" cy="352044"/>
          </a:xfrm>
          <a:prstGeom prst="roundRect">
            <a:avLst>
              <a:gd name="adj" fmla="val 842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829" b="-829"/>
          <a:stretch/>
        </p:blipFill>
        <p:spPr>
          <a:xfrm>
            <a:off x="5696712" y="5810098"/>
            <a:ext cx="75895" cy="123444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5820156" y="5695798"/>
            <a:ext cx="56235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온도/습도</a:t>
            </a:r>
            <a:endParaRPr lang="en-US" sz="900" dirty="0"/>
          </a:p>
        </p:txBody>
      </p:sp>
      <p:sp>
        <p:nvSpPr>
          <p:cNvPr id="28" name="Shape 18"/>
          <p:cNvSpPr/>
          <p:nvPr/>
        </p:nvSpPr>
        <p:spPr>
          <a:xfrm>
            <a:off x="5573268" y="6124651"/>
            <a:ext cx="1429207" cy="352044"/>
          </a:xfrm>
          <a:prstGeom prst="roundRect">
            <a:avLst>
              <a:gd name="adj" fmla="val 842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696712" y="6238951"/>
            <a:ext cx="123444" cy="123444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5867705" y="6124651"/>
            <a:ext cx="56235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압력/속도</a:t>
            </a:r>
            <a:endParaRPr lang="en-US" sz="9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00" b="-400"/>
          <a:stretch/>
        </p:blipFill>
        <p:spPr>
          <a:xfrm>
            <a:off x="7438644" y="5490972"/>
            <a:ext cx="571500" cy="19202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7933334" y="5453482"/>
            <a:ext cx="75895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Text 21"/>
          <p:cNvSpPr txBox="1"/>
          <p:nvPr/>
        </p:nvSpPr>
        <p:spPr>
          <a:xfrm>
            <a:off x="7445045" y="5586070"/>
            <a:ext cx="6629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전송</a:t>
            </a:r>
            <a:endParaRPr lang="en-US" sz="90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5" b="-15"/>
          <a:stretch/>
        </p:blipFill>
        <p:spPr>
          <a:xfrm>
            <a:off x="8200339" y="4515307"/>
            <a:ext cx="1904695" cy="2210105"/>
          </a:xfrm>
          <a:prstGeom prst="rect">
            <a:avLst/>
          </a:prstGeom>
        </p:spPr>
      </p:pic>
      <p:sp>
        <p:nvSpPr>
          <p:cNvPr id="35" name="Shape 22"/>
          <p:cNvSpPr/>
          <p:nvPr/>
        </p:nvSpPr>
        <p:spPr>
          <a:xfrm>
            <a:off x="8673084" y="4762195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796528" y="4886554"/>
            <a:ext cx="228600" cy="228600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9225382" y="4876495"/>
            <a:ext cx="4480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MCP</a:t>
            </a:r>
            <a:endParaRPr lang="en-US" sz="1300" dirty="0"/>
          </a:p>
        </p:txBody>
      </p:sp>
      <p:sp>
        <p:nvSpPr>
          <p:cNvPr id="38" name="Text 24"/>
          <p:cNvSpPr txBox="1"/>
          <p:nvPr/>
        </p:nvSpPr>
        <p:spPr>
          <a:xfrm>
            <a:off x="8632850" y="5391302"/>
            <a:ext cx="10488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인터페이스</a:t>
            </a:r>
            <a:endParaRPr lang="en-US" sz="1000" dirty="0"/>
          </a:p>
        </p:txBody>
      </p:sp>
      <p:sp>
        <p:nvSpPr>
          <p:cNvPr id="39" name="Shape 25"/>
          <p:cNvSpPr/>
          <p:nvPr/>
        </p:nvSpPr>
        <p:spPr>
          <a:xfrm>
            <a:off x="8448142" y="5695798"/>
            <a:ext cx="1410005" cy="352044"/>
          </a:xfrm>
          <a:prstGeom prst="roundRect">
            <a:avLst>
              <a:gd name="adj" fmla="val 84240"/>
            </a:avLst>
          </a:prstGeom>
          <a:solidFill>
            <a:srgbClr val="E0F2FE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rcRect l="-1358" r="-1358" t="0" b="0"/>
          <a:stretch/>
        </p:blipFill>
        <p:spPr>
          <a:xfrm>
            <a:off x="8571586" y="5810098"/>
            <a:ext cx="95098" cy="123444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8714232" y="5695798"/>
            <a:ext cx="7818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프로토콜 변환</a:t>
            </a:r>
            <a:endParaRPr lang="en-US" sz="900" dirty="0"/>
          </a:p>
        </p:txBody>
      </p:sp>
      <p:sp>
        <p:nvSpPr>
          <p:cNvPr id="42" name="Shape 27"/>
          <p:cNvSpPr/>
          <p:nvPr/>
        </p:nvSpPr>
        <p:spPr>
          <a:xfrm>
            <a:off x="8448142" y="6124651"/>
            <a:ext cx="1410005" cy="352044"/>
          </a:xfrm>
          <a:prstGeom prst="roundRect">
            <a:avLst>
              <a:gd name="adj" fmla="val 84240"/>
            </a:avLst>
          </a:prstGeom>
          <a:solidFill>
            <a:srgbClr val="E0F2FE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3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571586" y="6238951"/>
            <a:ext cx="123444" cy="123444"/>
          </a:xfrm>
          <a:prstGeom prst="rect">
            <a:avLst/>
          </a:prstGeom>
        </p:spPr>
      </p:pic>
      <p:sp>
        <p:nvSpPr>
          <p:cNvPr id="44" name="Text 28"/>
          <p:cNvSpPr txBox="1"/>
          <p:nvPr/>
        </p:nvSpPr>
        <p:spPr>
          <a:xfrm>
            <a:off x="8743493" y="6124651"/>
            <a:ext cx="6675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정제</a:t>
            </a:r>
            <a:endParaRPr lang="en-US" sz="900" dirty="0"/>
          </a:p>
        </p:txBody>
      </p:sp>
      <p:pic>
        <p:nvPicPr>
          <p:cNvPr id="45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400" b="-400"/>
          <a:stretch/>
        </p:blipFill>
        <p:spPr>
          <a:xfrm>
            <a:off x="10296144" y="5490972"/>
            <a:ext cx="571500" cy="19202"/>
          </a:xfrm>
          <a:prstGeom prst="rect">
            <a:avLst/>
          </a:prstGeom>
        </p:spPr>
      </p:pic>
      <p:sp>
        <p:nvSpPr>
          <p:cNvPr id="46" name="Shape 29"/>
          <p:cNvSpPr/>
          <p:nvPr/>
        </p:nvSpPr>
        <p:spPr>
          <a:xfrm>
            <a:off x="10790834" y="5453482"/>
            <a:ext cx="75895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Text 30"/>
          <p:cNvSpPr txBox="1"/>
          <p:nvPr/>
        </p:nvSpPr>
        <p:spPr>
          <a:xfrm>
            <a:off x="10408615" y="5586070"/>
            <a:ext cx="428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처리</a:t>
            </a:r>
            <a:endParaRPr lang="en-US" sz="900" dirty="0"/>
          </a:p>
        </p:txBody>
      </p:sp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15" b="-15"/>
          <a:stretch/>
        </p:blipFill>
        <p:spPr>
          <a:xfrm>
            <a:off x="11057839" y="4515307"/>
            <a:ext cx="1904695" cy="2210105"/>
          </a:xfrm>
          <a:prstGeom prst="rect">
            <a:avLst/>
          </a:prstGeom>
        </p:spPr>
      </p:pic>
      <p:sp>
        <p:nvSpPr>
          <p:cNvPr id="49" name="Shape 31"/>
          <p:cNvSpPr/>
          <p:nvPr/>
        </p:nvSpPr>
        <p:spPr>
          <a:xfrm>
            <a:off x="11451946" y="4762195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11575390" y="4886554"/>
            <a:ext cx="228600" cy="228600"/>
          </a:xfrm>
          <a:prstGeom prst="rect">
            <a:avLst/>
          </a:prstGeom>
        </p:spPr>
      </p:pic>
      <p:sp>
        <p:nvSpPr>
          <p:cNvPr id="51" name="Text 32"/>
          <p:cNvSpPr txBox="1"/>
          <p:nvPr/>
        </p:nvSpPr>
        <p:spPr>
          <a:xfrm>
            <a:off x="11991442" y="4876495"/>
            <a:ext cx="63550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엔진</a:t>
            </a:r>
            <a:endParaRPr lang="en-US" sz="1300" dirty="0"/>
          </a:p>
        </p:txBody>
      </p:sp>
      <p:sp>
        <p:nvSpPr>
          <p:cNvPr id="52" name="Text 33"/>
          <p:cNvSpPr txBox="1"/>
          <p:nvPr/>
        </p:nvSpPr>
        <p:spPr>
          <a:xfrm>
            <a:off x="11627510" y="5391302"/>
            <a:ext cx="773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 분석</a:t>
            </a:r>
            <a:endParaRPr lang="en-US" sz="1000" dirty="0"/>
          </a:p>
        </p:txBody>
      </p:sp>
      <p:sp>
        <p:nvSpPr>
          <p:cNvPr id="53" name="Shape 34"/>
          <p:cNvSpPr/>
          <p:nvPr/>
        </p:nvSpPr>
        <p:spPr>
          <a:xfrm>
            <a:off x="11305642" y="5695798"/>
            <a:ext cx="1410005" cy="352044"/>
          </a:xfrm>
          <a:prstGeom prst="roundRect">
            <a:avLst>
              <a:gd name="adj" fmla="val 8424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4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524" b="-524"/>
          <a:stretch/>
        </p:blipFill>
        <p:spPr>
          <a:xfrm>
            <a:off x="11429086" y="5810098"/>
            <a:ext cx="152705" cy="123444"/>
          </a:xfrm>
          <a:prstGeom prst="rect">
            <a:avLst/>
          </a:prstGeom>
        </p:spPr>
      </p:pic>
      <p:sp>
        <p:nvSpPr>
          <p:cNvPr id="55" name="Text 35"/>
          <p:cNvSpPr txBox="1"/>
          <p:nvPr/>
        </p:nvSpPr>
        <p:spPr>
          <a:xfrm>
            <a:off x="11629339" y="5695798"/>
            <a:ext cx="73426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Multi-Agent</a:t>
            </a:r>
            <a:endParaRPr lang="en-US" sz="900" dirty="0"/>
          </a:p>
        </p:txBody>
      </p:sp>
      <p:sp>
        <p:nvSpPr>
          <p:cNvPr id="56" name="Shape 36"/>
          <p:cNvSpPr/>
          <p:nvPr/>
        </p:nvSpPr>
        <p:spPr>
          <a:xfrm>
            <a:off x="11305642" y="6124651"/>
            <a:ext cx="1410005" cy="352044"/>
          </a:xfrm>
          <a:prstGeom prst="roundRect">
            <a:avLst>
              <a:gd name="adj" fmla="val 8424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7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11429086" y="6238951"/>
            <a:ext cx="123444" cy="123444"/>
          </a:xfrm>
          <a:prstGeom prst="rect">
            <a:avLst/>
          </a:prstGeom>
        </p:spPr>
      </p:pic>
      <p:sp>
        <p:nvSpPr>
          <p:cNvPr id="58" name="Text 37"/>
          <p:cNvSpPr txBox="1"/>
          <p:nvPr/>
        </p:nvSpPr>
        <p:spPr>
          <a:xfrm>
            <a:off x="11600993" y="6124651"/>
            <a:ext cx="5532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분석</a:t>
            </a:r>
            <a:endParaRPr lang="en-US" sz="900" dirty="0"/>
          </a:p>
        </p:txBody>
      </p:sp>
      <p:pic>
        <p:nvPicPr>
          <p:cNvPr id="59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-400" b="-400"/>
          <a:stretch/>
        </p:blipFill>
        <p:spPr>
          <a:xfrm>
            <a:off x="13153644" y="5490972"/>
            <a:ext cx="571500" cy="19202"/>
          </a:xfrm>
          <a:prstGeom prst="rect">
            <a:avLst/>
          </a:prstGeom>
        </p:spPr>
      </p:pic>
      <p:sp>
        <p:nvSpPr>
          <p:cNvPr id="60" name="Shape 38"/>
          <p:cNvSpPr/>
          <p:nvPr/>
        </p:nvSpPr>
        <p:spPr>
          <a:xfrm>
            <a:off x="13648334" y="5453482"/>
            <a:ext cx="75895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Text 39"/>
          <p:cNvSpPr txBox="1"/>
          <p:nvPr/>
        </p:nvSpPr>
        <p:spPr>
          <a:xfrm>
            <a:off x="13213080" y="5586070"/>
            <a:ext cx="54406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출력</a:t>
            </a:r>
            <a:endParaRPr lang="en-US" sz="900" dirty="0"/>
          </a:p>
        </p:txBody>
      </p:sp>
      <p:sp>
        <p:nvSpPr>
          <p:cNvPr id="62" name="Shape 40"/>
          <p:cNvSpPr/>
          <p:nvPr/>
        </p:nvSpPr>
        <p:spPr>
          <a:xfrm>
            <a:off x="13915339" y="4515307"/>
            <a:ext cx="1904695" cy="2210105"/>
          </a:xfrm>
          <a:prstGeom prst="roundRect">
            <a:avLst>
              <a:gd name="adj" fmla="val 5761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63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14257325" y="4762195"/>
            <a:ext cx="476402" cy="476402"/>
          </a:xfrm>
          <a:prstGeom prst="rect">
            <a:avLst/>
          </a:prstGeom>
        </p:spPr>
      </p:pic>
      <p:pic>
        <p:nvPicPr>
          <p:cNvPr id="64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-45" b="-45"/>
          <a:stretch/>
        </p:blipFill>
        <p:spPr>
          <a:xfrm>
            <a:off x="14366138" y="4886554"/>
            <a:ext cx="256946" cy="228600"/>
          </a:xfrm>
          <a:prstGeom prst="rect">
            <a:avLst/>
          </a:prstGeom>
        </p:spPr>
      </p:pic>
      <p:sp>
        <p:nvSpPr>
          <p:cNvPr id="65" name="Text 41"/>
          <p:cNvSpPr txBox="1"/>
          <p:nvPr/>
        </p:nvSpPr>
        <p:spPr>
          <a:xfrm>
            <a:off x="14801393" y="4876495"/>
            <a:ext cx="73152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모니터링</a:t>
            </a:r>
            <a:endParaRPr lang="en-US" sz="1300" dirty="0"/>
          </a:p>
        </p:txBody>
      </p:sp>
      <p:sp>
        <p:nvSpPr>
          <p:cNvPr id="66" name="Text 42"/>
          <p:cNvSpPr txBox="1"/>
          <p:nvPr/>
        </p:nvSpPr>
        <p:spPr>
          <a:xfrm>
            <a:off x="14347850" y="5391302"/>
            <a:ext cx="10488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대시보드</a:t>
            </a:r>
            <a:endParaRPr lang="en-US" sz="1000" dirty="0"/>
          </a:p>
        </p:txBody>
      </p:sp>
      <p:sp>
        <p:nvSpPr>
          <p:cNvPr id="67" name="Shape 43"/>
          <p:cNvSpPr/>
          <p:nvPr/>
        </p:nvSpPr>
        <p:spPr>
          <a:xfrm>
            <a:off x="14163142" y="5695798"/>
            <a:ext cx="1410005" cy="352044"/>
          </a:xfrm>
          <a:prstGeom prst="roundRect">
            <a:avLst>
              <a:gd name="adj" fmla="val 842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8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-1359" b="-1359"/>
          <a:stretch/>
        </p:blipFill>
        <p:spPr>
          <a:xfrm>
            <a:off x="14286586" y="5810098"/>
            <a:ext cx="105156" cy="123444"/>
          </a:xfrm>
          <a:prstGeom prst="rect">
            <a:avLst/>
          </a:prstGeom>
        </p:spPr>
      </p:pic>
      <p:sp>
        <p:nvSpPr>
          <p:cNvPr id="69" name="Text 44"/>
          <p:cNvSpPr txBox="1"/>
          <p:nvPr/>
        </p:nvSpPr>
        <p:spPr>
          <a:xfrm>
            <a:off x="14439290" y="5695798"/>
            <a:ext cx="6675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 시스템</a:t>
            </a:r>
            <a:endParaRPr lang="en-US" sz="900" dirty="0"/>
          </a:p>
        </p:txBody>
      </p:sp>
      <p:sp>
        <p:nvSpPr>
          <p:cNvPr id="70" name="Shape 45"/>
          <p:cNvSpPr/>
          <p:nvPr/>
        </p:nvSpPr>
        <p:spPr>
          <a:xfrm>
            <a:off x="14163142" y="6124651"/>
            <a:ext cx="1410005" cy="352044"/>
          </a:xfrm>
          <a:prstGeom prst="roundRect">
            <a:avLst>
              <a:gd name="adj" fmla="val 842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1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14286586" y="6238951"/>
            <a:ext cx="123444" cy="123444"/>
          </a:xfrm>
          <a:prstGeom prst="rect">
            <a:avLst/>
          </a:prstGeom>
        </p:spPr>
      </p:pic>
      <p:sp>
        <p:nvSpPr>
          <p:cNvPr id="72" name="Text 46"/>
          <p:cNvSpPr txBox="1"/>
          <p:nvPr/>
        </p:nvSpPr>
        <p:spPr>
          <a:xfrm>
            <a:off x="14458493" y="6124651"/>
            <a:ext cx="4005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시각화</a:t>
            </a:r>
            <a:endParaRPr lang="en-US" sz="900" dirty="0"/>
          </a:p>
        </p:txBody>
      </p:sp>
      <p:sp>
        <p:nvSpPr>
          <p:cNvPr id="73" name="Shape 47"/>
          <p:cNvSpPr/>
          <p:nvPr/>
        </p:nvSpPr>
        <p:spPr>
          <a:xfrm>
            <a:off x="1143000" y="8820302"/>
            <a:ext cx="16002000" cy="514807"/>
          </a:xfrm>
          <a:prstGeom prst="roundRect">
            <a:avLst>
              <a:gd name="adj" fmla="val 526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Shape 48"/>
          <p:cNvSpPr/>
          <p:nvPr/>
        </p:nvSpPr>
        <p:spPr>
          <a:xfrm>
            <a:off x="1380744" y="9038844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49"/>
          <p:cNvSpPr txBox="1"/>
          <p:nvPr/>
        </p:nvSpPr>
        <p:spPr>
          <a:xfrm>
            <a:off x="1533449" y="8982151"/>
            <a:ext cx="12143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상태: 정상</a:t>
            </a:r>
            <a:endParaRPr lang="en-US" sz="1000" dirty="0"/>
          </a:p>
        </p:txBody>
      </p:sp>
      <p:sp>
        <p:nvSpPr>
          <p:cNvPr id="76" name="Shape 50"/>
          <p:cNvSpPr/>
          <p:nvPr/>
        </p:nvSpPr>
        <p:spPr>
          <a:xfrm>
            <a:off x="6241694" y="9038844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Text 51"/>
          <p:cNvSpPr txBox="1"/>
          <p:nvPr/>
        </p:nvSpPr>
        <p:spPr>
          <a:xfrm>
            <a:off x="6393485" y="8982151"/>
            <a:ext cx="10277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MCP 연결: 활성</a:t>
            </a:r>
            <a:endParaRPr lang="en-US" sz="1000" dirty="0"/>
          </a:p>
        </p:txBody>
      </p:sp>
      <p:sp>
        <p:nvSpPr>
          <p:cNvPr id="78" name="Shape 52"/>
          <p:cNvSpPr/>
          <p:nvPr/>
        </p:nvSpPr>
        <p:spPr>
          <a:xfrm>
            <a:off x="11011205" y="9038844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53"/>
          <p:cNvSpPr txBox="1"/>
          <p:nvPr/>
        </p:nvSpPr>
        <p:spPr>
          <a:xfrm>
            <a:off x="11163910" y="8982151"/>
            <a:ext cx="105430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엔진: 실행 중</a:t>
            </a:r>
            <a:endParaRPr lang="en-US" sz="1000" dirty="0"/>
          </a:p>
        </p:txBody>
      </p:sp>
      <p:sp>
        <p:nvSpPr>
          <p:cNvPr id="80" name="Shape 54"/>
          <p:cNvSpPr/>
          <p:nvPr/>
        </p:nvSpPr>
        <p:spPr>
          <a:xfrm>
            <a:off x="15783458" y="9038844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Text 55"/>
          <p:cNvSpPr txBox="1"/>
          <p:nvPr/>
        </p:nvSpPr>
        <p:spPr>
          <a:xfrm>
            <a:off x="15936163" y="8982151"/>
            <a:ext cx="12143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흐름: 안정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24712" y="514807"/>
            <a:ext cx="308152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Digital Twin 구성 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614477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437108" y="638251"/>
            <a:ext cx="502554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생산라인 전체를 가상 환경으로 모델링하여 실시간 상태 반영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1500" y="1333195"/>
            <a:ext cx="8382305" cy="308610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9244" y="1571854"/>
            <a:ext cx="381305" cy="38130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1282" r="-1282" t="0" b="0"/>
          <a:stretch/>
        </p:blipFill>
        <p:spPr>
          <a:xfrm>
            <a:off x="890626" y="1666951"/>
            <a:ext cx="219456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04849" y="1623974"/>
            <a:ext cx="93543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 요소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809244" y="2104949"/>
            <a:ext cx="8097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생산라인의 모든 장비와 공정을 가상 환경으로 모델링하여 실시간으로 상태를 반영합니다.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809244" y="2500884"/>
            <a:ext cx="3877056" cy="771754"/>
          </a:xfrm>
          <a:prstGeom prst="roundRect">
            <a:avLst>
              <a:gd name="adj" fmla="val 2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171346" y="2662733"/>
            <a:ext cx="35442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장비 상태 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-1507" r="-1507" t="0" b="0"/>
          <a:stretch/>
        </p:blipFill>
        <p:spPr>
          <a:xfrm>
            <a:off x="972007" y="2698394"/>
            <a:ext cx="85954" cy="1335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72007" y="2929738"/>
            <a:ext cx="37435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온도, 속도, 가동률 등 실시간 상태 모니터링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4839005" y="2500884"/>
            <a:ext cx="3877056" cy="771754"/>
          </a:xfrm>
          <a:prstGeom prst="roundRect">
            <a:avLst>
              <a:gd name="adj" fmla="val 2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66944" y="2662733"/>
            <a:ext cx="34774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생산 흐름 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-837" r="-837" t="0" b="0"/>
          <a:stretch/>
        </p:blipFill>
        <p:spPr>
          <a:xfrm>
            <a:off x="5000854" y="2698394"/>
            <a:ext cx="152705" cy="13350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000854" y="2929738"/>
            <a:ext cx="37435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공정별 생산 흐름 및 작업 상태 추적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809244" y="3417113"/>
            <a:ext cx="3877056" cy="771754"/>
          </a:xfrm>
          <a:prstGeom prst="roundRect">
            <a:avLst>
              <a:gd name="adj" fmla="val 2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1218895" y="3579876"/>
            <a:ext cx="34966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작업 상태 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72007" y="3615538"/>
            <a:ext cx="133502" cy="13350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972007" y="3845966"/>
            <a:ext cx="37435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진행 상황 및 완료율 관리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4839005" y="3417113"/>
            <a:ext cx="3877056" cy="771754"/>
          </a:xfrm>
          <a:prstGeom prst="roundRect">
            <a:avLst>
              <a:gd name="adj" fmla="val 2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5247742" y="3579876"/>
            <a:ext cx="34966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성능 분석 </a:t>
            </a:r>
            <a:endParaRPr lang="en-US" sz="10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000854" y="3615538"/>
            <a:ext cx="133502" cy="13350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000854" y="3845966"/>
            <a:ext cx="37435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성능 및 효율성 분석</a:t>
            </a:r>
            <a:endParaRPr lang="en-US" sz="9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" b="-4"/>
          <a:stretch/>
        </p:blipFill>
        <p:spPr>
          <a:xfrm>
            <a:off x="571500" y="4724705"/>
            <a:ext cx="8382305" cy="957377"/>
          </a:xfrm>
          <a:prstGeom prst="rect">
            <a:avLst/>
          </a:prstGeom>
        </p:spPr>
      </p:pic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71754" y="4962449"/>
            <a:ext cx="152705" cy="152705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1000354" y="4924044"/>
            <a:ext cx="748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특징</a:t>
            </a:r>
            <a:endParaRPr lang="en-US" sz="1200" dirty="0"/>
          </a:p>
        </p:txBody>
      </p:sp>
      <p:sp>
        <p:nvSpPr>
          <p:cNvPr id="31" name="Text 20"/>
          <p:cNvSpPr txBox="1"/>
          <p:nvPr/>
        </p:nvSpPr>
        <p:spPr>
          <a:xfrm>
            <a:off x="771754" y="5266944"/>
            <a:ext cx="81729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동기화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실제 생산라인과 가상 모델 간의 데이터를 실시간으로 동기화하여 정확한 상태 반영 </a:t>
            </a:r>
            <a:endParaRPr lang="en-US" sz="1100" dirty="0"/>
          </a:p>
        </p:txBody>
      </p:sp>
      <p:sp>
        <p:nvSpPr>
          <p:cNvPr id="32" name="Shape 21"/>
          <p:cNvSpPr/>
          <p:nvPr/>
        </p:nvSpPr>
        <p:spPr>
          <a:xfrm>
            <a:off x="9334195" y="1333195"/>
            <a:ext cx="8382305" cy="2924251"/>
          </a:xfrm>
          <a:prstGeom prst="roundRect">
            <a:avLst>
              <a:gd name="adj" fmla="val 24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572854" y="1571854"/>
            <a:ext cx="381305" cy="381305"/>
          </a:xfrm>
          <a:prstGeom prst="rect">
            <a:avLst/>
          </a:prstGeom>
        </p:spPr>
      </p:pic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667951" y="1666951"/>
            <a:ext cx="190195" cy="190195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0067544" y="1623974"/>
            <a:ext cx="93543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방안</a:t>
            </a:r>
            <a:endParaRPr lang="en-US" sz="1500" dirty="0"/>
          </a:p>
        </p:txBody>
      </p:sp>
      <p:sp>
        <p:nvSpPr>
          <p:cNvPr id="36" name="Text 23"/>
          <p:cNvSpPr txBox="1"/>
          <p:nvPr/>
        </p:nvSpPr>
        <p:spPr>
          <a:xfrm>
            <a:off x="9572854" y="2104949"/>
            <a:ext cx="80970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Twin을 활용하여 시뮬레이션, 장애 예측, 운영 최적화를 수행합니다.</a:t>
            </a:r>
            <a:endParaRPr lang="en-US" sz="1200" dirty="0"/>
          </a:p>
        </p:txBody>
      </p:sp>
      <p:sp>
        <p:nvSpPr>
          <p:cNvPr id="37" name="Shape 24"/>
          <p:cNvSpPr/>
          <p:nvPr/>
        </p:nvSpPr>
        <p:spPr>
          <a:xfrm>
            <a:off x="9572854" y="2577694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5"/>
          <p:cNvSpPr txBox="1"/>
          <p:nvPr/>
        </p:nvSpPr>
        <p:spPr>
          <a:xfrm>
            <a:off x="9706356" y="2500884"/>
            <a:ext cx="4048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시뮬레이션</a:t>
            </a:r>
            <a:endParaRPr lang="en-US" sz="1100" dirty="0"/>
          </a:p>
        </p:txBody>
      </p:sp>
      <p:sp>
        <p:nvSpPr>
          <p:cNvPr id="39" name="Text 26"/>
          <p:cNvSpPr txBox="1"/>
          <p:nvPr/>
        </p:nvSpPr>
        <p:spPr>
          <a:xfrm>
            <a:off x="9706356" y="2739542"/>
            <a:ext cx="4543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가상 환경에서 생산 시나리오를 시뮬레이션하여 최적의 운영 방안 도출</a:t>
            </a:r>
            <a:endParaRPr lang="en-US" sz="1000" dirty="0"/>
          </a:p>
        </p:txBody>
      </p:sp>
      <p:sp>
        <p:nvSpPr>
          <p:cNvPr id="40" name="Shape 27"/>
          <p:cNvSpPr/>
          <p:nvPr/>
        </p:nvSpPr>
        <p:spPr>
          <a:xfrm>
            <a:off x="9572854" y="3119933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28"/>
          <p:cNvSpPr txBox="1"/>
          <p:nvPr/>
        </p:nvSpPr>
        <p:spPr>
          <a:xfrm>
            <a:off x="9706356" y="3044038"/>
            <a:ext cx="36009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예측</a:t>
            </a:r>
            <a:endParaRPr lang="en-US" sz="1100" dirty="0"/>
          </a:p>
        </p:txBody>
      </p:sp>
      <p:sp>
        <p:nvSpPr>
          <p:cNvPr id="42" name="Text 29"/>
          <p:cNvSpPr txBox="1"/>
          <p:nvPr/>
        </p:nvSpPr>
        <p:spPr>
          <a:xfrm>
            <a:off x="9706356" y="3282696"/>
            <a:ext cx="41431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분석으로 장비 고장을 사전에 예측하여 예방 정비 수행</a:t>
            </a:r>
            <a:endParaRPr lang="en-US" sz="1000" dirty="0"/>
          </a:p>
        </p:txBody>
      </p:sp>
      <p:sp>
        <p:nvSpPr>
          <p:cNvPr id="43" name="Shape 30"/>
          <p:cNvSpPr/>
          <p:nvPr/>
        </p:nvSpPr>
        <p:spPr>
          <a:xfrm>
            <a:off x="9572854" y="3663086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1"/>
          <p:cNvSpPr txBox="1"/>
          <p:nvPr/>
        </p:nvSpPr>
        <p:spPr>
          <a:xfrm>
            <a:off x="9706356" y="3587191"/>
            <a:ext cx="3191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최적화</a:t>
            </a:r>
            <a:endParaRPr lang="en-US" sz="1100" dirty="0"/>
          </a:p>
        </p:txBody>
      </p:sp>
      <p:sp>
        <p:nvSpPr>
          <p:cNvPr id="45" name="Text 32"/>
          <p:cNvSpPr txBox="1"/>
          <p:nvPr/>
        </p:nvSpPr>
        <p:spPr>
          <a:xfrm>
            <a:off x="9706356" y="3824935"/>
            <a:ext cx="36475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 흐름을 분석하여 병목 현상 제거 및 효율성 극대화</a:t>
            </a:r>
            <a:endParaRPr lang="en-US" sz="100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4" b="-4"/>
          <a:stretch/>
        </p:blipFill>
        <p:spPr>
          <a:xfrm>
            <a:off x="9334195" y="4558284"/>
            <a:ext cx="8382305" cy="957377"/>
          </a:xfrm>
          <a:prstGeom prst="rect">
            <a:avLst/>
          </a:prstGeom>
        </p:spPr>
      </p:pic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9534449" y="4796942"/>
            <a:ext cx="152705" cy="152705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9763049" y="4758538"/>
            <a:ext cx="748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200" dirty="0"/>
          </a:p>
        </p:txBody>
      </p:sp>
      <p:sp>
        <p:nvSpPr>
          <p:cNvPr id="49" name="Text 34"/>
          <p:cNvSpPr txBox="1"/>
          <p:nvPr/>
        </p:nvSpPr>
        <p:spPr>
          <a:xfrm>
            <a:off x="9534449" y="5101438"/>
            <a:ext cx="81729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 효율 20% 향상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Digital Twin을 통한 실시간 모니터링과 예측으로 생산 효율성 극대화 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72261" y="514807"/>
            <a:ext cx="234086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운영 시나리오 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607" r="-607" t="0" b="0"/>
          <a:stretch/>
        </p:blipFill>
        <p:spPr>
          <a:xfrm>
            <a:off x="571500" y="614477"/>
            <a:ext cx="390449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732813" y="638251"/>
            <a:ext cx="346191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이상감지부터 조치까지의 자동화 프로세스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616598" y="1333195"/>
            <a:ext cx="506029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직접 대응까지 수행</a:t>
            </a:r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자동화된 운영 시나리오 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524305" y="2180844"/>
            <a:ext cx="2809951" cy="25146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61818" y="2428646"/>
            <a:ext cx="5340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273198" y="3057754"/>
            <a:ext cx="131765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이상 발생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185416" y="3381451"/>
            <a:ext cx="1490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센서 데이터 이상 감지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2107" y="3762756"/>
            <a:ext cx="2314346" cy="685800"/>
          </a:xfrm>
          <a:prstGeom prst="roundRect">
            <a:avLst>
              <a:gd name="adj" fmla="val 296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95551" y="3919118"/>
            <a:ext cx="114300" cy="1143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009851" y="3886200"/>
            <a:ext cx="92354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온도/압력 이상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-2571" r="-2571" t="0" b="0"/>
          <a:stretch/>
        </p:blipFill>
        <p:spPr>
          <a:xfrm>
            <a:off x="1895551" y="4138574"/>
            <a:ext cx="105156" cy="1143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022653" y="4105656"/>
            <a:ext cx="71780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 트리거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4714646" y="2180844"/>
            <a:ext cx="571500" cy="1920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210251" y="2143354"/>
            <a:ext cx="75895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667451" y="2180844"/>
            <a:ext cx="2809951" cy="25146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805879" y="2428646"/>
            <a:ext cx="5340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125566" y="3057754"/>
            <a:ext cx="189372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Anomaly Agent 감지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580022" y="3381451"/>
            <a:ext cx="9939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패턴 분석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915254" y="3762756"/>
            <a:ext cx="2314346" cy="685800"/>
          </a:xfrm>
          <a:prstGeom prst="roundRect">
            <a:avLst>
              <a:gd name="adj" fmla="val 296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038698" y="3919118"/>
            <a:ext cx="114300" cy="1143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182258" y="3886200"/>
            <a:ext cx="58978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 매칭</a:t>
            </a:r>
            <a:endParaRPr lang="en-US" sz="9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038698" y="4138574"/>
            <a:ext cx="114300" cy="1143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175858" y="4105656"/>
            <a:ext cx="71780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</a:t>
            </a:r>
            <a:endParaRPr lang="en-US" sz="9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00" b="-400"/>
          <a:stretch/>
        </p:blipFill>
        <p:spPr>
          <a:xfrm>
            <a:off x="8858707" y="2180844"/>
            <a:ext cx="571500" cy="19202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9353398" y="2143354"/>
            <a:ext cx="75895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9810598" y="2180844"/>
            <a:ext cx="2809951" cy="25146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10949026" y="2428646"/>
            <a:ext cx="5340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23"/>
          <p:cNvSpPr txBox="1"/>
          <p:nvPr/>
        </p:nvSpPr>
        <p:spPr>
          <a:xfrm>
            <a:off x="10440619" y="3057754"/>
            <a:ext cx="155356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Root Cause 분석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10723169" y="3381451"/>
            <a:ext cx="9939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원인 파악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10058400" y="3762756"/>
            <a:ext cx="2314346" cy="685800"/>
          </a:xfrm>
          <a:prstGeom prst="roundRect">
            <a:avLst>
              <a:gd name="adj" fmla="val 296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181844" y="3919118"/>
            <a:ext cx="114300" cy="11430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10325405" y="3886200"/>
            <a:ext cx="58978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추적</a:t>
            </a:r>
            <a:endParaRPr lang="en-US" sz="9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rcRect l="-1911" r="-1911" t="0" b="0"/>
          <a:stretch/>
        </p:blipFill>
        <p:spPr>
          <a:xfrm>
            <a:off x="10181844" y="4138574"/>
            <a:ext cx="133502" cy="1143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0344607" y="4105656"/>
            <a:ext cx="58978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 수행</a:t>
            </a:r>
            <a:endParaRPr lang="en-US" sz="9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00" b="-400"/>
          <a:stretch/>
        </p:blipFill>
        <p:spPr>
          <a:xfrm>
            <a:off x="13001854" y="2180844"/>
            <a:ext cx="571500" cy="19202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13496544" y="2143354"/>
            <a:ext cx="75895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Shape 29"/>
          <p:cNvSpPr/>
          <p:nvPr/>
        </p:nvSpPr>
        <p:spPr>
          <a:xfrm>
            <a:off x="13953744" y="2180844"/>
            <a:ext cx="2809951" cy="25146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42" name="Text 30"/>
          <p:cNvSpPr/>
          <p:nvPr/>
        </p:nvSpPr>
        <p:spPr>
          <a:xfrm>
            <a:off x="15092172" y="2428646"/>
            <a:ext cx="5340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500" dirty="0"/>
          </a:p>
        </p:txBody>
      </p:sp>
      <p:sp>
        <p:nvSpPr>
          <p:cNvPr id="43" name="Text 31"/>
          <p:cNvSpPr txBox="1"/>
          <p:nvPr/>
        </p:nvSpPr>
        <p:spPr>
          <a:xfrm>
            <a:off x="14527987" y="3057754"/>
            <a:ext cx="16669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Policy Agent 전략</a:t>
            </a:r>
            <a:endParaRPr lang="en-US" sz="1300" dirty="0"/>
          </a:p>
        </p:txBody>
      </p:sp>
      <p:sp>
        <p:nvSpPr>
          <p:cNvPr id="44" name="Text 32"/>
          <p:cNvSpPr txBox="1"/>
          <p:nvPr/>
        </p:nvSpPr>
        <p:spPr>
          <a:xfrm>
            <a:off x="14866315" y="3381451"/>
            <a:ext cx="9939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정책 생성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14201546" y="3762756"/>
            <a:ext cx="2314346" cy="685800"/>
          </a:xfrm>
          <a:prstGeom prst="roundRect">
            <a:avLst>
              <a:gd name="adj" fmla="val 296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4325905" y="3919118"/>
            <a:ext cx="114300" cy="114300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14469466" y="3886200"/>
            <a:ext cx="58978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 결정</a:t>
            </a:r>
            <a:endParaRPr lang="en-US" sz="900" dirty="0"/>
          </a:p>
        </p:txBody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80" b="-80"/>
          <a:stretch/>
        </p:blipFill>
        <p:spPr>
          <a:xfrm>
            <a:off x="14325905" y="4138574"/>
            <a:ext cx="142646" cy="114300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14497812" y="4105656"/>
            <a:ext cx="58978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조치 계획</a:t>
            </a:r>
            <a:endParaRPr lang="en-US" sz="900" dirty="0"/>
          </a:p>
        </p:txBody>
      </p:sp>
      <p:sp>
        <p:nvSpPr>
          <p:cNvPr id="50" name="Shape 36"/>
          <p:cNvSpPr/>
          <p:nvPr/>
        </p:nvSpPr>
        <p:spPr>
          <a:xfrm>
            <a:off x="4953305" y="5076749"/>
            <a:ext cx="2667305" cy="895198"/>
          </a:xfrm>
          <a:prstGeom prst="roundRect">
            <a:avLst>
              <a:gd name="adj" fmla="val 2608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5162702" y="5286146"/>
            <a:ext cx="476402" cy="476402"/>
          </a:xfrm>
          <a:prstGeom prst="rect">
            <a:avLst/>
          </a:prstGeom>
        </p:spPr>
      </p:pic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5286146" y="5410505"/>
            <a:ext cx="228600" cy="228600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5790895" y="5300777"/>
            <a:ext cx="17492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알림</a:t>
            </a:r>
            <a:endParaRPr lang="en-US" sz="1200" dirty="0"/>
          </a:p>
        </p:txBody>
      </p:sp>
      <p:sp>
        <p:nvSpPr>
          <p:cNvPr id="54" name="Text 38"/>
          <p:cNvSpPr txBox="1"/>
          <p:nvPr/>
        </p:nvSpPr>
        <p:spPr>
          <a:xfrm>
            <a:off x="5790895" y="5567782"/>
            <a:ext cx="17492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알림 시스템 활성화</a:t>
            </a:r>
            <a:endParaRPr lang="en-US" sz="900" dirty="0"/>
          </a:p>
        </p:txBody>
      </p:sp>
      <p:sp>
        <p:nvSpPr>
          <p:cNvPr id="55" name="Shape 39"/>
          <p:cNvSpPr/>
          <p:nvPr/>
        </p:nvSpPr>
        <p:spPr>
          <a:xfrm>
            <a:off x="7810805" y="5076749"/>
            <a:ext cx="2667305" cy="895198"/>
          </a:xfrm>
          <a:prstGeom prst="roundRect">
            <a:avLst>
              <a:gd name="adj" fmla="val 2608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56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020202" y="5286146"/>
            <a:ext cx="476402" cy="476402"/>
          </a:xfrm>
          <a:prstGeom prst="rect">
            <a:avLst/>
          </a:prstGeom>
        </p:spPr>
      </p:pic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8143646" y="5410505"/>
            <a:ext cx="228600" cy="228600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8648395" y="5300777"/>
            <a:ext cx="17492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설정 변경</a:t>
            </a:r>
            <a:endParaRPr lang="en-US" sz="1200" dirty="0"/>
          </a:p>
        </p:txBody>
      </p:sp>
      <p:sp>
        <p:nvSpPr>
          <p:cNvPr id="59" name="Text 41"/>
          <p:cNvSpPr txBox="1"/>
          <p:nvPr/>
        </p:nvSpPr>
        <p:spPr>
          <a:xfrm>
            <a:off x="8648395" y="5567782"/>
            <a:ext cx="17492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직접 조치 수행</a:t>
            </a:r>
            <a:endParaRPr lang="en-US" sz="900" dirty="0"/>
          </a:p>
        </p:txBody>
      </p:sp>
      <p:sp>
        <p:nvSpPr>
          <p:cNvPr id="60" name="Shape 42"/>
          <p:cNvSpPr/>
          <p:nvPr/>
        </p:nvSpPr>
        <p:spPr>
          <a:xfrm>
            <a:off x="10668305" y="5076749"/>
            <a:ext cx="2667305" cy="895198"/>
          </a:xfrm>
          <a:prstGeom prst="roundRect">
            <a:avLst>
              <a:gd name="adj" fmla="val 2608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61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10877702" y="5286146"/>
            <a:ext cx="476402" cy="476402"/>
          </a:xfrm>
          <a:prstGeom prst="rect">
            <a:avLst/>
          </a:prstGeom>
        </p:spPr>
      </p:pic>
      <p:pic>
        <p:nvPicPr>
          <p:cNvPr id="62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11001146" y="5410505"/>
            <a:ext cx="228600" cy="228600"/>
          </a:xfrm>
          <a:prstGeom prst="rect">
            <a:avLst/>
          </a:prstGeom>
        </p:spPr>
      </p:pic>
      <p:sp>
        <p:nvSpPr>
          <p:cNvPr id="63" name="Text 43"/>
          <p:cNvSpPr txBox="1"/>
          <p:nvPr/>
        </p:nvSpPr>
        <p:spPr>
          <a:xfrm>
            <a:off x="11505895" y="5300777"/>
            <a:ext cx="17492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재시작</a:t>
            </a:r>
            <a:endParaRPr lang="en-US" sz="1200" dirty="0"/>
          </a:p>
        </p:txBody>
      </p:sp>
      <p:sp>
        <p:nvSpPr>
          <p:cNvPr id="64" name="Text 44"/>
          <p:cNvSpPr txBox="1"/>
          <p:nvPr/>
        </p:nvSpPr>
        <p:spPr>
          <a:xfrm>
            <a:off x="11505895" y="5567782"/>
            <a:ext cx="17492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복구 프로세스</a:t>
            </a:r>
            <a:endParaRPr lang="en-US" sz="900" dirty="0"/>
          </a:p>
        </p:txBody>
      </p:sp>
      <p:sp>
        <p:nvSpPr>
          <p:cNvPr id="65" name="Shape 45"/>
          <p:cNvSpPr/>
          <p:nvPr/>
        </p:nvSpPr>
        <p:spPr>
          <a:xfrm>
            <a:off x="1143000" y="8820302"/>
            <a:ext cx="16002000" cy="514807"/>
          </a:xfrm>
          <a:prstGeom prst="roundRect">
            <a:avLst>
              <a:gd name="adj" fmla="val 526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46"/>
          <p:cNvSpPr/>
          <p:nvPr/>
        </p:nvSpPr>
        <p:spPr>
          <a:xfrm>
            <a:off x="1380744" y="9038844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47"/>
          <p:cNvSpPr txBox="1"/>
          <p:nvPr/>
        </p:nvSpPr>
        <p:spPr>
          <a:xfrm>
            <a:off x="1533449" y="8982151"/>
            <a:ext cx="12143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상태: 정상</a:t>
            </a:r>
            <a:endParaRPr lang="en-US" sz="1000" dirty="0"/>
          </a:p>
        </p:txBody>
      </p:sp>
      <p:sp>
        <p:nvSpPr>
          <p:cNvPr id="68" name="Shape 48"/>
          <p:cNvSpPr/>
          <p:nvPr/>
        </p:nvSpPr>
        <p:spPr>
          <a:xfrm>
            <a:off x="6308446" y="9038844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Text 49"/>
          <p:cNvSpPr txBox="1"/>
          <p:nvPr/>
        </p:nvSpPr>
        <p:spPr>
          <a:xfrm>
            <a:off x="6460236" y="8982151"/>
            <a:ext cx="862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연결: 활성</a:t>
            </a:r>
            <a:endParaRPr lang="en-US" sz="1000" dirty="0"/>
          </a:p>
        </p:txBody>
      </p:sp>
      <p:sp>
        <p:nvSpPr>
          <p:cNvPr id="70" name="Shape 50"/>
          <p:cNvSpPr/>
          <p:nvPr/>
        </p:nvSpPr>
        <p:spPr>
          <a:xfrm>
            <a:off x="10987430" y="9038844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51"/>
          <p:cNvSpPr txBox="1"/>
          <p:nvPr/>
        </p:nvSpPr>
        <p:spPr>
          <a:xfrm>
            <a:off x="11140135" y="8982151"/>
            <a:ext cx="12143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대응: 활성화</a:t>
            </a:r>
            <a:endParaRPr lang="en-US" sz="1000" dirty="0"/>
          </a:p>
        </p:txBody>
      </p:sp>
      <p:sp>
        <p:nvSpPr>
          <p:cNvPr id="72" name="Shape 52"/>
          <p:cNvSpPr/>
          <p:nvPr/>
        </p:nvSpPr>
        <p:spPr>
          <a:xfrm>
            <a:off x="15914218" y="9038844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53"/>
          <p:cNvSpPr txBox="1"/>
          <p:nvPr/>
        </p:nvSpPr>
        <p:spPr>
          <a:xfrm>
            <a:off x="16066922" y="8982151"/>
            <a:ext cx="10094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모니터링: 24/7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72261" y="514807"/>
            <a:ext cx="2745029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시스템 아키텍처 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607" r="-607" t="0" b="0"/>
          <a:stretch/>
        </p:blipFill>
        <p:spPr>
          <a:xfrm>
            <a:off x="571500" y="614477"/>
            <a:ext cx="390449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036040" y="638251"/>
            <a:ext cx="42912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Edge Layer부터 Dashboard까지 전체 시스템 구조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6" b="-6"/>
          <a:stretch/>
        </p:blipFill>
        <p:spPr>
          <a:xfrm>
            <a:off x="2249424" y="4515307"/>
            <a:ext cx="2001622" cy="22101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497226" y="4762195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621585" y="4886554"/>
            <a:ext cx="228600" cy="2286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000146" y="4876495"/>
            <a:ext cx="110002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Edge Layer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2684678" y="5391302"/>
            <a:ext cx="11311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데이터 수집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2497226" y="5695798"/>
            <a:ext cx="1514246" cy="352044"/>
          </a:xfrm>
          <a:prstGeom prst="roundRect">
            <a:avLst>
              <a:gd name="adj" fmla="val 84240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621585" y="5810098"/>
            <a:ext cx="123444" cy="1234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2792578" y="5695798"/>
            <a:ext cx="8385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PLC/MES 연동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2497226" y="6124651"/>
            <a:ext cx="1514246" cy="352044"/>
          </a:xfrm>
          <a:prstGeom prst="roundRect">
            <a:avLst>
              <a:gd name="adj" fmla="val 84240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2669134" y="6124651"/>
            <a:ext cx="6675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센서 데이터</a:t>
            </a:r>
            <a:endParaRPr lang="en-US" sz="9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00" b="-400"/>
          <a:stretch/>
        </p:blipFill>
        <p:spPr>
          <a:xfrm>
            <a:off x="4442155" y="5490972"/>
            <a:ext cx="571500" cy="19202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936846" y="5453482"/>
            <a:ext cx="75895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4448556" y="5586070"/>
            <a:ext cx="6629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</a:t>
            </a:r>
            <a:endParaRPr lang="en-US" sz="9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5" b="-15"/>
          <a:stretch/>
        </p:blipFill>
        <p:spPr>
          <a:xfrm>
            <a:off x="5203850" y="4515307"/>
            <a:ext cx="1904695" cy="2210105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5524805" y="4762195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648249" y="4886554"/>
            <a:ext cx="228600" cy="22860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050585" y="4876495"/>
            <a:ext cx="8055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Layer</a:t>
            </a:r>
            <a:endParaRPr lang="en-US" sz="1300" dirty="0"/>
          </a:p>
        </p:txBody>
      </p:sp>
      <p:sp>
        <p:nvSpPr>
          <p:cNvPr id="24" name="Text 15"/>
          <p:cNvSpPr txBox="1"/>
          <p:nvPr/>
        </p:nvSpPr>
        <p:spPr>
          <a:xfrm>
            <a:off x="5558638" y="5391302"/>
            <a:ext cx="12015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Multi-Agent 엔진</a:t>
            </a:r>
            <a:endParaRPr lang="en-US" sz="1000" dirty="0"/>
          </a:p>
        </p:txBody>
      </p:sp>
      <p:sp>
        <p:nvSpPr>
          <p:cNvPr id="25" name="Shape 16"/>
          <p:cNvSpPr/>
          <p:nvPr/>
        </p:nvSpPr>
        <p:spPr>
          <a:xfrm>
            <a:off x="5451653" y="5695798"/>
            <a:ext cx="1410005" cy="352044"/>
          </a:xfrm>
          <a:prstGeom prst="roundRect">
            <a:avLst>
              <a:gd name="adj" fmla="val 8424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524" b="-524"/>
          <a:stretch/>
        </p:blipFill>
        <p:spPr>
          <a:xfrm>
            <a:off x="5575097" y="5810098"/>
            <a:ext cx="152705" cy="123444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5775350" y="5695798"/>
            <a:ext cx="5532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탐지</a:t>
            </a:r>
            <a:endParaRPr lang="en-US" sz="900" dirty="0"/>
          </a:p>
        </p:txBody>
      </p:sp>
      <p:sp>
        <p:nvSpPr>
          <p:cNvPr id="28" name="Shape 18"/>
          <p:cNvSpPr/>
          <p:nvPr/>
        </p:nvSpPr>
        <p:spPr>
          <a:xfrm>
            <a:off x="5451653" y="6124651"/>
            <a:ext cx="1410005" cy="352044"/>
          </a:xfrm>
          <a:prstGeom prst="roundRect">
            <a:avLst>
              <a:gd name="adj" fmla="val 8424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575097" y="6238951"/>
            <a:ext cx="123444" cy="123444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5747004" y="6124651"/>
            <a:ext cx="5532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분석</a:t>
            </a:r>
            <a:endParaRPr lang="en-US" sz="9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00" b="-400"/>
          <a:stretch/>
        </p:blipFill>
        <p:spPr>
          <a:xfrm>
            <a:off x="7299655" y="5490972"/>
            <a:ext cx="571500" cy="19202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7794346" y="5453482"/>
            <a:ext cx="75895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Text 21"/>
          <p:cNvSpPr txBox="1"/>
          <p:nvPr/>
        </p:nvSpPr>
        <p:spPr>
          <a:xfrm>
            <a:off x="7412126" y="5586070"/>
            <a:ext cx="428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처리</a:t>
            </a:r>
            <a:endParaRPr lang="en-US" sz="90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3" b="-13"/>
          <a:stretch/>
        </p:blipFill>
        <p:spPr>
          <a:xfrm>
            <a:off x="8061350" y="4515307"/>
            <a:ext cx="2078431" cy="2210105"/>
          </a:xfrm>
          <a:prstGeom prst="rect">
            <a:avLst/>
          </a:prstGeom>
        </p:spPr>
      </p:pic>
      <p:sp>
        <p:nvSpPr>
          <p:cNvPr id="35" name="Shape 22"/>
          <p:cNvSpPr/>
          <p:nvPr/>
        </p:nvSpPr>
        <p:spPr>
          <a:xfrm>
            <a:off x="8309153" y="4762195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45" b="-45"/>
          <a:stretch/>
        </p:blipFill>
        <p:spPr>
          <a:xfrm>
            <a:off x="8418881" y="4886554"/>
            <a:ext cx="256946" cy="228600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8804758" y="4876495"/>
            <a:ext cx="1190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Twin</a:t>
            </a:r>
            <a:endParaRPr lang="en-US" sz="1300" dirty="0"/>
          </a:p>
        </p:txBody>
      </p:sp>
      <p:sp>
        <p:nvSpPr>
          <p:cNvPr id="38" name="Text 24"/>
          <p:cNvSpPr txBox="1"/>
          <p:nvPr/>
        </p:nvSpPr>
        <p:spPr>
          <a:xfrm>
            <a:off x="8649310" y="5391302"/>
            <a:ext cx="9107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가상 생산라인</a:t>
            </a:r>
            <a:endParaRPr lang="en-US" sz="1000" dirty="0"/>
          </a:p>
        </p:txBody>
      </p:sp>
      <p:sp>
        <p:nvSpPr>
          <p:cNvPr id="39" name="Shape 25"/>
          <p:cNvSpPr/>
          <p:nvPr/>
        </p:nvSpPr>
        <p:spPr>
          <a:xfrm>
            <a:off x="8309153" y="5695798"/>
            <a:ext cx="1591056" cy="352044"/>
          </a:xfrm>
          <a:prstGeom prst="roundRect">
            <a:avLst>
              <a:gd name="adj" fmla="val 84240"/>
            </a:avLst>
          </a:prstGeom>
          <a:solidFill>
            <a:srgbClr val="E0F2FE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432597" y="5810098"/>
            <a:ext cx="123444" cy="123444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8604504" y="5695798"/>
            <a:ext cx="5907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모델링</a:t>
            </a:r>
            <a:endParaRPr lang="en-US" sz="900" dirty="0"/>
          </a:p>
        </p:txBody>
      </p:sp>
      <p:sp>
        <p:nvSpPr>
          <p:cNvPr id="42" name="Shape 27"/>
          <p:cNvSpPr/>
          <p:nvPr/>
        </p:nvSpPr>
        <p:spPr>
          <a:xfrm>
            <a:off x="8309153" y="6124651"/>
            <a:ext cx="1591056" cy="352044"/>
          </a:xfrm>
          <a:prstGeom prst="roundRect">
            <a:avLst>
              <a:gd name="adj" fmla="val 84240"/>
            </a:avLst>
          </a:prstGeom>
          <a:solidFill>
            <a:srgbClr val="E0F2FE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3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432597" y="6238951"/>
            <a:ext cx="123444" cy="123444"/>
          </a:xfrm>
          <a:prstGeom prst="rect">
            <a:avLst/>
          </a:prstGeom>
        </p:spPr>
      </p:pic>
      <p:sp>
        <p:nvSpPr>
          <p:cNvPr id="44" name="Text 28"/>
          <p:cNvSpPr txBox="1"/>
          <p:nvPr/>
        </p:nvSpPr>
        <p:spPr>
          <a:xfrm>
            <a:off x="8604504" y="6124651"/>
            <a:ext cx="7818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동기화</a:t>
            </a:r>
            <a:endParaRPr lang="en-US" sz="900" dirty="0"/>
          </a:p>
        </p:txBody>
      </p:sp>
      <p:pic>
        <p:nvPicPr>
          <p:cNvPr id="45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400" b="-400"/>
          <a:stretch/>
        </p:blipFill>
        <p:spPr>
          <a:xfrm>
            <a:off x="10330891" y="5490972"/>
            <a:ext cx="571500" cy="19202"/>
          </a:xfrm>
          <a:prstGeom prst="rect">
            <a:avLst/>
          </a:prstGeom>
        </p:spPr>
      </p:pic>
      <p:sp>
        <p:nvSpPr>
          <p:cNvPr id="46" name="Shape 29"/>
          <p:cNvSpPr/>
          <p:nvPr/>
        </p:nvSpPr>
        <p:spPr>
          <a:xfrm>
            <a:off x="10825582" y="5453482"/>
            <a:ext cx="75895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Text 30"/>
          <p:cNvSpPr txBox="1"/>
          <p:nvPr/>
        </p:nvSpPr>
        <p:spPr>
          <a:xfrm>
            <a:off x="10352837" y="5586070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시뮬레이션</a:t>
            </a:r>
            <a:endParaRPr lang="en-US" sz="900" dirty="0"/>
          </a:p>
        </p:txBody>
      </p:sp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9" b="-9"/>
          <a:stretch/>
        </p:blipFill>
        <p:spPr>
          <a:xfrm>
            <a:off x="11092586" y="4515307"/>
            <a:ext cx="2003450" cy="2210105"/>
          </a:xfrm>
          <a:prstGeom prst="rect">
            <a:avLst/>
          </a:prstGeom>
        </p:spPr>
      </p:pic>
      <p:sp>
        <p:nvSpPr>
          <p:cNvPr id="49" name="Shape 31"/>
          <p:cNvSpPr/>
          <p:nvPr/>
        </p:nvSpPr>
        <p:spPr>
          <a:xfrm>
            <a:off x="11340389" y="4762195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16" descr="preencoded.png">    </p:cNvPr>
          <p:cNvPicPr>
            <a:picLocks noChangeAspect="1"/>
          </p:cNvPicPr>
          <p:nvPr/>
        </p:nvPicPr>
        <p:blipFill>
          <a:blip r:embed="rId17"/>
          <a:srcRect l="-80" r="-80" t="0" b="0"/>
          <a:stretch/>
        </p:blipFill>
        <p:spPr>
          <a:xfrm>
            <a:off x="11435486" y="4886554"/>
            <a:ext cx="286207" cy="228600"/>
          </a:xfrm>
          <a:prstGeom prst="rect">
            <a:avLst/>
          </a:prstGeom>
        </p:spPr>
      </p:pic>
      <p:sp>
        <p:nvSpPr>
          <p:cNvPr id="51" name="Text 32"/>
          <p:cNvSpPr txBox="1"/>
          <p:nvPr/>
        </p:nvSpPr>
        <p:spPr>
          <a:xfrm>
            <a:off x="11843309" y="4876495"/>
            <a:ext cx="110002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 Data</a:t>
            </a:r>
            <a:endParaRPr lang="en-US" sz="1300" dirty="0"/>
          </a:p>
        </p:txBody>
      </p:sp>
      <p:sp>
        <p:nvSpPr>
          <p:cNvPr id="52" name="Text 33"/>
          <p:cNvSpPr txBox="1"/>
          <p:nvPr/>
        </p:nvSpPr>
        <p:spPr>
          <a:xfrm>
            <a:off x="11529670" y="5391302"/>
            <a:ext cx="11329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저장/분석</a:t>
            </a:r>
            <a:endParaRPr lang="en-US" sz="1000" dirty="0"/>
          </a:p>
        </p:txBody>
      </p:sp>
      <p:sp>
        <p:nvSpPr>
          <p:cNvPr id="53" name="Shape 34"/>
          <p:cNvSpPr/>
          <p:nvPr/>
        </p:nvSpPr>
        <p:spPr>
          <a:xfrm>
            <a:off x="11340389" y="5695798"/>
            <a:ext cx="1514246" cy="352044"/>
          </a:xfrm>
          <a:prstGeom prst="roundRect">
            <a:avLst>
              <a:gd name="adj" fmla="val 84240"/>
            </a:avLst>
          </a:prstGeom>
          <a:solidFill>
            <a:srgbClr val="E0F2FE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54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1359" b="-1359"/>
          <a:stretch/>
        </p:blipFill>
        <p:spPr>
          <a:xfrm>
            <a:off x="11463833" y="5810098"/>
            <a:ext cx="105156" cy="123444"/>
          </a:xfrm>
          <a:prstGeom prst="rect">
            <a:avLst/>
          </a:prstGeom>
        </p:spPr>
      </p:pic>
      <p:sp>
        <p:nvSpPr>
          <p:cNvPr id="55" name="Text 35"/>
          <p:cNvSpPr txBox="1"/>
          <p:nvPr/>
        </p:nvSpPr>
        <p:spPr>
          <a:xfrm>
            <a:off x="11616538" y="5695798"/>
            <a:ext cx="7818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플랫폼</a:t>
            </a:r>
            <a:endParaRPr lang="en-US" sz="900" dirty="0"/>
          </a:p>
        </p:txBody>
      </p:sp>
      <p:sp>
        <p:nvSpPr>
          <p:cNvPr id="56" name="Shape 36"/>
          <p:cNvSpPr/>
          <p:nvPr/>
        </p:nvSpPr>
        <p:spPr>
          <a:xfrm>
            <a:off x="11340389" y="6124651"/>
            <a:ext cx="1514246" cy="352044"/>
          </a:xfrm>
          <a:prstGeom prst="roundRect">
            <a:avLst>
              <a:gd name="adj" fmla="val 84240"/>
            </a:avLst>
          </a:prstGeom>
          <a:solidFill>
            <a:srgbClr val="E0F2FE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57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11463833" y="6238951"/>
            <a:ext cx="123444" cy="123444"/>
          </a:xfrm>
          <a:prstGeom prst="rect">
            <a:avLst/>
          </a:prstGeom>
        </p:spPr>
      </p:pic>
      <p:sp>
        <p:nvSpPr>
          <p:cNvPr id="58" name="Text 37"/>
          <p:cNvSpPr txBox="1"/>
          <p:nvPr/>
        </p:nvSpPr>
        <p:spPr>
          <a:xfrm>
            <a:off x="11635740" y="6124651"/>
            <a:ext cx="5532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엔진</a:t>
            </a:r>
            <a:endParaRPr lang="en-US" sz="900" dirty="0"/>
          </a:p>
        </p:txBody>
      </p:sp>
      <p:pic>
        <p:nvPicPr>
          <p:cNvPr id="59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-400" b="-400"/>
          <a:stretch/>
        </p:blipFill>
        <p:spPr>
          <a:xfrm>
            <a:off x="13286232" y="5490972"/>
            <a:ext cx="571500" cy="19202"/>
          </a:xfrm>
          <a:prstGeom prst="rect">
            <a:avLst/>
          </a:prstGeom>
        </p:spPr>
      </p:pic>
      <p:sp>
        <p:nvSpPr>
          <p:cNvPr id="60" name="Shape 38"/>
          <p:cNvSpPr/>
          <p:nvPr/>
        </p:nvSpPr>
        <p:spPr>
          <a:xfrm>
            <a:off x="13781837" y="5453482"/>
            <a:ext cx="75895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Text 39"/>
          <p:cNvSpPr txBox="1"/>
          <p:nvPr/>
        </p:nvSpPr>
        <p:spPr>
          <a:xfrm>
            <a:off x="13414248" y="5586070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시각화</a:t>
            </a:r>
            <a:endParaRPr lang="en-US" sz="900" dirty="0"/>
          </a:p>
        </p:txBody>
      </p:sp>
      <p:sp>
        <p:nvSpPr>
          <p:cNvPr id="62" name="Shape 40"/>
          <p:cNvSpPr/>
          <p:nvPr/>
        </p:nvSpPr>
        <p:spPr>
          <a:xfrm>
            <a:off x="14048842" y="4515307"/>
            <a:ext cx="1990649" cy="2210105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63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14295730" y="4762195"/>
            <a:ext cx="476402" cy="476402"/>
          </a:xfrm>
          <a:prstGeom prst="rect">
            <a:avLst/>
          </a:prstGeom>
        </p:spPr>
      </p:pic>
      <p:pic>
        <p:nvPicPr>
          <p:cNvPr id="64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-45" b="-45"/>
          <a:stretch/>
        </p:blipFill>
        <p:spPr>
          <a:xfrm>
            <a:off x="14405458" y="4886554"/>
            <a:ext cx="256946" cy="228600"/>
          </a:xfrm>
          <a:prstGeom prst="rect">
            <a:avLst/>
          </a:prstGeom>
        </p:spPr>
      </p:pic>
      <p:sp>
        <p:nvSpPr>
          <p:cNvPr id="65" name="Text 41"/>
          <p:cNvSpPr txBox="1"/>
          <p:nvPr/>
        </p:nvSpPr>
        <p:spPr>
          <a:xfrm>
            <a:off x="14842541" y="4876495"/>
            <a:ext cx="9930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66" name="Text 42"/>
          <p:cNvSpPr txBox="1"/>
          <p:nvPr/>
        </p:nvSpPr>
        <p:spPr>
          <a:xfrm>
            <a:off x="14642287" y="5391302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모니터링 UI</a:t>
            </a:r>
            <a:endParaRPr lang="en-US" sz="1000" dirty="0"/>
          </a:p>
        </p:txBody>
      </p:sp>
      <p:sp>
        <p:nvSpPr>
          <p:cNvPr id="67" name="Shape 43"/>
          <p:cNvSpPr/>
          <p:nvPr/>
        </p:nvSpPr>
        <p:spPr>
          <a:xfrm>
            <a:off x="14295730" y="5695798"/>
            <a:ext cx="1495044" cy="352044"/>
          </a:xfrm>
          <a:prstGeom prst="roundRect">
            <a:avLst>
              <a:gd name="adj" fmla="val 842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8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14420088" y="5810098"/>
            <a:ext cx="123444" cy="123444"/>
          </a:xfrm>
          <a:prstGeom prst="rect">
            <a:avLst/>
          </a:prstGeom>
        </p:spPr>
      </p:pic>
      <p:sp>
        <p:nvSpPr>
          <p:cNvPr id="69" name="Text 44"/>
          <p:cNvSpPr txBox="1"/>
          <p:nvPr/>
        </p:nvSpPr>
        <p:spPr>
          <a:xfrm>
            <a:off x="14591081" y="5695798"/>
            <a:ext cx="8961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모니터링</a:t>
            </a:r>
            <a:endParaRPr lang="en-US" sz="900" dirty="0"/>
          </a:p>
        </p:txBody>
      </p:sp>
      <p:sp>
        <p:nvSpPr>
          <p:cNvPr id="70" name="Shape 45"/>
          <p:cNvSpPr/>
          <p:nvPr/>
        </p:nvSpPr>
        <p:spPr>
          <a:xfrm>
            <a:off x="14295730" y="6124651"/>
            <a:ext cx="1495044" cy="352044"/>
          </a:xfrm>
          <a:prstGeom prst="roundRect">
            <a:avLst>
              <a:gd name="adj" fmla="val 842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1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-1359" b="-1359"/>
          <a:stretch/>
        </p:blipFill>
        <p:spPr>
          <a:xfrm>
            <a:off x="14420088" y="6238951"/>
            <a:ext cx="105156" cy="123444"/>
          </a:xfrm>
          <a:prstGeom prst="rect">
            <a:avLst/>
          </a:prstGeom>
        </p:spPr>
      </p:pic>
      <p:sp>
        <p:nvSpPr>
          <p:cNvPr id="72" name="Text 46"/>
          <p:cNvSpPr txBox="1"/>
          <p:nvPr/>
        </p:nvSpPr>
        <p:spPr>
          <a:xfrm>
            <a:off x="14572793" y="6124651"/>
            <a:ext cx="6675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 시스템</a:t>
            </a:r>
            <a:endParaRPr lang="en-US" sz="900" dirty="0"/>
          </a:p>
        </p:txBody>
      </p:sp>
      <p:sp>
        <p:nvSpPr>
          <p:cNvPr id="73" name="Shape 47"/>
          <p:cNvSpPr/>
          <p:nvPr/>
        </p:nvSpPr>
        <p:spPr>
          <a:xfrm>
            <a:off x="1143000" y="7825435"/>
            <a:ext cx="5181905" cy="942746"/>
          </a:xfrm>
          <a:prstGeom prst="roundRect">
            <a:avLst>
              <a:gd name="adj" fmla="val 156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Shape 48"/>
          <p:cNvSpPr/>
          <p:nvPr/>
        </p:nvSpPr>
        <p:spPr>
          <a:xfrm>
            <a:off x="1304849" y="7987284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0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5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-842" b="-842"/>
          <a:stretch/>
        </p:blipFill>
        <p:spPr>
          <a:xfrm>
            <a:off x="1399946" y="8092440"/>
            <a:ext cx="190195" cy="171907"/>
          </a:xfrm>
          <a:prstGeom prst="rect">
            <a:avLst/>
          </a:prstGeom>
        </p:spPr>
      </p:pic>
      <p:sp>
        <p:nvSpPr>
          <p:cNvPr id="76" name="Text 49"/>
          <p:cNvSpPr txBox="1"/>
          <p:nvPr/>
        </p:nvSpPr>
        <p:spPr>
          <a:xfrm>
            <a:off x="1800454" y="7987284"/>
            <a:ext cx="4553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계층화된 구조</a:t>
            </a:r>
            <a:endParaRPr lang="en-US" sz="1200" dirty="0"/>
          </a:p>
        </p:txBody>
      </p:sp>
      <p:sp>
        <p:nvSpPr>
          <p:cNvPr id="77" name="Text 50"/>
          <p:cNvSpPr txBox="1"/>
          <p:nvPr/>
        </p:nvSpPr>
        <p:spPr>
          <a:xfrm>
            <a:off x="1800454" y="8254289"/>
            <a:ext cx="44394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Edge→AI→Digital Twin→Cloud로 구성된 4단계 계층 구조로 데이터 흐름을 최적화</a:t>
            </a:r>
            <a:endParaRPr lang="en-US" sz="900" dirty="0"/>
          </a:p>
        </p:txBody>
      </p:sp>
      <p:sp>
        <p:nvSpPr>
          <p:cNvPr id="78" name="Shape 51"/>
          <p:cNvSpPr/>
          <p:nvPr/>
        </p:nvSpPr>
        <p:spPr>
          <a:xfrm>
            <a:off x="6553505" y="7825435"/>
            <a:ext cx="5181905" cy="942746"/>
          </a:xfrm>
          <a:prstGeom prst="roundRect">
            <a:avLst>
              <a:gd name="adj" fmla="val 156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Shape 52"/>
          <p:cNvSpPr/>
          <p:nvPr/>
        </p:nvSpPr>
        <p:spPr>
          <a:xfrm>
            <a:off x="6715354" y="7987284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0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0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6819595" y="8092440"/>
            <a:ext cx="171907" cy="171907"/>
          </a:xfrm>
          <a:prstGeom prst="rect">
            <a:avLst/>
          </a:prstGeom>
        </p:spPr>
      </p:pic>
      <p:sp>
        <p:nvSpPr>
          <p:cNvPr id="81" name="Text 53"/>
          <p:cNvSpPr txBox="1"/>
          <p:nvPr/>
        </p:nvSpPr>
        <p:spPr>
          <a:xfrm>
            <a:off x="7210044" y="7987284"/>
            <a:ext cx="4553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동기화</a:t>
            </a:r>
            <a:endParaRPr lang="en-US" sz="1200" dirty="0"/>
          </a:p>
        </p:txBody>
      </p:sp>
      <p:sp>
        <p:nvSpPr>
          <p:cNvPr id="82" name="Text 54"/>
          <p:cNvSpPr txBox="1"/>
          <p:nvPr/>
        </p:nvSpPr>
        <p:spPr>
          <a:xfrm>
            <a:off x="7210044" y="8254289"/>
            <a:ext cx="45537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Twin을 통해 물리적 장비와 가상 모델 간 실시간 데이터 동기화</a:t>
            </a:r>
            <a:endParaRPr lang="en-US" sz="900" dirty="0"/>
          </a:p>
        </p:txBody>
      </p:sp>
      <p:sp>
        <p:nvSpPr>
          <p:cNvPr id="83" name="Shape 55"/>
          <p:cNvSpPr/>
          <p:nvPr/>
        </p:nvSpPr>
        <p:spPr>
          <a:xfrm>
            <a:off x="11963095" y="7825435"/>
            <a:ext cx="5181905" cy="942746"/>
          </a:xfrm>
          <a:prstGeom prst="roundRect">
            <a:avLst>
              <a:gd name="adj" fmla="val 156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Shape 56"/>
          <p:cNvSpPr/>
          <p:nvPr/>
        </p:nvSpPr>
        <p:spPr>
          <a:xfrm>
            <a:off x="12124944" y="7987284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0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5" name="Image 26" descr="preencoded.png">    </p:cNvPr>
          <p:cNvPicPr>
            <a:picLocks noChangeAspect="1"/>
          </p:cNvPicPr>
          <p:nvPr/>
        </p:nvPicPr>
        <p:blipFill>
          <a:blip r:embed="rId27"/>
          <a:srcRect l="-1064" r="-1064" t="0" b="0"/>
          <a:stretch/>
        </p:blipFill>
        <p:spPr>
          <a:xfrm>
            <a:off x="12206326" y="8092440"/>
            <a:ext cx="219456" cy="171907"/>
          </a:xfrm>
          <a:prstGeom prst="rect">
            <a:avLst/>
          </a:prstGeom>
        </p:spPr>
      </p:pic>
      <p:sp>
        <p:nvSpPr>
          <p:cNvPr id="86" name="Text 57"/>
          <p:cNvSpPr txBox="1"/>
          <p:nvPr/>
        </p:nvSpPr>
        <p:spPr>
          <a:xfrm>
            <a:off x="12620549" y="7987284"/>
            <a:ext cx="447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자율 운영</a:t>
            </a:r>
            <a:endParaRPr lang="en-US" sz="1200" dirty="0"/>
          </a:p>
        </p:txBody>
      </p:sp>
      <p:sp>
        <p:nvSpPr>
          <p:cNvPr id="87" name="Text 58"/>
          <p:cNvSpPr txBox="1"/>
          <p:nvPr/>
        </p:nvSpPr>
        <p:spPr>
          <a:xfrm>
            <a:off x="12620549" y="8254289"/>
            <a:ext cx="44769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Multi-Agent AI가 이상을 감지하고 자동으로 대응 전략 수행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24712" y="514807"/>
            <a:ext cx="15910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기대 효과 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614477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302130" y="638251"/>
            <a:ext cx="428487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생산성, 비용, 품질, 가시성 4가지 핵심 영역 개선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512003" y="1333195"/>
            <a:ext cx="72676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Multi-Agentic AI + Digital Twin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기반으로 PCB 생산라인의 핵심 성과 지표를 개선합니다. 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476195" y="2152498"/>
            <a:ext cx="6553505" cy="1676095"/>
          </a:xfrm>
          <a:prstGeom prst="roundRect">
            <a:avLst>
              <a:gd name="adj" fmla="val 743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00807" y="2476195"/>
            <a:ext cx="666598" cy="666598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980944" y="2657246"/>
            <a:ext cx="304495" cy="30449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657600" y="2476195"/>
            <a:ext cx="113842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생산성 향상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-133" r="-133" t="0" b="0"/>
          <a:stretch/>
        </p:blipFill>
        <p:spPr>
          <a:xfrm>
            <a:off x="8248802" y="2557577"/>
            <a:ext cx="85954" cy="1143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372246" y="2523744"/>
            <a:ext cx="4096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+25%</a:t>
            </a:r>
            <a:endParaRPr lang="en-US" sz="900" dirty="0"/>
          </a:p>
        </p:txBody>
      </p:sp>
      <p:sp>
        <p:nvSpPr>
          <p:cNvPr id="14" name="Text 8"/>
          <p:cNvSpPr txBox="1"/>
          <p:nvPr/>
        </p:nvSpPr>
        <p:spPr>
          <a:xfrm>
            <a:off x="3657600" y="2829154"/>
            <a:ext cx="5239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다운타임 감소 및 생산 효율 증가로 연간 생산량 대폭 향상</a:t>
            </a:r>
            <a:endParaRPr lang="en-US" sz="1000" dirty="0"/>
          </a:p>
        </p:txBody>
      </p:sp>
      <p:sp>
        <p:nvSpPr>
          <p:cNvPr id="15" name="Text 9"/>
          <p:cNvSpPr txBox="1"/>
          <p:nvPr/>
        </p:nvSpPr>
        <p:spPr>
          <a:xfrm>
            <a:off x="3657600" y="3172054"/>
            <a:ext cx="571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4223614" y="3247949"/>
            <a:ext cx="58978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 효율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4866437" y="3172054"/>
            <a:ext cx="571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15%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5432450" y="3247949"/>
            <a:ext cx="4197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가동률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5927141" y="3172054"/>
            <a:ext cx="571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30%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6493154" y="3247949"/>
            <a:ext cx="4197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생산량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8248802" y="3047695"/>
            <a:ext cx="952805" cy="952805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258300" y="2152498"/>
            <a:ext cx="6553505" cy="1676095"/>
          </a:xfrm>
          <a:prstGeom prst="roundRect">
            <a:avLst>
              <a:gd name="adj" fmla="val 743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581998" y="2476195"/>
            <a:ext cx="666598" cy="666598"/>
          </a:xfrm>
          <a:prstGeom prst="rect">
            <a:avLst/>
          </a:prstGeom>
        </p:spPr>
      </p:pic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30" b="-30"/>
          <a:stretch/>
        </p:blipFill>
        <p:spPr>
          <a:xfrm>
            <a:off x="9820656" y="2657246"/>
            <a:ext cx="190195" cy="30449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0439705" y="2476195"/>
            <a:ext cx="93543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절감</a:t>
            </a:r>
            <a:endParaRPr lang="en-US" sz="15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-133" r="-133" t="0" b="0"/>
          <a:stretch/>
        </p:blipFill>
        <p:spPr>
          <a:xfrm>
            <a:off x="15057425" y="2557577"/>
            <a:ext cx="85954" cy="1143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5180869" y="2523744"/>
            <a:ext cx="3913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-20%</a:t>
            </a:r>
            <a:endParaRPr lang="en-US" sz="900" dirty="0"/>
          </a:p>
        </p:txBody>
      </p:sp>
      <p:sp>
        <p:nvSpPr>
          <p:cNvPr id="28" name="Text 19"/>
          <p:cNvSpPr txBox="1"/>
          <p:nvPr/>
        </p:nvSpPr>
        <p:spPr>
          <a:xfrm>
            <a:off x="10439705" y="2829154"/>
            <a:ext cx="5239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유지보수 비용 감소 및 인력 의존도 감소로 운영비 절감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10439705" y="3172054"/>
            <a:ext cx="571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20%</a:t>
            </a:r>
            <a:endParaRPr lang="en-US" sz="1800" dirty="0"/>
          </a:p>
        </p:txBody>
      </p:sp>
      <p:sp>
        <p:nvSpPr>
          <p:cNvPr id="30" name="Text 21"/>
          <p:cNvSpPr txBox="1"/>
          <p:nvPr/>
        </p:nvSpPr>
        <p:spPr>
          <a:xfrm>
            <a:off x="11005718" y="3247949"/>
            <a:ext cx="6483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유지보수비</a:t>
            </a:r>
            <a:endParaRPr lang="en-US" sz="900" dirty="0"/>
          </a:p>
        </p:txBody>
      </p:sp>
      <p:sp>
        <p:nvSpPr>
          <p:cNvPr id="31" name="Text 22"/>
          <p:cNvSpPr txBox="1"/>
          <p:nvPr/>
        </p:nvSpPr>
        <p:spPr>
          <a:xfrm>
            <a:off x="11728094" y="3172054"/>
            <a:ext cx="571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30%</a:t>
            </a:r>
            <a:endParaRPr lang="en-US" sz="1800" dirty="0"/>
          </a:p>
        </p:txBody>
      </p:sp>
      <p:sp>
        <p:nvSpPr>
          <p:cNvPr id="32" name="Text 23"/>
          <p:cNvSpPr txBox="1"/>
          <p:nvPr/>
        </p:nvSpPr>
        <p:spPr>
          <a:xfrm>
            <a:off x="12294108" y="3247949"/>
            <a:ext cx="4197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인력비</a:t>
            </a:r>
            <a:endParaRPr lang="en-US" sz="900" dirty="0"/>
          </a:p>
        </p:txBody>
      </p:sp>
      <p:sp>
        <p:nvSpPr>
          <p:cNvPr id="33" name="Text 24"/>
          <p:cNvSpPr txBox="1"/>
          <p:nvPr/>
        </p:nvSpPr>
        <p:spPr>
          <a:xfrm>
            <a:off x="12787884" y="3172054"/>
            <a:ext cx="571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15%</a:t>
            </a:r>
            <a:endParaRPr lang="en-US" sz="1800" dirty="0"/>
          </a:p>
        </p:txBody>
      </p:sp>
      <p:sp>
        <p:nvSpPr>
          <p:cNvPr id="34" name="Text 25"/>
          <p:cNvSpPr txBox="1"/>
          <p:nvPr/>
        </p:nvSpPr>
        <p:spPr>
          <a:xfrm>
            <a:off x="13353898" y="3247949"/>
            <a:ext cx="71780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운영비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15030907" y="3047695"/>
            <a:ext cx="952805" cy="952805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2476195" y="4058107"/>
            <a:ext cx="6553505" cy="1676095"/>
          </a:xfrm>
          <a:prstGeom prst="roundRect">
            <a:avLst>
              <a:gd name="adj" fmla="val 743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800807" y="4381805"/>
            <a:ext cx="666598" cy="666598"/>
          </a:xfrm>
          <a:prstGeom prst="rect">
            <a:avLst/>
          </a:prstGeom>
        </p:spPr>
      </p:pic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980944" y="4562856"/>
            <a:ext cx="304495" cy="304495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3657600" y="4381805"/>
            <a:ext cx="93543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향상</a:t>
            </a:r>
            <a:endParaRPr lang="en-US" sz="15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rcRect l="-133" r="-133" t="0" b="0"/>
          <a:stretch/>
        </p:blipFill>
        <p:spPr>
          <a:xfrm>
            <a:off x="8248802" y="4462272"/>
            <a:ext cx="85954" cy="11430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8372246" y="4429354"/>
            <a:ext cx="4096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+35%</a:t>
            </a:r>
            <a:endParaRPr lang="en-US" sz="900" dirty="0"/>
          </a:p>
        </p:txBody>
      </p:sp>
      <p:sp>
        <p:nvSpPr>
          <p:cNvPr id="42" name="Text 30"/>
          <p:cNvSpPr txBox="1"/>
          <p:nvPr/>
        </p:nvSpPr>
        <p:spPr>
          <a:xfrm>
            <a:off x="3657600" y="4733849"/>
            <a:ext cx="5239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불량률 감소 및 안정적인 생산으로 제품 품질 개선</a:t>
            </a:r>
            <a:endParaRPr lang="en-US" sz="1000" dirty="0"/>
          </a:p>
        </p:txBody>
      </p:sp>
      <p:sp>
        <p:nvSpPr>
          <p:cNvPr id="43" name="Text 31"/>
          <p:cNvSpPr txBox="1"/>
          <p:nvPr/>
        </p:nvSpPr>
        <p:spPr>
          <a:xfrm>
            <a:off x="3657600" y="5076749"/>
            <a:ext cx="571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35%</a:t>
            </a:r>
            <a:endParaRPr lang="en-US" sz="1800" dirty="0"/>
          </a:p>
        </p:txBody>
      </p:sp>
      <p:sp>
        <p:nvSpPr>
          <p:cNvPr id="44" name="Text 32"/>
          <p:cNvSpPr txBox="1"/>
          <p:nvPr/>
        </p:nvSpPr>
        <p:spPr>
          <a:xfrm>
            <a:off x="4223614" y="5152644"/>
            <a:ext cx="71780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불량률 감소</a:t>
            </a:r>
            <a:endParaRPr lang="en-US" sz="900" dirty="0"/>
          </a:p>
        </p:txBody>
      </p:sp>
      <p:sp>
        <p:nvSpPr>
          <p:cNvPr id="45" name="Text 33"/>
          <p:cNvSpPr txBox="1"/>
          <p:nvPr/>
        </p:nvSpPr>
        <p:spPr>
          <a:xfrm>
            <a:off x="4980737" y="5076749"/>
            <a:ext cx="571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40%</a:t>
            </a:r>
            <a:endParaRPr lang="en-US" sz="1800" dirty="0"/>
          </a:p>
        </p:txBody>
      </p:sp>
      <p:sp>
        <p:nvSpPr>
          <p:cNvPr id="46" name="Text 34"/>
          <p:cNvSpPr txBox="1"/>
          <p:nvPr/>
        </p:nvSpPr>
        <p:spPr>
          <a:xfrm>
            <a:off x="5546750" y="5152644"/>
            <a:ext cx="58978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개선</a:t>
            </a:r>
            <a:endParaRPr lang="en-US" sz="900" dirty="0"/>
          </a:p>
        </p:txBody>
      </p:sp>
      <p:sp>
        <p:nvSpPr>
          <p:cNvPr id="47" name="Text 35"/>
          <p:cNvSpPr txBox="1"/>
          <p:nvPr/>
        </p:nvSpPr>
        <p:spPr>
          <a:xfrm>
            <a:off x="6189574" y="5076749"/>
            <a:ext cx="571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</a:t>
            </a:r>
            <a:endParaRPr lang="en-US" sz="1800" dirty="0"/>
          </a:p>
        </p:txBody>
      </p:sp>
      <p:sp>
        <p:nvSpPr>
          <p:cNvPr id="48" name="Text 36"/>
          <p:cNvSpPr txBox="1"/>
          <p:nvPr/>
        </p:nvSpPr>
        <p:spPr>
          <a:xfrm>
            <a:off x="6755587" y="5152644"/>
            <a:ext cx="71780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만족도</a:t>
            </a:r>
            <a:endParaRPr lang="en-US" sz="900" dirty="0"/>
          </a:p>
        </p:txBody>
      </p:sp>
      <p:sp>
        <p:nvSpPr>
          <p:cNvPr id="49" name="Shape 37"/>
          <p:cNvSpPr/>
          <p:nvPr/>
        </p:nvSpPr>
        <p:spPr>
          <a:xfrm>
            <a:off x="8248802" y="4953305"/>
            <a:ext cx="952805" cy="952805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38"/>
          <p:cNvSpPr/>
          <p:nvPr/>
        </p:nvSpPr>
        <p:spPr>
          <a:xfrm>
            <a:off x="9258300" y="4058107"/>
            <a:ext cx="6553505" cy="1676095"/>
          </a:xfrm>
          <a:prstGeom prst="roundRect">
            <a:avLst>
              <a:gd name="adj" fmla="val 743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581998" y="4381805"/>
            <a:ext cx="666598" cy="666598"/>
          </a:xfrm>
          <a:prstGeom prst="rect">
            <a:avLst/>
          </a:prstGeom>
        </p:spPr>
      </p:pic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rcRect l="-50" r="-50" t="0" b="0"/>
          <a:stretch/>
        </p:blipFill>
        <p:spPr>
          <a:xfrm>
            <a:off x="9743846" y="4562856"/>
            <a:ext cx="342900" cy="304495"/>
          </a:xfrm>
          <a:prstGeom prst="rect">
            <a:avLst/>
          </a:prstGeom>
        </p:spPr>
      </p:pic>
      <p:sp>
        <p:nvSpPr>
          <p:cNvPr id="53" name="Text 39"/>
          <p:cNvSpPr txBox="1"/>
          <p:nvPr/>
        </p:nvSpPr>
        <p:spPr>
          <a:xfrm>
            <a:off x="10439705" y="4381805"/>
            <a:ext cx="113842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가시성 향상</a:t>
            </a:r>
            <a:endParaRPr lang="en-US" sz="1500" dirty="0"/>
          </a:p>
        </p:txBody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rcRect l="-133" r="-133" t="0" b="0"/>
          <a:stretch/>
        </p:blipFill>
        <p:spPr>
          <a:xfrm>
            <a:off x="15030907" y="4462272"/>
            <a:ext cx="85954" cy="114300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15154351" y="4429354"/>
            <a:ext cx="4096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+45%</a:t>
            </a:r>
            <a:endParaRPr lang="en-US" sz="900" dirty="0"/>
          </a:p>
        </p:txBody>
      </p:sp>
      <p:sp>
        <p:nvSpPr>
          <p:cNvPr id="56" name="Text 41"/>
          <p:cNvSpPr txBox="1"/>
          <p:nvPr/>
        </p:nvSpPr>
        <p:spPr>
          <a:xfrm>
            <a:off x="10439705" y="4733849"/>
            <a:ext cx="5239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모니터링 및 데이터 시각화로 운영 가시성 확보</a:t>
            </a:r>
            <a:endParaRPr lang="en-US" sz="1000" dirty="0"/>
          </a:p>
        </p:txBody>
      </p:sp>
      <p:sp>
        <p:nvSpPr>
          <p:cNvPr id="57" name="Text 42"/>
          <p:cNvSpPr txBox="1"/>
          <p:nvPr/>
        </p:nvSpPr>
        <p:spPr>
          <a:xfrm>
            <a:off x="10439705" y="5076749"/>
            <a:ext cx="571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45%</a:t>
            </a:r>
            <a:endParaRPr lang="en-US" sz="1800" dirty="0"/>
          </a:p>
        </p:txBody>
      </p:sp>
      <p:sp>
        <p:nvSpPr>
          <p:cNvPr id="58" name="Text 43"/>
          <p:cNvSpPr txBox="1"/>
          <p:nvPr/>
        </p:nvSpPr>
        <p:spPr>
          <a:xfrm>
            <a:off x="11005718" y="5152644"/>
            <a:ext cx="9738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모니터링 정확도</a:t>
            </a:r>
            <a:endParaRPr lang="en-US" sz="900" dirty="0"/>
          </a:p>
        </p:txBody>
      </p:sp>
      <p:sp>
        <p:nvSpPr>
          <p:cNvPr id="59" name="Text 44"/>
          <p:cNvSpPr txBox="1"/>
          <p:nvPr/>
        </p:nvSpPr>
        <p:spPr>
          <a:xfrm>
            <a:off x="11990527" y="5076749"/>
            <a:ext cx="571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50%</a:t>
            </a:r>
            <a:endParaRPr lang="en-US" sz="1800" dirty="0"/>
          </a:p>
        </p:txBody>
      </p:sp>
      <p:sp>
        <p:nvSpPr>
          <p:cNvPr id="60" name="Text 45"/>
          <p:cNvSpPr txBox="1"/>
          <p:nvPr/>
        </p:nvSpPr>
        <p:spPr>
          <a:xfrm>
            <a:off x="12556541" y="5152644"/>
            <a:ext cx="8458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활용률</a:t>
            </a:r>
            <a:endParaRPr lang="en-US" sz="900" dirty="0"/>
          </a:p>
        </p:txBody>
      </p:sp>
      <p:sp>
        <p:nvSpPr>
          <p:cNvPr id="61" name="Text 46"/>
          <p:cNvSpPr txBox="1"/>
          <p:nvPr/>
        </p:nvSpPr>
        <p:spPr>
          <a:xfrm>
            <a:off x="13427050" y="5076749"/>
            <a:ext cx="571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60%</a:t>
            </a:r>
            <a:endParaRPr lang="en-US" sz="1800" dirty="0"/>
          </a:p>
        </p:txBody>
      </p:sp>
      <p:sp>
        <p:nvSpPr>
          <p:cNvPr id="62" name="Text 47"/>
          <p:cNvSpPr txBox="1"/>
          <p:nvPr/>
        </p:nvSpPr>
        <p:spPr>
          <a:xfrm>
            <a:off x="13993063" y="5152644"/>
            <a:ext cx="8458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속도</a:t>
            </a:r>
            <a:endParaRPr lang="en-US" sz="900" dirty="0"/>
          </a:p>
        </p:txBody>
      </p:sp>
      <p:sp>
        <p:nvSpPr>
          <p:cNvPr id="63" name="Shape 48"/>
          <p:cNvSpPr/>
          <p:nvPr/>
        </p:nvSpPr>
        <p:spPr>
          <a:xfrm>
            <a:off x="15030907" y="4953305"/>
            <a:ext cx="952805" cy="952805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49"/>
          <p:cNvSpPr/>
          <p:nvPr/>
        </p:nvSpPr>
        <p:spPr>
          <a:xfrm>
            <a:off x="6389827" y="6115507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0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5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6494983" y="6219749"/>
            <a:ext cx="171907" cy="171907"/>
          </a:xfrm>
          <a:prstGeom prst="rect">
            <a:avLst/>
          </a:prstGeom>
        </p:spPr>
      </p:pic>
      <p:sp>
        <p:nvSpPr>
          <p:cNvPr id="66" name="Text 50"/>
          <p:cNvSpPr txBox="1"/>
          <p:nvPr/>
        </p:nvSpPr>
        <p:spPr>
          <a:xfrm>
            <a:off x="6885432" y="6115507"/>
            <a:ext cx="15334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전반적인 개선</a:t>
            </a:r>
            <a:endParaRPr lang="en-US" sz="1000" dirty="0"/>
          </a:p>
        </p:txBody>
      </p:sp>
      <p:sp>
        <p:nvSpPr>
          <p:cNvPr id="67" name="Text 51"/>
          <p:cNvSpPr txBox="1"/>
          <p:nvPr/>
        </p:nvSpPr>
        <p:spPr>
          <a:xfrm>
            <a:off x="6885432" y="6305702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4가지 핵심 영역에서 개선</a:t>
            </a:r>
            <a:endParaRPr lang="en-US" sz="1000" dirty="0"/>
          </a:p>
        </p:txBody>
      </p:sp>
      <p:sp>
        <p:nvSpPr>
          <p:cNvPr id="68" name="Shape 52"/>
          <p:cNvSpPr/>
          <p:nvPr/>
        </p:nvSpPr>
        <p:spPr>
          <a:xfrm>
            <a:off x="8679485" y="6115507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0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9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783726" y="6219749"/>
            <a:ext cx="171907" cy="171907"/>
          </a:xfrm>
          <a:prstGeom prst="rect">
            <a:avLst/>
          </a:prstGeom>
        </p:spPr>
      </p:pic>
      <p:sp>
        <p:nvSpPr>
          <p:cNvPr id="70" name="Text 53"/>
          <p:cNvSpPr txBox="1"/>
          <p:nvPr/>
        </p:nvSpPr>
        <p:spPr>
          <a:xfrm>
            <a:off x="9174175" y="6115507"/>
            <a:ext cx="1124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ROI 기대</a:t>
            </a:r>
            <a:endParaRPr lang="en-US" sz="1000" dirty="0"/>
          </a:p>
        </p:txBody>
      </p:sp>
      <p:sp>
        <p:nvSpPr>
          <p:cNvPr id="71" name="Text 54"/>
          <p:cNvSpPr txBox="1"/>
          <p:nvPr/>
        </p:nvSpPr>
        <p:spPr>
          <a:xfrm>
            <a:off x="9174175" y="6305702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6개월 내 투자 회수</a:t>
            </a:r>
            <a:endParaRPr lang="en-US" sz="1000" dirty="0"/>
          </a:p>
        </p:txBody>
      </p:sp>
      <p:sp>
        <p:nvSpPr>
          <p:cNvPr id="72" name="Shape 55"/>
          <p:cNvSpPr/>
          <p:nvPr/>
        </p:nvSpPr>
        <p:spPr>
          <a:xfrm>
            <a:off x="10600639" y="6115507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0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3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10704881" y="6219749"/>
            <a:ext cx="171907" cy="171907"/>
          </a:xfrm>
          <a:prstGeom prst="rect">
            <a:avLst/>
          </a:prstGeom>
        </p:spPr>
      </p:pic>
      <p:sp>
        <p:nvSpPr>
          <p:cNvPr id="74" name="Text 56"/>
          <p:cNvSpPr txBox="1"/>
          <p:nvPr/>
        </p:nvSpPr>
        <p:spPr>
          <a:xfrm>
            <a:off x="11095330" y="6115507"/>
            <a:ext cx="886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분석</a:t>
            </a:r>
            <a:endParaRPr lang="en-US" sz="1000" dirty="0"/>
          </a:p>
        </p:txBody>
      </p:sp>
      <p:sp>
        <p:nvSpPr>
          <p:cNvPr id="75" name="Text 57"/>
          <p:cNvSpPr txBox="1"/>
          <p:nvPr/>
        </p:nvSpPr>
        <p:spPr>
          <a:xfrm>
            <a:off x="11095330" y="6305702"/>
            <a:ext cx="94457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24/7 모니터링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10666" y="514807"/>
            <a:ext cx="1143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차별성 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27" r="-27" t="0" b="0"/>
          <a:stretch/>
        </p:blipFill>
        <p:spPr>
          <a:xfrm>
            <a:off x="571500" y="614477"/>
            <a:ext cx="428854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794992" y="638251"/>
            <a:ext cx="350306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시스템과 제안 시스템의 핵심 차별점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282489" y="1333195"/>
            <a:ext cx="77248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Multi-Agentic AI + Digital Twin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기반으로 기존 시스템의 한계를 극복한 지능형 모니터링 플랫폼 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524305" y="2057400"/>
            <a:ext cx="15240305" cy="4276649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-29" r="-29" t="0" b="0"/>
          <a:stretch/>
        </p:blipFill>
        <p:spPr>
          <a:xfrm>
            <a:off x="1543507" y="2076602"/>
            <a:ext cx="15201900" cy="5330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72107" y="2229307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3676802" y="2229307"/>
            <a:ext cx="6611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시스템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0096805" y="2229307"/>
            <a:ext cx="6611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 시스템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543507" y="2609698"/>
            <a:ext cx="15201900" cy="61904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0"/>
          <p:cNvSpPr/>
          <p:nvPr/>
        </p:nvSpPr>
        <p:spPr>
          <a:xfrm>
            <a:off x="1543507" y="3219602"/>
            <a:ext cx="152019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772107" y="2762402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-837" r="-837" t="0" b="0"/>
          <a:stretch/>
        </p:blipFill>
        <p:spPr>
          <a:xfrm>
            <a:off x="1848002" y="2848356"/>
            <a:ext cx="152705" cy="1335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152498" y="2800807"/>
            <a:ext cx="650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모니터링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00" b="-100"/>
          <a:stretch/>
        </p:blipFill>
        <p:spPr>
          <a:xfrm>
            <a:off x="3676802" y="2838298"/>
            <a:ext cx="114300" cy="1527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866998" y="2800807"/>
            <a:ext cx="2209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 모니터링 (사람이 확인)</a:t>
            </a:r>
            <a:endParaRPr lang="en-US" sz="1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10096805" y="2838298"/>
            <a:ext cx="133502" cy="15270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306202" y="2795321"/>
            <a:ext cx="22219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모니터링 (AI 24/7 감시)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12245645" y="2795321"/>
            <a:ext cx="552298" cy="237744"/>
          </a:xfrm>
          <a:prstGeom prst="roundRect">
            <a:avLst>
              <a:gd name="adj" fmla="val 12307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12245645" y="2795321"/>
            <a:ext cx="6099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1543507" y="3838651"/>
            <a:ext cx="152019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772107" y="3381451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857146" y="3467405"/>
            <a:ext cx="133502" cy="1335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2152498" y="3419856"/>
            <a:ext cx="362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endParaRPr lang="en-US" sz="12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00" b="-100"/>
          <a:stretch/>
        </p:blipFill>
        <p:spPr>
          <a:xfrm>
            <a:off x="3676802" y="3457346"/>
            <a:ext cx="114300" cy="15270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3866998" y="3419856"/>
            <a:ext cx="1610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AI 분석 (제한적)</a:t>
            </a:r>
            <a:endParaRPr lang="en-US" sz="12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10096805" y="3457346"/>
            <a:ext cx="133502" cy="1527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0306202" y="3414370"/>
            <a:ext cx="178033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Multi-Agent 협업 분석</a:t>
            </a:r>
            <a:endParaRPr lang="en-US" sz="1200" dirty="0"/>
          </a:p>
        </p:txBody>
      </p:sp>
      <p:sp>
        <p:nvSpPr>
          <p:cNvPr id="32" name="Shape 22"/>
          <p:cNvSpPr/>
          <p:nvPr/>
        </p:nvSpPr>
        <p:spPr>
          <a:xfrm>
            <a:off x="11875313" y="3414370"/>
            <a:ext cx="552298" cy="237744"/>
          </a:xfrm>
          <a:prstGeom prst="roundRect">
            <a:avLst>
              <a:gd name="adj" fmla="val 12307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3"/>
          <p:cNvSpPr txBox="1"/>
          <p:nvPr/>
        </p:nvSpPr>
        <p:spPr>
          <a:xfrm>
            <a:off x="11875313" y="3414370"/>
            <a:ext cx="6099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협업형</a:t>
            </a:r>
            <a:endParaRPr lang="en-US" sz="900" dirty="0"/>
          </a:p>
        </p:txBody>
      </p:sp>
      <p:sp>
        <p:nvSpPr>
          <p:cNvPr id="34" name="Shape 24"/>
          <p:cNvSpPr/>
          <p:nvPr/>
        </p:nvSpPr>
        <p:spPr>
          <a:xfrm>
            <a:off x="1543507" y="3847795"/>
            <a:ext cx="15201900" cy="61904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Shape 25"/>
          <p:cNvSpPr/>
          <p:nvPr/>
        </p:nvSpPr>
        <p:spPr>
          <a:xfrm>
            <a:off x="1543507" y="4457700"/>
            <a:ext cx="152019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1772107" y="4000500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100" b="-1100"/>
          <a:stretch/>
        </p:blipFill>
        <p:spPr>
          <a:xfrm>
            <a:off x="1867205" y="4086454"/>
            <a:ext cx="114300" cy="133502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2152498" y="4038905"/>
            <a:ext cx="362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</a:t>
            </a:r>
            <a:endParaRPr lang="en-US" sz="12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00" b="-100"/>
          <a:stretch/>
        </p:blipFill>
        <p:spPr>
          <a:xfrm>
            <a:off x="3676802" y="4076395"/>
            <a:ext cx="114300" cy="152705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3866998" y="4038905"/>
            <a:ext cx="18937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사람이 수행 (시간 지연)</a:t>
            </a:r>
            <a:endParaRPr lang="en-US" sz="12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3" b="-43"/>
          <a:stretch/>
        </p:blipFill>
        <p:spPr>
          <a:xfrm>
            <a:off x="10096805" y="4076395"/>
            <a:ext cx="133502" cy="152705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10306202" y="4033418"/>
            <a:ext cx="183703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 대응 (즉시 실행)</a:t>
            </a:r>
            <a:endParaRPr lang="en-US" sz="1200" dirty="0"/>
          </a:p>
        </p:txBody>
      </p:sp>
      <p:sp>
        <p:nvSpPr>
          <p:cNvPr id="43" name="Shape 30"/>
          <p:cNvSpPr/>
          <p:nvPr/>
        </p:nvSpPr>
        <p:spPr>
          <a:xfrm>
            <a:off x="11924690" y="4033418"/>
            <a:ext cx="552298" cy="237744"/>
          </a:xfrm>
          <a:prstGeom prst="roundRect">
            <a:avLst>
              <a:gd name="adj" fmla="val 12307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1"/>
          <p:cNvSpPr txBox="1"/>
          <p:nvPr/>
        </p:nvSpPr>
        <p:spPr>
          <a:xfrm>
            <a:off x="11924690" y="4033418"/>
            <a:ext cx="6099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자율화</a:t>
            </a:r>
            <a:endParaRPr lang="en-US" sz="900" dirty="0"/>
          </a:p>
        </p:txBody>
      </p:sp>
      <p:sp>
        <p:nvSpPr>
          <p:cNvPr id="45" name="Shape 32"/>
          <p:cNvSpPr/>
          <p:nvPr/>
        </p:nvSpPr>
        <p:spPr>
          <a:xfrm>
            <a:off x="1543507" y="5076749"/>
            <a:ext cx="152019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6" name="Shape 33"/>
          <p:cNvSpPr/>
          <p:nvPr/>
        </p:nvSpPr>
        <p:spPr>
          <a:xfrm>
            <a:off x="1772107" y="4619549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rcRect l="-837" r="-837" t="0" b="0"/>
          <a:stretch/>
        </p:blipFill>
        <p:spPr>
          <a:xfrm>
            <a:off x="1848002" y="4705502"/>
            <a:ext cx="152705" cy="133502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2152498" y="4657954"/>
            <a:ext cx="362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</a:t>
            </a:r>
            <a:endParaRPr lang="en-US" sz="1200" dirty="0"/>
          </a:p>
        </p:txBody>
      </p:sp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100" b="-100"/>
          <a:stretch/>
        </p:blipFill>
        <p:spPr>
          <a:xfrm>
            <a:off x="3676802" y="4695444"/>
            <a:ext cx="114300" cy="152705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3866998" y="465795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구조 (기능 제한)</a:t>
            </a:r>
            <a:endParaRPr lang="en-US" sz="1200" dirty="0"/>
          </a:p>
        </p:txBody>
      </p:sp>
      <p:pic>
        <p:nvPicPr>
          <p:cNvPr id="51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43" b="-43"/>
          <a:stretch/>
        </p:blipFill>
        <p:spPr>
          <a:xfrm>
            <a:off x="10096805" y="4695444"/>
            <a:ext cx="133502" cy="152705"/>
          </a:xfrm>
          <a:prstGeom prst="rect">
            <a:avLst/>
          </a:prstGeom>
        </p:spPr>
      </p:pic>
      <p:sp>
        <p:nvSpPr>
          <p:cNvPr id="52" name="Text 36"/>
          <p:cNvSpPr txBox="1"/>
          <p:nvPr/>
        </p:nvSpPr>
        <p:spPr>
          <a:xfrm>
            <a:off x="10306202" y="4653382"/>
            <a:ext cx="224485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Twin + Multi-Agent</a:t>
            </a:r>
            <a:endParaRPr lang="en-US" sz="1200" dirty="0"/>
          </a:p>
        </p:txBody>
      </p:sp>
      <p:sp>
        <p:nvSpPr>
          <p:cNvPr id="53" name="Shape 37"/>
          <p:cNvSpPr/>
          <p:nvPr/>
        </p:nvSpPr>
        <p:spPr>
          <a:xfrm>
            <a:off x="12267590" y="4653382"/>
            <a:ext cx="552298" cy="237744"/>
          </a:xfrm>
          <a:prstGeom prst="roundRect">
            <a:avLst>
              <a:gd name="adj" fmla="val 12307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38"/>
          <p:cNvSpPr txBox="1"/>
          <p:nvPr/>
        </p:nvSpPr>
        <p:spPr>
          <a:xfrm>
            <a:off x="12267590" y="4653382"/>
            <a:ext cx="6099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</a:t>
            </a:r>
            <a:endParaRPr lang="en-US" sz="900" dirty="0"/>
          </a:p>
        </p:txBody>
      </p:sp>
      <p:sp>
        <p:nvSpPr>
          <p:cNvPr id="55" name="Shape 39"/>
          <p:cNvSpPr/>
          <p:nvPr/>
        </p:nvSpPr>
        <p:spPr>
          <a:xfrm>
            <a:off x="1543507" y="5086807"/>
            <a:ext cx="15201900" cy="61904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6" name="Shape 40"/>
          <p:cNvSpPr/>
          <p:nvPr/>
        </p:nvSpPr>
        <p:spPr>
          <a:xfrm>
            <a:off x="1543507" y="5696712"/>
            <a:ext cx="152019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7" name="Shape 41"/>
          <p:cNvSpPr/>
          <p:nvPr/>
        </p:nvSpPr>
        <p:spPr>
          <a:xfrm>
            <a:off x="1772107" y="5238598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8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857146" y="5324551"/>
            <a:ext cx="133502" cy="133502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2152498" y="5277002"/>
            <a:ext cx="362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</a:t>
            </a:r>
            <a:endParaRPr lang="en-US" sz="1200" dirty="0"/>
          </a:p>
        </p:txBody>
      </p:sp>
      <p:pic>
        <p:nvPicPr>
          <p:cNvPr id="60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100" b="-100"/>
          <a:stretch/>
        </p:blipFill>
        <p:spPr>
          <a:xfrm>
            <a:off x="3676802" y="5315407"/>
            <a:ext cx="114300" cy="152705"/>
          </a:xfrm>
          <a:prstGeom prst="rect">
            <a:avLst/>
          </a:prstGeom>
        </p:spPr>
      </p:pic>
      <p:sp>
        <p:nvSpPr>
          <p:cNvPr id="61" name="Text 43"/>
          <p:cNvSpPr txBox="1"/>
          <p:nvPr/>
        </p:nvSpPr>
        <p:spPr>
          <a:xfrm>
            <a:off x="3866998" y="5277002"/>
            <a:ext cx="1988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 분석 (문제 발생 후)</a:t>
            </a:r>
            <a:endParaRPr lang="en-US" sz="1200" dirty="0"/>
          </a:p>
        </p:txBody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43" b="-43"/>
          <a:stretch/>
        </p:blipFill>
        <p:spPr>
          <a:xfrm>
            <a:off x="10096805" y="5315407"/>
            <a:ext cx="133502" cy="152705"/>
          </a:xfrm>
          <a:prstGeom prst="rect">
            <a:avLst/>
          </a:prstGeom>
        </p:spPr>
      </p:pic>
      <p:sp>
        <p:nvSpPr>
          <p:cNvPr id="63" name="Text 44"/>
          <p:cNvSpPr txBox="1"/>
          <p:nvPr/>
        </p:nvSpPr>
        <p:spPr>
          <a:xfrm>
            <a:off x="10306202" y="5272430"/>
            <a:ext cx="173736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예측 (장애 예방)</a:t>
            </a:r>
            <a:endParaRPr lang="en-US" sz="1200" dirty="0"/>
          </a:p>
        </p:txBody>
      </p:sp>
      <p:sp>
        <p:nvSpPr>
          <p:cNvPr id="64" name="Shape 45"/>
          <p:cNvSpPr/>
          <p:nvPr/>
        </p:nvSpPr>
        <p:spPr>
          <a:xfrm>
            <a:off x="11740896" y="5272430"/>
            <a:ext cx="552298" cy="237744"/>
          </a:xfrm>
          <a:prstGeom prst="roundRect">
            <a:avLst>
              <a:gd name="adj" fmla="val 12307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46"/>
          <p:cNvSpPr txBox="1"/>
          <p:nvPr/>
        </p:nvSpPr>
        <p:spPr>
          <a:xfrm>
            <a:off x="11740896" y="5272430"/>
            <a:ext cx="6099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예측형</a:t>
            </a:r>
            <a:endParaRPr lang="en-US" sz="900" dirty="0"/>
          </a:p>
        </p:txBody>
      </p:sp>
      <p:sp>
        <p:nvSpPr>
          <p:cNvPr id="66" name="Shape 47"/>
          <p:cNvSpPr/>
          <p:nvPr/>
        </p:nvSpPr>
        <p:spPr>
          <a:xfrm>
            <a:off x="1772107" y="5857646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7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1857146" y="5943600"/>
            <a:ext cx="133502" cy="133502"/>
          </a:xfrm>
          <a:prstGeom prst="rect">
            <a:avLst/>
          </a:prstGeom>
        </p:spPr>
      </p:pic>
      <p:sp>
        <p:nvSpPr>
          <p:cNvPr id="68" name="Text 48"/>
          <p:cNvSpPr txBox="1"/>
          <p:nvPr/>
        </p:nvSpPr>
        <p:spPr>
          <a:xfrm>
            <a:off x="2152498" y="5896051"/>
            <a:ext cx="362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연동</a:t>
            </a:r>
            <a:endParaRPr lang="en-US" sz="1200" dirty="0"/>
          </a:p>
        </p:txBody>
      </p:sp>
      <p:pic>
        <p:nvPicPr>
          <p:cNvPr id="69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-100" b="-100"/>
          <a:stretch/>
        </p:blipFill>
        <p:spPr>
          <a:xfrm>
            <a:off x="3676802" y="5934456"/>
            <a:ext cx="114300" cy="152705"/>
          </a:xfrm>
          <a:prstGeom prst="rect">
            <a:avLst/>
          </a:prstGeom>
        </p:spPr>
      </p:pic>
      <p:sp>
        <p:nvSpPr>
          <p:cNvPr id="70" name="Text 49"/>
          <p:cNvSpPr txBox="1"/>
          <p:nvPr/>
        </p:nvSpPr>
        <p:spPr>
          <a:xfrm>
            <a:off x="3866998" y="5896051"/>
            <a:ext cx="154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간 연동 제한</a:t>
            </a:r>
            <a:endParaRPr lang="en-US" sz="1200" dirty="0"/>
          </a:p>
        </p:txBody>
      </p:sp>
      <p:pic>
        <p:nvPicPr>
          <p:cNvPr id="71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-43" b="-43"/>
          <a:stretch/>
        </p:blipFill>
        <p:spPr>
          <a:xfrm>
            <a:off x="10096805" y="5934456"/>
            <a:ext cx="133502" cy="152705"/>
          </a:xfrm>
          <a:prstGeom prst="rect">
            <a:avLst/>
          </a:prstGeom>
        </p:spPr>
      </p:pic>
      <p:sp>
        <p:nvSpPr>
          <p:cNvPr id="72" name="Text 50"/>
          <p:cNvSpPr txBox="1"/>
          <p:nvPr/>
        </p:nvSpPr>
        <p:spPr>
          <a:xfrm>
            <a:off x="10306202" y="5891479"/>
            <a:ext cx="14785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MCP 기반 표준 연동</a:t>
            </a:r>
            <a:endParaRPr lang="en-US" sz="1200" dirty="0"/>
          </a:p>
        </p:txBody>
      </p:sp>
      <p:sp>
        <p:nvSpPr>
          <p:cNvPr id="73" name="Shape 51"/>
          <p:cNvSpPr/>
          <p:nvPr/>
        </p:nvSpPr>
        <p:spPr>
          <a:xfrm>
            <a:off x="11675059" y="5891479"/>
            <a:ext cx="552298" cy="237744"/>
          </a:xfrm>
          <a:prstGeom prst="roundRect">
            <a:avLst>
              <a:gd name="adj" fmla="val 12307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52"/>
          <p:cNvSpPr txBox="1"/>
          <p:nvPr/>
        </p:nvSpPr>
        <p:spPr>
          <a:xfrm>
            <a:off x="11675059" y="5891479"/>
            <a:ext cx="6099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통합형</a:t>
            </a:r>
            <a:endParaRPr lang="en-US" sz="900" dirty="0"/>
          </a:p>
        </p:txBody>
      </p:sp>
      <p:sp>
        <p:nvSpPr>
          <p:cNvPr id="75" name="Shape 53"/>
          <p:cNvSpPr/>
          <p:nvPr/>
        </p:nvSpPr>
        <p:spPr>
          <a:xfrm>
            <a:off x="4914900" y="6620256"/>
            <a:ext cx="2667305" cy="895198"/>
          </a:xfrm>
          <a:prstGeom prst="roundRect">
            <a:avLst>
              <a:gd name="adj" fmla="val 2608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76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5124298" y="6829654"/>
            <a:ext cx="476402" cy="476402"/>
          </a:xfrm>
          <a:prstGeom prst="rect">
            <a:avLst/>
          </a:prstGeom>
        </p:spPr>
      </p:pic>
      <p:pic>
        <p:nvPicPr>
          <p:cNvPr id="77" name="Image 21" descr="preencoded.png">    </p:cNvPr>
          <p:cNvPicPr>
            <a:picLocks noChangeAspect="1"/>
          </p:cNvPicPr>
          <p:nvPr/>
        </p:nvPicPr>
        <p:blipFill>
          <a:blip r:embed="rId22"/>
          <a:srcRect l="-80" r="-80" t="0" b="0"/>
          <a:stretch/>
        </p:blipFill>
        <p:spPr>
          <a:xfrm>
            <a:off x="5219395" y="6953098"/>
            <a:ext cx="286207" cy="228600"/>
          </a:xfrm>
          <a:prstGeom prst="rect">
            <a:avLst/>
          </a:prstGeom>
        </p:spPr>
      </p:pic>
      <p:sp>
        <p:nvSpPr>
          <p:cNvPr id="78" name="Text 54"/>
          <p:cNvSpPr txBox="1"/>
          <p:nvPr/>
        </p:nvSpPr>
        <p:spPr>
          <a:xfrm>
            <a:off x="5753405" y="6843370"/>
            <a:ext cx="1696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자율 운영</a:t>
            </a:r>
            <a:endParaRPr lang="en-US" sz="1200" dirty="0"/>
          </a:p>
        </p:txBody>
      </p:sp>
      <p:sp>
        <p:nvSpPr>
          <p:cNvPr id="79" name="Text 55"/>
          <p:cNvSpPr txBox="1"/>
          <p:nvPr/>
        </p:nvSpPr>
        <p:spPr>
          <a:xfrm>
            <a:off x="5753405" y="7110374"/>
            <a:ext cx="187817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 Agent 협업으로 자율 대응</a:t>
            </a:r>
            <a:endParaRPr lang="en-US" sz="900" dirty="0"/>
          </a:p>
        </p:txBody>
      </p:sp>
      <p:sp>
        <p:nvSpPr>
          <p:cNvPr id="80" name="Shape 56"/>
          <p:cNvSpPr/>
          <p:nvPr/>
        </p:nvSpPr>
        <p:spPr>
          <a:xfrm>
            <a:off x="7810805" y="6620256"/>
            <a:ext cx="2667305" cy="895198"/>
          </a:xfrm>
          <a:prstGeom prst="roundRect">
            <a:avLst>
              <a:gd name="adj" fmla="val 2608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81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8020202" y="6829654"/>
            <a:ext cx="476402" cy="476402"/>
          </a:xfrm>
          <a:prstGeom prst="rect">
            <a:avLst/>
          </a:prstGeom>
        </p:spPr>
      </p:pic>
      <p:pic>
        <p:nvPicPr>
          <p:cNvPr id="82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8143646" y="6953098"/>
            <a:ext cx="228600" cy="228600"/>
          </a:xfrm>
          <a:prstGeom prst="rect">
            <a:avLst/>
          </a:prstGeom>
        </p:spPr>
      </p:pic>
      <p:sp>
        <p:nvSpPr>
          <p:cNvPr id="83" name="Text 57"/>
          <p:cNvSpPr txBox="1"/>
          <p:nvPr/>
        </p:nvSpPr>
        <p:spPr>
          <a:xfrm>
            <a:off x="8648395" y="6843370"/>
            <a:ext cx="17492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최적화</a:t>
            </a:r>
            <a:endParaRPr lang="en-US" sz="1200" dirty="0"/>
          </a:p>
        </p:txBody>
      </p:sp>
      <p:sp>
        <p:nvSpPr>
          <p:cNvPr id="84" name="Text 58"/>
          <p:cNvSpPr txBox="1"/>
          <p:nvPr/>
        </p:nvSpPr>
        <p:spPr>
          <a:xfrm>
            <a:off x="8648395" y="7110374"/>
            <a:ext cx="169987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Twin 기반 최적화</a:t>
            </a:r>
            <a:endParaRPr lang="en-US" sz="900" dirty="0"/>
          </a:p>
        </p:txBody>
      </p:sp>
      <p:sp>
        <p:nvSpPr>
          <p:cNvPr id="85" name="Shape 59"/>
          <p:cNvSpPr/>
          <p:nvPr/>
        </p:nvSpPr>
        <p:spPr>
          <a:xfrm>
            <a:off x="10705795" y="6620256"/>
            <a:ext cx="2667305" cy="895198"/>
          </a:xfrm>
          <a:prstGeom prst="roundRect">
            <a:avLst>
              <a:gd name="adj" fmla="val 2608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86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10916107" y="6829654"/>
            <a:ext cx="476402" cy="476402"/>
          </a:xfrm>
          <a:prstGeom prst="rect">
            <a:avLst/>
          </a:prstGeom>
        </p:spPr>
      </p:pic>
      <p:pic>
        <p:nvPicPr>
          <p:cNvPr id="87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11039551" y="6953098"/>
            <a:ext cx="228600" cy="228600"/>
          </a:xfrm>
          <a:prstGeom prst="rect">
            <a:avLst/>
          </a:prstGeom>
        </p:spPr>
      </p:pic>
      <p:sp>
        <p:nvSpPr>
          <p:cNvPr id="88" name="Text 60"/>
          <p:cNvSpPr txBox="1"/>
          <p:nvPr/>
        </p:nvSpPr>
        <p:spPr>
          <a:xfrm>
            <a:off x="11544300" y="6843370"/>
            <a:ext cx="17492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예방</a:t>
            </a:r>
            <a:endParaRPr lang="en-US" sz="1200" dirty="0"/>
          </a:p>
        </p:txBody>
      </p:sp>
      <p:sp>
        <p:nvSpPr>
          <p:cNvPr id="89" name="Text 61"/>
          <p:cNvSpPr txBox="1"/>
          <p:nvPr/>
        </p:nvSpPr>
        <p:spPr>
          <a:xfrm>
            <a:off x="11544300" y="7110374"/>
            <a:ext cx="17492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예측으로 장애 예방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6307" y="514807"/>
            <a:ext cx="158739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개발 일정 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743" r="-743" t="0" b="0"/>
          <a:stretch/>
        </p:blipFill>
        <p:spPr>
          <a:xfrm>
            <a:off x="571500" y="614477"/>
            <a:ext cx="304495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119958" y="638251"/>
            <a:ext cx="195955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6개월 4단계 개발 계획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81928" y="1333195"/>
            <a:ext cx="5725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체계적인 개발 프로세스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통해 안정적인 시스템 구축을 보장합니다. 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752905" y="1962302"/>
            <a:ext cx="178856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단계 및 일정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4738299" y="1986077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0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4794992" y="2042770"/>
            <a:ext cx="114300" cy="1143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42794" y="2005279"/>
            <a:ext cx="5833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6개월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5751454" y="1986077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0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5808147" y="2042770"/>
            <a:ext cx="114300" cy="1143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055950" y="2005279"/>
            <a:ext cx="5833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4개 단계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1752905" y="2467051"/>
            <a:ext cx="2980944" cy="3095244"/>
          </a:xfrm>
          <a:prstGeom prst="roundRect">
            <a:avLst>
              <a:gd name="adj" fmla="val 2352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928823" y="2714854"/>
            <a:ext cx="6291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2713025" y="3438144"/>
            <a:ext cx="10671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1단계: 설계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3045866" y="3762756"/>
            <a:ext cx="400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1개월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000707" y="4105656"/>
            <a:ext cx="2486254" cy="352044"/>
          </a:xfrm>
          <a:prstGeom prst="roundRect">
            <a:avLst>
              <a:gd name="adj" fmla="val 842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-2571" r="-2571" t="0" b="0"/>
          <a:stretch/>
        </p:blipFill>
        <p:spPr>
          <a:xfrm>
            <a:off x="2124151" y="4224528"/>
            <a:ext cx="105156" cy="1143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276856" y="4105656"/>
            <a:ext cx="115305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 설계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2000707" y="4533595"/>
            <a:ext cx="2486254" cy="352044"/>
          </a:xfrm>
          <a:prstGeom prst="roundRect">
            <a:avLst>
              <a:gd name="adj" fmla="val 842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-2571" r="-2571" t="0" b="0"/>
          <a:stretch/>
        </p:blipFill>
        <p:spPr>
          <a:xfrm>
            <a:off x="2124151" y="4653382"/>
            <a:ext cx="105156" cy="1143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2276856" y="4533595"/>
            <a:ext cx="7818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분석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2000707" y="4962449"/>
            <a:ext cx="2486254" cy="352044"/>
          </a:xfrm>
          <a:prstGeom prst="roundRect">
            <a:avLst>
              <a:gd name="adj" fmla="val 842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-2571" r="-2571" t="0" b="0"/>
          <a:stretch/>
        </p:blipFill>
        <p:spPr>
          <a:xfrm>
            <a:off x="2124151" y="5081321"/>
            <a:ext cx="105156" cy="1143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2276856" y="4962449"/>
            <a:ext cx="8193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 선정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4237330" y="2681021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4314139" y="2638044"/>
            <a:ext cx="295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9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360" b="-360"/>
          <a:stretch/>
        </p:blipFill>
        <p:spPr>
          <a:xfrm>
            <a:off x="5020056" y="2467051"/>
            <a:ext cx="381305" cy="19202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5343754" y="2428646"/>
            <a:ext cx="57607" cy="75895"/>
          </a:xfrm>
          <a:prstGeom prst="rect">
            <a:avLst/>
          </a:prstGeom>
          <a:noFill/>
          <a:ln w="508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5686654" y="2467051"/>
            <a:ext cx="2980944" cy="3095244"/>
          </a:xfrm>
          <a:prstGeom prst="roundRect">
            <a:avLst>
              <a:gd name="adj" fmla="val 2352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6862572" y="2714854"/>
            <a:ext cx="6291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34" name="Text 25"/>
          <p:cNvSpPr txBox="1"/>
          <p:nvPr/>
        </p:nvSpPr>
        <p:spPr>
          <a:xfrm>
            <a:off x="6443777" y="3438144"/>
            <a:ext cx="147492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2단계: MCP 구축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6979615" y="3762756"/>
            <a:ext cx="400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2개월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934456" y="4105656"/>
            <a:ext cx="2486254" cy="352044"/>
          </a:xfrm>
          <a:prstGeom prst="roundRect">
            <a:avLst>
              <a:gd name="adj" fmla="val 842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rcRect l="-2571" r="-2571" t="0" b="0"/>
          <a:stretch/>
        </p:blipFill>
        <p:spPr>
          <a:xfrm>
            <a:off x="6057900" y="4224528"/>
            <a:ext cx="105156" cy="11430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210605" y="4105656"/>
            <a:ext cx="119146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MCP 인터페이스 개발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5934456" y="4533595"/>
            <a:ext cx="2486254" cy="352044"/>
          </a:xfrm>
          <a:prstGeom prst="roundRect">
            <a:avLst>
              <a:gd name="adj" fmla="val 842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rcRect l="-2571" r="-2571" t="0" b="0"/>
          <a:stretch/>
        </p:blipFill>
        <p:spPr>
          <a:xfrm>
            <a:off x="6057900" y="4653382"/>
            <a:ext cx="105156" cy="11430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6210605" y="4533595"/>
            <a:ext cx="9336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연동 테스트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5934456" y="4962449"/>
            <a:ext cx="2486254" cy="352044"/>
          </a:xfrm>
          <a:prstGeom prst="roundRect">
            <a:avLst>
              <a:gd name="adj" fmla="val 842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rcRect l="-2571" r="-2571" t="0" b="0"/>
          <a:stretch/>
        </p:blipFill>
        <p:spPr>
          <a:xfrm>
            <a:off x="6057900" y="5081321"/>
            <a:ext cx="105156" cy="114300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6210605" y="4962449"/>
            <a:ext cx="9336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구현</a:t>
            </a:r>
            <a:endParaRPr lang="en-US" sz="900" dirty="0"/>
          </a:p>
        </p:txBody>
      </p:sp>
      <p:sp>
        <p:nvSpPr>
          <p:cNvPr id="45" name="Shape 33"/>
          <p:cNvSpPr/>
          <p:nvPr/>
        </p:nvSpPr>
        <p:spPr>
          <a:xfrm>
            <a:off x="8066837" y="2681021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4"/>
          <p:cNvSpPr txBox="1"/>
          <p:nvPr/>
        </p:nvSpPr>
        <p:spPr>
          <a:xfrm>
            <a:off x="8142732" y="2638044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진행중</a:t>
            </a:r>
            <a:endParaRPr lang="en-US" sz="900" dirty="0"/>
          </a:p>
        </p:txBody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360" b="-360"/>
          <a:stretch/>
        </p:blipFill>
        <p:spPr>
          <a:xfrm>
            <a:off x="8953805" y="2467051"/>
            <a:ext cx="381305" cy="19202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277502" y="2428646"/>
            <a:ext cx="57607" cy="75895"/>
          </a:xfrm>
          <a:prstGeom prst="rect">
            <a:avLst/>
          </a:prstGeom>
          <a:noFill/>
          <a:ln w="508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9620402" y="2467051"/>
            <a:ext cx="2980944" cy="3095244"/>
          </a:xfrm>
          <a:prstGeom prst="roundRect">
            <a:avLst>
              <a:gd name="adj" fmla="val 2352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50" name="Text 37"/>
          <p:cNvSpPr/>
          <p:nvPr/>
        </p:nvSpPr>
        <p:spPr>
          <a:xfrm>
            <a:off x="10796321" y="2714854"/>
            <a:ext cx="6291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51" name="Text 38"/>
          <p:cNvSpPr txBox="1"/>
          <p:nvPr/>
        </p:nvSpPr>
        <p:spPr>
          <a:xfrm>
            <a:off x="10341864" y="3438144"/>
            <a:ext cx="15435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3단계: 통합/개선</a:t>
            </a:r>
            <a:endParaRPr lang="en-US" sz="1300" dirty="0"/>
          </a:p>
        </p:txBody>
      </p:sp>
      <p:sp>
        <p:nvSpPr>
          <p:cNvPr id="52" name="Text 39"/>
          <p:cNvSpPr txBox="1"/>
          <p:nvPr/>
        </p:nvSpPr>
        <p:spPr>
          <a:xfrm>
            <a:off x="10913364" y="3762756"/>
            <a:ext cx="400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2개월</a:t>
            </a:r>
            <a:endParaRPr lang="en-US" sz="1000" dirty="0"/>
          </a:p>
        </p:txBody>
      </p:sp>
      <p:sp>
        <p:nvSpPr>
          <p:cNvPr id="53" name="Shape 40"/>
          <p:cNvSpPr/>
          <p:nvPr/>
        </p:nvSpPr>
        <p:spPr>
          <a:xfrm>
            <a:off x="9868205" y="4105656"/>
            <a:ext cx="2486254" cy="352044"/>
          </a:xfrm>
          <a:prstGeom prst="roundRect">
            <a:avLst>
              <a:gd name="adj" fmla="val 842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12"/>
          <a:srcRect l="-2571" r="-2571" t="0" b="0"/>
          <a:stretch/>
        </p:blipFill>
        <p:spPr>
          <a:xfrm>
            <a:off x="9991649" y="4224528"/>
            <a:ext cx="105156" cy="114300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10144354" y="4105656"/>
            <a:ext cx="103875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통합 테스트</a:t>
            </a:r>
            <a:endParaRPr lang="en-US" sz="900" dirty="0"/>
          </a:p>
        </p:txBody>
      </p:sp>
      <p:sp>
        <p:nvSpPr>
          <p:cNvPr id="56" name="Shape 42"/>
          <p:cNvSpPr/>
          <p:nvPr/>
        </p:nvSpPr>
        <p:spPr>
          <a:xfrm>
            <a:off x="9868205" y="4533595"/>
            <a:ext cx="2486254" cy="352044"/>
          </a:xfrm>
          <a:prstGeom prst="roundRect">
            <a:avLst>
              <a:gd name="adj" fmla="val 842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7" name="Image 12" descr="preencoded.png">    </p:cNvPr>
          <p:cNvPicPr>
            <a:picLocks noChangeAspect="1"/>
          </p:cNvPicPr>
          <p:nvPr/>
        </p:nvPicPr>
        <p:blipFill>
          <a:blip r:embed="rId13"/>
          <a:srcRect l="-2571" r="-2571" t="0" b="0"/>
          <a:stretch/>
        </p:blipFill>
        <p:spPr>
          <a:xfrm>
            <a:off x="9991649" y="4653382"/>
            <a:ext cx="105156" cy="114300"/>
          </a:xfrm>
          <a:prstGeom prst="rect">
            <a:avLst/>
          </a:prstGeom>
        </p:spPr>
      </p:pic>
      <p:sp>
        <p:nvSpPr>
          <p:cNvPr id="58" name="Text 43"/>
          <p:cNvSpPr txBox="1"/>
          <p:nvPr/>
        </p:nvSpPr>
        <p:spPr>
          <a:xfrm>
            <a:off x="10144354" y="4533595"/>
            <a:ext cx="6675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문제점 개선</a:t>
            </a:r>
            <a:endParaRPr lang="en-US" sz="900" dirty="0"/>
          </a:p>
        </p:txBody>
      </p:sp>
      <p:sp>
        <p:nvSpPr>
          <p:cNvPr id="59" name="Shape 44"/>
          <p:cNvSpPr/>
          <p:nvPr/>
        </p:nvSpPr>
        <p:spPr>
          <a:xfrm>
            <a:off x="9868205" y="4962449"/>
            <a:ext cx="2486254" cy="352044"/>
          </a:xfrm>
          <a:prstGeom prst="roundRect">
            <a:avLst>
              <a:gd name="adj" fmla="val 842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0" name="Image 13" descr="preencoded.png">    </p:cNvPr>
          <p:cNvPicPr>
            <a:picLocks noChangeAspect="1"/>
          </p:cNvPicPr>
          <p:nvPr/>
        </p:nvPicPr>
        <p:blipFill>
          <a:blip r:embed="rId14"/>
          <a:srcRect l="-2571" r="-2571" t="0" b="0"/>
          <a:stretch/>
        </p:blipFill>
        <p:spPr>
          <a:xfrm>
            <a:off x="9991649" y="5081321"/>
            <a:ext cx="105156" cy="114300"/>
          </a:xfrm>
          <a:prstGeom prst="rect">
            <a:avLst/>
          </a:prstGeom>
        </p:spPr>
      </p:pic>
      <p:sp>
        <p:nvSpPr>
          <p:cNvPr id="61" name="Text 45"/>
          <p:cNvSpPr txBox="1"/>
          <p:nvPr/>
        </p:nvSpPr>
        <p:spPr>
          <a:xfrm>
            <a:off x="10144354" y="4962449"/>
            <a:ext cx="6675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최적화</a:t>
            </a:r>
            <a:endParaRPr lang="en-US" sz="900" dirty="0"/>
          </a:p>
        </p:txBody>
      </p:sp>
      <p:sp>
        <p:nvSpPr>
          <p:cNvPr id="62" name="Shape 46"/>
          <p:cNvSpPr/>
          <p:nvPr/>
        </p:nvSpPr>
        <p:spPr>
          <a:xfrm>
            <a:off x="12105742" y="2681021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47"/>
          <p:cNvSpPr txBox="1"/>
          <p:nvPr/>
        </p:nvSpPr>
        <p:spPr>
          <a:xfrm>
            <a:off x="12181637" y="2638044"/>
            <a:ext cx="295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예정</a:t>
            </a:r>
            <a:endParaRPr lang="en-US" sz="900" dirty="0"/>
          </a:p>
        </p:txBody>
      </p:sp>
      <p:pic>
        <p:nvPicPr>
          <p:cNvPr id="64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360" b="-360"/>
          <a:stretch/>
        </p:blipFill>
        <p:spPr>
          <a:xfrm>
            <a:off x="12887554" y="2467051"/>
            <a:ext cx="381305" cy="19202"/>
          </a:xfrm>
          <a:prstGeom prst="rect">
            <a:avLst/>
          </a:prstGeom>
        </p:spPr>
      </p:pic>
      <p:sp>
        <p:nvSpPr>
          <p:cNvPr id="65" name="Shape 48"/>
          <p:cNvSpPr/>
          <p:nvPr/>
        </p:nvSpPr>
        <p:spPr>
          <a:xfrm>
            <a:off x="13211251" y="2428646"/>
            <a:ext cx="57607" cy="75895"/>
          </a:xfrm>
          <a:prstGeom prst="rect">
            <a:avLst/>
          </a:prstGeom>
          <a:noFill/>
          <a:ln w="508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Shape 49"/>
          <p:cNvSpPr/>
          <p:nvPr/>
        </p:nvSpPr>
        <p:spPr>
          <a:xfrm>
            <a:off x="13554151" y="2467051"/>
            <a:ext cx="2980944" cy="3095244"/>
          </a:xfrm>
          <a:prstGeom prst="roundRect">
            <a:avLst>
              <a:gd name="adj" fmla="val 2352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67" name="Text 50"/>
          <p:cNvSpPr/>
          <p:nvPr/>
        </p:nvSpPr>
        <p:spPr>
          <a:xfrm>
            <a:off x="14730070" y="2714854"/>
            <a:ext cx="6291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800" dirty="0"/>
          </a:p>
        </p:txBody>
      </p:sp>
      <p:sp>
        <p:nvSpPr>
          <p:cNvPr id="68" name="Text 51"/>
          <p:cNvSpPr txBox="1"/>
          <p:nvPr/>
        </p:nvSpPr>
        <p:spPr>
          <a:xfrm>
            <a:off x="14275613" y="3438144"/>
            <a:ext cx="15435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4단계: 설치/검증</a:t>
            </a:r>
            <a:endParaRPr lang="en-US" sz="1300" dirty="0"/>
          </a:p>
        </p:txBody>
      </p:sp>
      <p:sp>
        <p:nvSpPr>
          <p:cNvPr id="69" name="Text 52"/>
          <p:cNvSpPr txBox="1"/>
          <p:nvPr/>
        </p:nvSpPr>
        <p:spPr>
          <a:xfrm>
            <a:off x="14847113" y="3762756"/>
            <a:ext cx="400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1개월</a:t>
            </a:r>
            <a:endParaRPr lang="en-US" sz="1000" dirty="0"/>
          </a:p>
        </p:txBody>
      </p:sp>
      <p:sp>
        <p:nvSpPr>
          <p:cNvPr id="70" name="Shape 53"/>
          <p:cNvSpPr/>
          <p:nvPr/>
        </p:nvSpPr>
        <p:spPr>
          <a:xfrm>
            <a:off x="13801954" y="4105656"/>
            <a:ext cx="2486254" cy="352044"/>
          </a:xfrm>
          <a:prstGeom prst="roundRect">
            <a:avLst>
              <a:gd name="adj" fmla="val 842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1" name="Image 15" descr="preencoded.png">    </p:cNvPr>
          <p:cNvPicPr>
            <a:picLocks noChangeAspect="1"/>
          </p:cNvPicPr>
          <p:nvPr/>
        </p:nvPicPr>
        <p:blipFill>
          <a:blip r:embed="rId16"/>
          <a:srcRect l="-2571" r="-2571" t="0" b="0"/>
          <a:stretch/>
        </p:blipFill>
        <p:spPr>
          <a:xfrm>
            <a:off x="13925398" y="4224528"/>
            <a:ext cx="105156" cy="114300"/>
          </a:xfrm>
          <a:prstGeom prst="rect">
            <a:avLst/>
          </a:prstGeom>
        </p:spPr>
      </p:pic>
      <p:sp>
        <p:nvSpPr>
          <p:cNvPr id="72" name="Text 54"/>
          <p:cNvSpPr txBox="1"/>
          <p:nvPr/>
        </p:nvSpPr>
        <p:spPr>
          <a:xfrm>
            <a:off x="14078102" y="4105656"/>
            <a:ext cx="5532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설치</a:t>
            </a:r>
            <a:endParaRPr lang="en-US" sz="900" dirty="0"/>
          </a:p>
        </p:txBody>
      </p:sp>
      <p:sp>
        <p:nvSpPr>
          <p:cNvPr id="73" name="Shape 55"/>
          <p:cNvSpPr/>
          <p:nvPr/>
        </p:nvSpPr>
        <p:spPr>
          <a:xfrm>
            <a:off x="13801954" y="4533595"/>
            <a:ext cx="2486254" cy="352044"/>
          </a:xfrm>
          <a:prstGeom prst="roundRect">
            <a:avLst>
              <a:gd name="adj" fmla="val 842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4" name="Image 16" descr="preencoded.png">    </p:cNvPr>
          <p:cNvPicPr>
            <a:picLocks noChangeAspect="1"/>
          </p:cNvPicPr>
          <p:nvPr/>
        </p:nvPicPr>
        <p:blipFill>
          <a:blip r:embed="rId17"/>
          <a:srcRect l="-2571" r="-2571" t="0" b="0"/>
          <a:stretch/>
        </p:blipFill>
        <p:spPr>
          <a:xfrm>
            <a:off x="13925398" y="4653382"/>
            <a:ext cx="105156" cy="114300"/>
          </a:xfrm>
          <a:prstGeom prst="rect">
            <a:avLst/>
          </a:prstGeom>
        </p:spPr>
      </p:pic>
      <p:sp>
        <p:nvSpPr>
          <p:cNvPr id="75" name="Text 56"/>
          <p:cNvSpPr txBox="1"/>
          <p:nvPr/>
        </p:nvSpPr>
        <p:spPr>
          <a:xfrm>
            <a:off x="14078102" y="4533595"/>
            <a:ext cx="5532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검증</a:t>
            </a:r>
            <a:endParaRPr lang="en-US" sz="900" dirty="0"/>
          </a:p>
        </p:txBody>
      </p:sp>
      <p:sp>
        <p:nvSpPr>
          <p:cNvPr id="76" name="Shape 57"/>
          <p:cNvSpPr/>
          <p:nvPr/>
        </p:nvSpPr>
        <p:spPr>
          <a:xfrm>
            <a:off x="13801954" y="4962449"/>
            <a:ext cx="2486254" cy="352044"/>
          </a:xfrm>
          <a:prstGeom prst="roundRect">
            <a:avLst>
              <a:gd name="adj" fmla="val 842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7" name="Image 17" descr="preencoded.png">    </p:cNvPr>
          <p:cNvPicPr>
            <a:picLocks noChangeAspect="1"/>
          </p:cNvPicPr>
          <p:nvPr/>
        </p:nvPicPr>
        <p:blipFill>
          <a:blip r:embed="rId18"/>
          <a:srcRect l="-2571" r="-2571" t="0" b="0"/>
          <a:stretch/>
        </p:blipFill>
        <p:spPr>
          <a:xfrm>
            <a:off x="13925398" y="5081321"/>
            <a:ext cx="105156" cy="114300"/>
          </a:xfrm>
          <a:prstGeom prst="rect">
            <a:avLst/>
          </a:prstGeom>
        </p:spPr>
      </p:pic>
      <p:sp>
        <p:nvSpPr>
          <p:cNvPr id="78" name="Text 58"/>
          <p:cNvSpPr txBox="1"/>
          <p:nvPr/>
        </p:nvSpPr>
        <p:spPr>
          <a:xfrm>
            <a:off x="14078102" y="4962449"/>
            <a:ext cx="5532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이관</a:t>
            </a:r>
            <a:endParaRPr lang="en-US" sz="900" dirty="0"/>
          </a:p>
        </p:txBody>
      </p:sp>
      <p:sp>
        <p:nvSpPr>
          <p:cNvPr id="79" name="Shape 59"/>
          <p:cNvSpPr/>
          <p:nvPr/>
        </p:nvSpPr>
        <p:spPr>
          <a:xfrm>
            <a:off x="16039490" y="2681021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Text 60"/>
          <p:cNvSpPr txBox="1"/>
          <p:nvPr/>
        </p:nvSpPr>
        <p:spPr>
          <a:xfrm>
            <a:off x="16115386" y="2638044"/>
            <a:ext cx="295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예정</a:t>
            </a:r>
            <a:endParaRPr lang="en-US" sz="900" dirty="0"/>
          </a:p>
        </p:txBody>
      </p:sp>
      <p:sp>
        <p:nvSpPr>
          <p:cNvPr id="81" name="Shape 61"/>
          <p:cNvSpPr/>
          <p:nvPr/>
        </p:nvSpPr>
        <p:spPr>
          <a:xfrm>
            <a:off x="1524305" y="6019495"/>
            <a:ext cx="15240305" cy="705002"/>
          </a:xfrm>
          <a:prstGeom prst="roundRect">
            <a:avLst>
              <a:gd name="adj" fmla="val 280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Shape 62"/>
          <p:cNvSpPr/>
          <p:nvPr/>
        </p:nvSpPr>
        <p:spPr>
          <a:xfrm>
            <a:off x="1762049" y="6181344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3" name="Image 18" descr="preencoded.png">    </p:cNvPr>
          <p:cNvPicPr>
            <a:picLocks noChangeAspect="1"/>
          </p:cNvPicPr>
          <p:nvPr/>
        </p:nvPicPr>
        <p:blipFill>
          <a:blip r:embed="rId19"/>
          <a:srcRect l="-760" r="-760" t="0" b="0"/>
          <a:stretch/>
        </p:blipFill>
        <p:spPr>
          <a:xfrm>
            <a:off x="1876349" y="6286500"/>
            <a:ext cx="152705" cy="171907"/>
          </a:xfrm>
          <a:prstGeom prst="rect">
            <a:avLst/>
          </a:prstGeom>
        </p:spPr>
      </p:pic>
      <p:sp>
        <p:nvSpPr>
          <p:cNvPr id="84" name="Text 63"/>
          <p:cNvSpPr txBox="1"/>
          <p:nvPr/>
        </p:nvSpPr>
        <p:spPr>
          <a:xfrm>
            <a:off x="2257654" y="6181344"/>
            <a:ext cx="884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Milestone 1</a:t>
            </a:r>
            <a:endParaRPr lang="en-US" sz="1000" dirty="0"/>
          </a:p>
        </p:txBody>
      </p:sp>
      <p:sp>
        <p:nvSpPr>
          <p:cNvPr id="85" name="Text 64"/>
          <p:cNvSpPr txBox="1"/>
          <p:nvPr/>
        </p:nvSpPr>
        <p:spPr>
          <a:xfrm>
            <a:off x="2257654" y="6372454"/>
            <a:ext cx="819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완료</a:t>
            </a:r>
            <a:endParaRPr lang="en-US" sz="1000" dirty="0"/>
          </a:p>
        </p:txBody>
      </p:sp>
      <p:sp>
        <p:nvSpPr>
          <p:cNvPr id="86" name="Shape 65"/>
          <p:cNvSpPr/>
          <p:nvPr/>
        </p:nvSpPr>
        <p:spPr>
          <a:xfrm>
            <a:off x="6108192" y="6181344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7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6212434" y="6286500"/>
            <a:ext cx="171907" cy="171907"/>
          </a:xfrm>
          <a:prstGeom prst="rect">
            <a:avLst/>
          </a:prstGeom>
        </p:spPr>
      </p:pic>
      <p:sp>
        <p:nvSpPr>
          <p:cNvPr id="88" name="Text 66"/>
          <p:cNvSpPr txBox="1"/>
          <p:nvPr/>
        </p:nvSpPr>
        <p:spPr>
          <a:xfrm>
            <a:off x="6603797" y="6181344"/>
            <a:ext cx="9436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Milestone 2</a:t>
            </a:r>
            <a:endParaRPr lang="en-US" sz="1000" dirty="0"/>
          </a:p>
        </p:txBody>
      </p:sp>
      <p:sp>
        <p:nvSpPr>
          <p:cNvPr id="89" name="Text 67"/>
          <p:cNvSpPr txBox="1"/>
          <p:nvPr/>
        </p:nvSpPr>
        <p:spPr>
          <a:xfrm>
            <a:off x="6603797" y="6372454"/>
            <a:ext cx="9464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MCP 구축 완료</a:t>
            </a:r>
            <a:endParaRPr lang="en-US" sz="1000" dirty="0"/>
          </a:p>
        </p:txBody>
      </p:sp>
      <p:sp>
        <p:nvSpPr>
          <p:cNvPr id="90" name="Shape 68"/>
          <p:cNvSpPr/>
          <p:nvPr/>
        </p:nvSpPr>
        <p:spPr>
          <a:xfrm>
            <a:off x="10557662" y="6181344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1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10661904" y="6286500"/>
            <a:ext cx="171907" cy="171907"/>
          </a:xfrm>
          <a:prstGeom prst="rect">
            <a:avLst/>
          </a:prstGeom>
        </p:spPr>
      </p:pic>
      <p:sp>
        <p:nvSpPr>
          <p:cNvPr id="92" name="Text 69"/>
          <p:cNvSpPr txBox="1"/>
          <p:nvPr/>
        </p:nvSpPr>
        <p:spPr>
          <a:xfrm>
            <a:off x="11052353" y="6181344"/>
            <a:ext cx="1010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Milestone 3</a:t>
            </a:r>
            <a:endParaRPr lang="en-US" sz="1000" dirty="0"/>
          </a:p>
        </p:txBody>
      </p:sp>
      <p:sp>
        <p:nvSpPr>
          <p:cNvPr id="93" name="Text 70"/>
          <p:cNvSpPr txBox="1"/>
          <p:nvPr/>
        </p:nvSpPr>
        <p:spPr>
          <a:xfrm>
            <a:off x="11052353" y="6372454"/>
            <a:ext cx="11311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테스트 완료</a:t>
            </a:r>
            <a:endParaRPr lang="en-US" sz="1000" dirty="0"/>
          </a:p>
        </p:txBody>
      </p:sp>
      <p:sp>
        <p:nvSpPr>
          <p:cNvPr id="94" name="Shape 71"/>
          <p:cNvSpPr/>
          <p:nvPr/>
        </p:nvSpPr>
        <p:spPr>
          <a:xfrm>
            <a:off x="15096744" y="6181344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5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15201900" y="6286500"/>
            <a:ext cx="171907" cy="171907"/>
          </a:xfrm>
          <a:prstGeom prst="rect">
            <a:avLst/>
          </a:prstGeom>
        </p:spPr>
      </p:pic>
      <p:sp>
        <p:nvSpPr>
          <p:cNvPr id="96" name="Text 72"/>
          <p:cNvSpPr txBox="1"/>
          <p:nvPr/>
        </p:nvSpPr>
        <p:spPr>
          <a:xfrm>
            <a:off x="15592349" y="6181344"/>
            <a:ext cx="1010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Milestone 4</a:t>
            </a:r>
            <a:endParaRPr lang="en-US" sz="1000" dirty="0"/>
          </a:p>
        </p:txBody>
      </p:sp>
      <p:sp>
        <p:nvSpPr>
          <p:cNvPr id="97" name="Text 73"/>
          <p:cNvSpPr txBox="1"/>
          <p:nvPr/>
        </p:nvSpPr>
        <p:spPr>
          <a:xfrm>
            <a:off x="15592349" y="6372454"/>
            <a:ext cx="11311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구축 완료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72261" y="514807"/>
            <a:ext cx="159745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구축 범위 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607" r="-607" t="0" b="0"/>
          <a:stretch/>
        </p:blipFill>
        <p:spPr>
          <a:xfrm>
            <a:off x="571500" y="614477"/>
            <a:ext cx="390449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584887" y="638251"/>
            <a:ext cx="58201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Multi-Agentic AI 기반 PCB 생산라인 모니터링 플랫폼의 주요 구축 항목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4" b="-24"/>
          <a:stretch/>
        </p:blipFill>
        <p:spPr>
          <a:xfrm>
            <a:off x="571500" y="1143000"/>
            <a:ext cx="17145000" cy="97200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9244" y="1438351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05256" y="1533449"/>
            <a:ext cx="190195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43254" y="1290218"/>
            <a:ext cx="162498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핵심 구축 영역: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Multi-Agent AI 플랫폼, Digital Twin 시스템, MCP 인터페이스, 모니터링 대시보드, 자동 대응 로직 5대 핵심 모듈을 구축합니다. 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343254" y="1290218"/>
            <a:ext cx="12902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핵심 구축 영역: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1343254" y="1528877"/>
            <a:ext cx="163266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기술적 특징: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6개의 전문 AI Agent가 협업하며, 실시간 데이터 분석과 자동화된 장애 대응을 제공하는 지능형 시스템입니다. 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1343254" y="1528877"/>
            <a:ext cx="10616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기술적 특징: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1343254" y="1766621"/>
            <a:ext cx="163266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기대 효과: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생산라인의 실시간 모니터링, 이상 징후 자동 감지, AI 기반 자율 운영을 통해 생산 효율성을 극대화합니다. 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1343254" y="1766621"/>
            <a:ext cx="884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기대 효과: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71500" y="2286000"/>
            <a:ext cx="3276295" cy="5905195"/>
          </a:xfrm>
          <a:prstGeom prst="roundRect">
            <a:avLst>
              <a:gd name="adj" fmla="val 1947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923898" y="2533802"/>
            <a:ext cx="571500" cy="571500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042770" y="2686507"/>
            <a:ext cx="333756" cy="2670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96950" y="3258007"/>
            <a:ext cx="20290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Multi-Agent AI 플랫폼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595274" y="3581705"/>
            <a:ext cx="32314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6개의 전문 AI Agent가 협업하는 지능형 시스템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-2571" r="-2571" t="0" b="0"/>
          <a:stretch/>
        </p:blipFill>
        <p:spPr>
          <a:xfrm>
            <a:off x="857707" y="3980383"/>
            <a:ext cx="105156" cy="1143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37844" y="3947465"/>
            <a:ext cx="103052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분석 Agent</a:t>
            </a:r>
            <a:endParaRPr lang="en-US" sz="9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-2571" r="-2571" t="0" b="0"/>
          <a:stretch/>
        </p:blipFill>
        <p:spPr>
          <a:xfrm>
            <a:off x="857707" y="4237330"/>
            <a:ext cx="105156" cy="1143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37844" y="4204411"/>
            <a:ext cx="103052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탐지 Agent</a:t>
            </a:r>
            <a:endParaRPr lang="en-US" sz="9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rcRect l="-2571" r="-2571" t="0" b="0"/>
          <a:stretch/>
        </p:blipFill>
        <p:spPr>
          <a:xfrm>
            <a:off x="857707" y="4495190"/>
            <a:ext cx="105156" cy="11430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037844" y="4461358"/>
            <a:ext cx="103052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분석 Agent</a:t>
            </a:r>
            <a:endParaRPr lang="en-US" sz="900" dirty="0"/>
          </a:p>
        </p:txBody>
      </p:sp>
      <p:sp>
        <p:nvSpPr>
          <p:cNvPr id="27" name="Shape 17"/>
          <p:cNvSpPr/>
          <p:nvPr/>
        </p:nvSpPr>
        <p:spPr>
          <a:xfrm>
            <a:off x="4038905" y="2286000"/>
            <a:ext cx="3276295" cy="5905195"/>
          </a:xfrm>
          <a:prstGeom prst="roundRect">
            <a:avLst>
              <a:gd name="adj" fmla="val 1947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391302" y="2533802"/>
            <a:ext cx="571500" cy="571500"/>
          </a:xfrm>
          <a:prstGeom prst="rect">
            <a:avLst/>
          </a:prstGeom>
        </p:spPr>
      </p:pic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rcRect l="-685" r="-685" t="0" b="0"/>
          <a:stretch/>
        </p:blipFill>
        <p:spPr>
          <a:xfrm>
            <a:off x="5524805" y="2686507"/>
            <a:ext cx="304495" cy="267005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4775911" y="3258007"/>
            <a:ext cx="18022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Twin 시스템</a:t>
            </a:r>
            <a:endParaRPr lang="en-US" sz="1300" dirty="0"/>
          </a:p>
        </p:txBody>
      </p:sp>
      <p:sp>
        <p:nvSpPr>
          <p:cNvPr id="31" name="Text 19"/>
          <p:cNvSpPr txBox="1"/>
          <p:nvPr/>
        </p:nvSpPr>
        <p:spPr>
          <a:xfrm>
            <a:off x="4409237" y="3581705"/>
            <a:ext cx="25383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생산라인 전체를 가상 환경으로 모델링</a:t>
            </a:r>
            <a:endParaRPr lang="en-US" sz="100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rcRect l="-2571" r="-2571" t="0" b="0"/>
          <a:stretch/>
        </p:blipFill>
        <p:spPr>
          <a:xfrm>
            <a:off x="4324198" y="3980383"/>
            <a:ext cx="105156" cy="114300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4505249" y="3947465"/>
            <a:ext cx="10515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상태 가상화</a:t>
            </a:r>
            <a:endParaRPr lang="en-US" sz="900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rcRect l="-2571" r="-2571" t="0" b="0"/>
          <a:stretch/>
        </p:blipFill>
        <p:spPr>
          <a:xfrm>
            <a:off x="4324198" y="4237330"/>
            <a:ext cx="105156" cy="114300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4505249" y="4204411"/>
            <a:ext cx="130667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 흐름 시뮬레이션</a:t>
            </a:r>
            <a:endParaRPr lang="en-US" sz="900" dirty="0"/>
          </a:p>
        </p:txBody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rcRect l="-2571" r="-2571" t="0" b="0"/>
          <a:stretch/>
        </p:blipFill>
        <p:spPr>
          <a:xfrm>
            <a:off x="4324198" y="4495190"/>
            <a:ext cx="105156" cy="114300"/>
          </a:xfrm>
          <a:prstGeom prst="rect">
            <a:avLst/>
          </a:prstGeom>
        </p:spPr>
      </p:pic>
      <p:sp>
        <p:nvSpPr>
          <p:cNvPr id="37" name="Text 22"/>
          <p:cNvSpPr txBox="1"/>
          <p:nvPr/>
        </p:nvSpPr>
        <p:spPr>
          <a:xfrm>
            <a:off x="4505249" y="4461358"/>
            <a:ext cx="8458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동기화</a:t>
            </a:r>
            <a:endParaRPr lang="en-US" sz="900" dirty="0"/>
          </a:p>
        </p:txBody>
      </p:sp>
      <p:sp>
        <p:nvSpPr>
          <p:cNvPr id="38" name="Shape 23"/>
          <p:cNvSpPr/>
          <p:nvPr/>
        </p:nvSpPr>
        <p:spPr>
          <a:xfrm>
            <a:off x="7505395" y="2286000"/>
            <a:ext cx="3276295" cy="5905195"/>
          </a:xfrm>
          <a:prstGeom prst="roundRect">
            <a:avLst>
              <a:gd name="adj" fmla="val 1947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858707" y="2533802"/>
            <a:ext cx="571500" cy="571500"/>
          </a:xfrm>
          <a:prstGeom prst="rect">
            <a:avLst/>
          </a:prstGeom>
        </p:spPr>
      </p:pic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9044330" y="2686507"/>
            <a:ext cx="200254" cy="267005"/>
          </a:xfrm>
          <a:prstGeom prst="rect">
            <a:avLst/>
          </a:prstGeom>
        </p:spPr>
      </p:pic>
      <p:sp>
        <p:nvSpPr>
          <p:cNvPr id="41" name="Text 24"/>
          <p:cNvSpPr txBox="1"/>
          <p:nvPr/>
        </p:nvSpPr>
        <p:spPr>
          <a:xfrm>
            <a:off x="8460029" y="3258007"/>
            <a:ext cx="137251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MCP 인터페이스</a:t>
            </a:r>
            <a:endParaRPr lang="en-US" sz="1300" dirty="0"/>
          </a:p>
        </p:txBody>
      </p:sp>
      <p:sp>
        <p:nvSpPr>
          <p:cNvPr id="42" name="Text 25"/>
          <p:cNvSpPr txBox="1"/>
          <p:nvPr/>
        </p:nvSpPr>
        <p:spPr>
          <a:xfrm>
            <a:off x="7938821" y="3581705"/>
            <a:ext cx="2413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↔ AI 간 표준 인터페이스 제공</a:t>
            </a:r>
            <a:endParaRPr lang="en-US" sz="100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rcRect l="-2571" r="-2571" t="0" b="0"/>
          <a:stretch/>
        </p:blipFill>
        <p:spPr>
          <a:xfrm>
            <a:off x="7791602" y="3980383"/>
            <a:ext cx="105156" cy="114300"/>
          </a:xfrm>
          <a:prstGeom prst="rect">
            <a:avLst/>
          </a:prstGeom>
        </p:spPr>
      </p:pic>
      <p:sp>
        <p:nvSpPr>
          <p:cNvPr id="44" name="Text 26"/>
          <p:cNvSpPr txBox="1"/>
          <p:nvPr/>
        </p:nvSpPr>
        <p:spPr>
          <a:xfrm>
            <a:off x="7972654" y="3947465"/>
            <a:ext cx="5623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PLC 연결</a:t>
            </a:r>
            <a:endParaRPr lang="en-US" sz="90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17"/>
          <a:srcRect l="-2571" r="-2571" t="0" b="0"/>
          <a:stretch/>
        </p:blipFill>
        <p:spPr>
          <a:xfrm>
            <a:off x="7791602" y="4237330"/>
            <a:ext cx="105156" cy="114300"/>
          </a:xfrm>
          <a:prstGeom prst="rect">
            <a:avLst/>
          </a:prstGeom>
        </p:spPr>
      </p:pic>
      <p:sp>
        <p:nvSpPr>
          <p:cNvPr id="46" name="Text 27"/>
          <p:cNvSpPr txBox="1"/>
          <p:nvPr/>
        </p:nvSpPr>
        <p:spPr>
          <a:xfrm>
            <a:off x="7972654" y="4204411"/>
            <a:ext cx="5907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 연동</a:t>
            </a:r>
            <a:endParaRPr lang="en-US" sz="900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18"/>
          <a:srcRect l="-2571" r="-2571" t="0" b="0"/>
          <a:stretch/>
        </p:blipFill>
        <p:spPr>
          <a:xfrm>
            <a:off x="7791602" y="4495190"/>
            <a:ext cx="105156" cy="114300"/>
          </a:xfrm>
          <a:prstGeom prst="rect">
            <a:avLst/>
          </a:prstGeom>
        </p:spPr>
      </p:pic>
      <p:sp>
        <p:nvSpPr>
          <p:cNvPr id="48" name="Text 28"/>
          <p:cNvSpPr txBox="1"/>
          <p:nvPr/>
        </p:nvSpPr>
        <p:spPr>
          <a:xfrm>
            <a:off x="7972654" y="4461358"/>
            <a:ext cx="10515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센서 시스템 연결</a:t>
            </a:r>
            <a:endParaRPr lang="en-US" sz="900" dirty="0"/>
          </a:p>
        </p:txBody>
      </p:sp>
      <p:sp>
        <p:nvSpPr>
          <p:cNvPr id="49" name="Shape 29"/>
          <p:cNvSpPr/>
          <p:nvPr/>
        </p:nvSpPr>
        <p:spPr>
          <a:xfrm>
            <a:off x="10972800" y="2286000"/>
            <a:ext cx="3276295" cy="5905195"/>
          </a:xfrm>
          <a:prstGeom prst="roundRect">
            <a:avLst>
              <a:gd name="adj" fmla="val 1947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50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12325198" y="2533802"/>
            <a:ext cx="571500" cy="571500"/>
          </a:xfrm>
          <a:prstGeom prst="rect">
            <a:avLst/>
          </a:prstGeom>
        </p:spPr>
      </p:pic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20"/>
          <a:srcRect l="-685" r="-685" t="0" b="0"/>
          <a:stretch/>
        </p:blipFill>
        <p:spPr>
          <a:xfrm>
            <a:off x="12458700" y="2686507"/>
            <a:ext cx="304495" cy="267005"/>
          </a:xfrm>
          <a:prstGeom prst="rect">
            <a:avLst/>
          </a:prstGeom>
        </p:spPr>
      </p:pic>
      <p:sp>
        <p:nvSpPr>
          <p:cNvPr id="52" name="Text 30"/>
          <p:cNvSpPr txBox="1"/>
          <p:nvPr/>
        </p:nvSpPr>
        <p:spPr>
          <a:xfrm>
            <a:off x="11826850" y="3258007"/>
            <a:ext cx="157276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모니터링 대시보드</a:t>
            </a:r>
            <a:endParaRPr lang="en-US" sz="1300" dirty="0"/>
          </a:p>
        </p:txBody>
      </p:sp>
      <p:sp>
        <p:nvSpPr>
          <p:cNvPr id="53" name="Text 31"/>
          <p:cNvSpPr txBox="1"/>
          <p:nvPr/>
        </p:nvSpPr>
        <p:spPr>
          <a:xfrm>
            <a:off x="11593678" y="3581705"/>
            <a:ext cx="2041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생산라인 상태 모니터링</a:t>
            </a:r>
            <a:endParaRPr lang="en-US" sz="1000" dirty="0"/>
          </a:p>
        </p:txBody>
      </p:sp>
      <p:pic>
        <p:nvPicPr>
          <p:cNvPr id="54" name="Image 20" descr="preencoded.png">    </p:cNvPr>
          <p:cNvPicPr>
            <a:picLocks noChangeAspect="1"/>
          </p:cNvPicPr>
          <p:nvPr/>
        </p:nvPicPr>
        <p:blipFill>
          <a:blip r:embed="rId21"/>
          <a:srcRect l="-2571" r="-2571" t="0" b="0"/>
          <a:stretch/>
        </p:blipFill>
        <p:spPr>
          <a:xfrm>
            <a:off x="11259007" y="3980383"/>
            <a:ext cx="105156" cy="114300"/>
          </a:xfrm>
          <a:prstGeom prst="rect">
            <a:avLst/>
          </a:prstGeom>
        </p:spPr>
      </p:pic>
      <p:sp>
        <p:nvSpPr>
          <p:cNvPr id="55" name="Text 32"/>
          <p:cNvSpPr txBox="1"/>
          <p:nvPr/>
        </p:nvSpPr>
        <p:spPr>
          <a:xfrm>
            <a:off x="11439144" y="3947465"/>
            <a:ext cx="130667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데이터 시각화</a:t>
            </a:r>
            <a:endParaRPr lang="en-US" sz="900" dirty="0"/>
          </a:p>
        </p:txBody>
      </p:sp>
      <p:pic>
        <p:nvPicPr>
          <p:cNvPr id="56" name="Image 21" descr="preencoded.png">    </p:cNvPr>
          <p:cNvPicPr>
            <a:picLocks noChangeAspect="1"/>
          </p:cNvPicPr>
          <p:nvPr/>
        </p:nvPicPr>
        <p:blipFill>
          <a:blip r:embed="rId22"/>
          <a:srcRect l="-2571" r="-2571" t="0" b="0"/>
          <a:stretch/>
        </p:blipFill>
        <p:spPr>
          <a:xfrm>
            <a:off x="11259007" y="4237330"/>
            <a:ext cx="105156" cy="114300"/>
          </a:xfrm>
          <a:prstGeom prst="rect">
            <a:avLst/>
          </a:prstGeom>
        </p:spPr>
      </p:pic>
      <p:sp>
        <p:nvSpPr>
          <p:cNvPr id="57" name="Text 33"/>
          <p:cNvSpPr txBox="1"/>
          <p:nvPr/>
        </p:nvSpPr>
        <p:spPr>
          <a:xfrm>
            <a:off x="11439144" y="4204411"/>
            <a:ext cx="71780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 시스템</a:t>
            </a:r>
            <a:endParaRPr lang="en-US" sz="900" dirty="0"/>
          </a:p>
        </p:txBody>
      </p:sp>
      <p:pic>
        <p:nvPicPr>
          <p:cNvPr id="58" name="Image 22" descr="preencoded.png">    </p:cNvPr>
          <p:cNvPicPr>
            <a:picLocks noChangeAspect="1"/>
          </p:cNvPicPr>
          <p:nvPr/>
        </p:nvPicPr>
        <p:blipFill>
          <a:blip r:embed="rId23"/>
          <a:srcRect l="-2571" r="-2571" t="0" b="0"/>
          <a:stretch/>
        </p:blipFill>
        <p:spPr>
          <a:xfrm>
            <a:off x="11259007" y="4495190"/>
            <a:ext cx="105156" cy="114300"/>
          </a:xfrm>
          <a:prstGeom prst="rect">
            <a:avLst/>
          </a:prstGeom>
        </p:spPr>
      </p:pic>
      <p:sp>
        <p:nvSpPr>
          <p:cNvPr id="59" name="Text 34"/>
          <p:cNvSpPr txBox="1"/>
          <p:nvPr/>
        </p:nvSpPr>
        <p:spPr>
          <a:xfrm>
            <a:off x="11439144" y="4461358"/>
            <a:ext cx="92354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징후 감지</a:t>
            </a:r>
            <a:endParaRPr lang="en-US" sz="900" dirty="0"/>
          </a:p>
        </p:txBody>
      </p:sp>
      <p:sp>
        <p:nvSpPr>
          <p:cNvPr id="60" name="Shape 35"/>
          <p:cNvSpPr/>
          <p:nvPr/>
        </p:nvSpPr>
        <p:spPr>
          <a:xfrm>
            <a:off x="14440205" y="2286000"/>
            <a:ext cx="3276295" cy="5905195"/>
          </a:xfrm>
          <a:prstGeom prst="roundRect">
            <a:avLst>
              <a:gd name="adj" fmla="val 1947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61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15792602" y="2533802"/>
            <a:ext cx="571500" cy="571500"/>
          </a:xfrm>
          <a:prstGeom prst="rect">
            <a:avLst/>
          </a:prstGeom>
        </p:spPr>
      </p:pic>
      <p:pic>
        <p:nvPicPr>
          <p:cNvPr id="62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15911474" y="2686507"/>
            <a:ext cx="333756" cy="267005"/>
          </a:xfrm>
          <a:prstGeom prst="rect">
            <a:avLst/>
          </a:prstGeom>
        </p:spPr>
      </p:pic>
      <p:sp>
        <p:nvSpPr>
          <p:cNvPr id="63" name="Text 36"/>
          <p:cNvSpPr txBox="1"/>
          <p:nvPr/>
        </p:nvSpPr>
        <p:spPr>
          <a:xfrm>
            <a:off x="15422270" y="3258007"/>
            <a:ext cx="131765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대응 로직</a:t>
            </a:r>
            <a:endParaRPr lang="en-US" sz="1300" dirty="0"/>
          </a:p>
        </p:txBody>
      </p:sp>
      <p:sp>
        <p:nvSpPr>
          <p:cNvPr id="64" name="Text 37"/>
          <p:cNvSpPr txBox="1"/>
          <p:nvPr/>
        </p:nvSpPr>
        <p:spPr>
          <a:xfrm>
            <a:off x="14864486" y="3581705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직접 대응까지 수행하는 자동화</a:t>
            </a:r>
            <a:endParaRPr lang="en-US" sz="1000" dirty="0"/>
          </a:p>
        </p:txBody>
      </p:sp>
      <p:pic>
        <p:nvPicPr>
          <p:cNvPr id="65" name="Image 25" descr="preencoded.png">    </p:cNvPr>
          <p:cNvPicPr>
            <a:picLocks noChangeAspect="1"/>
          </p:cNvPicPr>
          <p:nvPr/>
        </p:nvPicPr>
        <p:blipFill>
          <a:blip r:embed="rId26"/>
          <a:srcRect l="-2571" r="-2571" t="0" b="0"/>
          <a:stretch/>
        </p:blipFill>
        <p:spPr>
          <a:xfrm>
            <a:off x="14725498" y="3980383"/>
            <a:ext cx="105156" cy="114300"/>
          </a:xfrm>
          <a:prstGeom prst="rect">
            <a:avLst/>
          </a:prstGeom>
        </p:spPr>
      </p:pic>
      <p:sp>
        <p:nvSpPr>
          <p:cNvPr id="66" name="Text 38"/>
          <p:cNvSpPr txBox="1"/>
          <p:nvPr/>
        </p:nvSpPr>
        <p:spPr>
          <a:xfrm>
            <a:off x="14906549" y="3947465"/>
            <a:ext cx="92354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설정 변경</a:t>
            </a:r>
            <a:endParaRPr lang="en-US" sz="900" dirty="0"/>
          </a:p>
        </p:txBody>
      </p:sp>
      <p:pic>
        <p:nvPicPr>
          <p:cNvPr id="67" name="Image 26" descr="preencoded.png">    </p:cNvPr>
          <p:cNvPicPr>
            <a:picLocks noChangeAspect="1"/>
          </p:cNvPicPr>
          <p:nvPr/>
        </p:nvPicPr>
        <p:blipFill>
          <a:blip r:embed="rId27"/>
          <a:srcRect l="-2571" r="-2571" t="0" b="0"/>
          <a:stretch/>
        </p:blipFill>
        <p:spPr>
          <a:xfrm>
            <a:off x="14725498" y="4237330"/>
            <a:ext cx="105156" cy="114300"/>
          </a:xfrm>
          <a:prstGeom prst="rect">
            <a:avLst/>
          </a:prstGeom>
        </p:spPr>
      </p:pic>
      <p:sp>
        <p:nvSpPr>
          <p:cNvPr id="68" name="Text 39"/>
          <p:cNvSpPr txBox="1"/>
          <p:nvPr/>
        </p:nvSpPr>
        <p:spPr>
          <a:xfrm>
            <a:off x="14906549" y="4204411"/>
            <a:ext cx="71780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재시작</a:t>
            </a:r>
            <a:endParaRPr lang="en-US" sz="900" dirty="0"/>
          </a:p>
        </p:txBody>
      </p:sp>
      <p:pic>
        <p:nvPicPr>
          <p:cNvPr id="69" name="Image 27" descr="preencoded.png">    </p:cNvPr>
          <p:cNvPicPr>
            <a:picLocks noChangeAspect="1"/>
          </p:cNvPicPr>
          <p:nvPr/>
        </p:nvPicPr>
        <p:blipFill>
          <a:blip r:embed="rId28"/>
          <a:srcRect l="-2571" r="-2571" t="0" b="0"/>
          <a:stretch/>
        </p:blipFill>
        <p:spPr>
          <a:xfrm>
            <a:off x="14725498" y="4495190"/>
            <a:ext cx="105156" cy="114300"/>
          </a:xfrm>
          <a:prstGeom prst="rect">
            <a:avLst/>
          </a:prstGeom>
        </p:spPr>
      </p:pic>
      <p:sp>
        <p:nvSpPr>
          <p:cNvPr id="70" name="Text 40"/>
          <p:cNvSpPr txBox="1"/>
          <p:nvPr/>
        </p:nvSpPr>
        <p:spPr>
          <a:xfrm>
            <a:off x="14906549" y="4461358"/>
            <a:ext cx="58978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 조정</a:t>
            </a:r>
            <a:endParaRPr lang="en-US" sz="900" dirty="0"/>
          </a:p>
        </p:txBody>
      </p:sp>
      <p:pic>
        <p:nvPicPr>
          <p:cNvPr id="71" name="Image 28" descr="preencoded.png">    </p:cNvPr>
          <p:cNvPicPr>
            <a:picLocks noChangeAspect="1"/>
          </p:cNvPicPr>
          <p:nvPr/>
        </p:nvPicPr>
        <p:blipFill>
          <a:blip r:embed="rId29"/>
          <a:srcRect l="0" r="0" t="-5" b="-5"/>
          <a:stretch/>
        </p:blipFill>
        <p:spPr>
          <a:xfrm>
            <a:off x="571500" y="8382305"/>
            <a:ext cx="17145000" cy="1505102"/>
          </a:xfrm>
          <a:prstGeom prst="rect">
            <a:avLst/>
          </a:prstGeom>
        </p:spPr>
      </p:pic>
      <p:sp>
        <p:nvSpPr>
          <p:cNvPr id="72" name="Text 41"/>
          <p:cNvSpPr txBox="1"/>
          <p:nvPr/>
        </p:nvSpPr>
        <p:spPr>
          <a:xfrm>
            <a:off x="1000354" y="8581644"/>
            <a:ext cx="16707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구축 현황 요약 </a:t>
            </a:r>
            <a:endParaRPr lang="en-US" sz="1200" dirty="0"/>
          </a:p>
        </p:txBody>
      </p:sp>
      <p:pic>
        <p:nvPicPr>
          <p:cNvPr id="73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0" b="0"/>
          <a:stretch/>
        </p:blipFill>
        <p:spPr>
          <a:xfrm>
            <a:off x="771754" y="8620049"/>
            <a:ext cx="152705" cy="152705"/>
          </a:xfrm>
          <a:prstGeom prst="rect">
            <a:avLst/>
          </a:prstGeom>
        </p:spPr>
      </p:pic>
      <p:sp>
        <p:nvSpPr>
          <p:cNvPr id="74" name="Shape 42"/>
          <p:cNvSpPr/>
          <p:nvPr/>
        </p:nvSpPr>
        <p:spPr>
          <a:xfrm>
            <a:off x="771754" y="8924544"/>
            <a:ext cx="4076395" cy="761695"/>
          </a:xfrm>
          <a:prstGeom prst="roundRect">
            <a:avLst>
              <a:gd name="adj" fmla="val 240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43"/>
          <p:cNvSpPr txBox="1"/>
          <p:nvPr/>
        </p:nvSpPr>
        <p:spPr>
          <a:xfrm>
            <a:off x="828446" y="9038844"/>
            <a:ext cx="39630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800" dirty="0"/>
          </a:p>
        </p:txBody>
      </p:sp>
      <p:sp>
        <p:nvSpPr>
          <p:cNvPr id="76" name="Text 44"/>
          <p:cNvSpPr txBox="1"/>
          <p:nvPr/>
        </p:nvSpPr>
        <p:spPr>
          <a:xfrm>
            <a:off x="790956" y="9411005"/>
            <a:ext cx="4038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구축 항목</a:t>
            </a:r>
            <a:endParaRPr lang="en-US" sz="900" dirty="0"/>
          </a:p>
        </p:txBody>
      </p:sp>
      <p:sp>
        <p:nvSpPr>
          <p:cNvPr id="77" name="Shape 45"/>
          <p:cNvSpPr/>
          <p:nvPr/>
        </p:nvSpPr>
        <p:spPr>
          <a:xfrm>
            <a:off x="4996282" y="8924544"/>
            <a:ext cx="4076395" cy="761695"/>
          </a:xfrm>
          <a:prstGeom prst="roundRect">
            <a:avLst>
              <a:gd name="adj" fmla="val 240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46"/>
          <p:cNvSpPr txBox="1"/>
          <p:nvPr/>
        </p:nvSpPr>
        <p:spPr>
          <a:xfrm>
            <a:off x="5052974" y="9038844"/>
            <a:ext cx="39630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800" dirty="0"/>
          </a:p>
        </p:txBody>
      </p:sp>
      <p:sp>
        <p:nvSpPr>
          <p:cNvPr id="79" name="Text 47"/>
          <p:cNvSpPr txBox="1"/>
          <p:nvPr/>
        </p:nvSpPr>
        <p:spPr>
          <a:xfrm>
            <a:off x="5052974" y="9411005"/>
            <a:ext cx="3963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Agent 수</a:t>
            </a:r>
            <a:endParaRPr lang="en-US" sz="900" dirty="0"/>
          </a:p>
        </p:txBody>
      </p:sp>
      <p:sp>
        <p:nvSpPr>
          <p:cNvPr id="80" name="Shape 48"/>
          <p:cNvSpPr/>
          <p:nvPr/>
        </p:nvSpPr>
        <p:spPr>
          <a:xfrm>
            <a:off x="9219895" y="8924544"/>
            <a:ext cx="4076395" cy="761695"/>
          </a:xfrm>
          <a:prstGeom prst="roundRect">
            <a:avLst>
              <a:gd name="adj" fmla="val 240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Text 49"/>
          <p:cNvSpPr txBox="1"/>
          <p:nvPr/>
        </p:nvSpPr>
        <p:spPr>
          <a:xfrm>
            <a:off x="9277502" y="9038844"/>
            <a:ext cx="39630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82" name="Text 50"/>
          <p:cNvSpPr txBox="1"/>
          <p:nvPr/>
        </p:nvSpPr>
        <p:spPr>
          <a:xfrm>
            <a:off x="9239098" y="9411005"/>
            <a:ext cx="4038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계층</a:t>
            </a:r>
            <a:endParaRPr lang="en-US" sz="900" dirty="0"/>
          </a:p>
        </p:txBody>
      </p:sp>
      <p:sp>
        <p:nvSpPr>
          <p:cNvPr id="83" name="Shape 51"/>
          <p:cNvSpPr/>
          <p:nvPr/>
        </p:nvSpPr>
        <p:spPr>
          <a:xfrm>
            <a:off x="13444423" y="8924544"/>
            <a:ext cx="4076395" cy="761695"/>
          </a:xfrm>
          <a:prstGeom prst="roundRect">
            <a:avLst>
              <a:gd name="adj" fmla="val 240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Text 52"/>
          <p:cNvSpPr txBox="1"/>
          <p:nvPr/>
        </p:nvSpPr>
        <p:spPr>
          <a:xfrm>
            <a:off x="13502030" y="9038844"/>
            <a:ext cx="39630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800" dirty="0"/>
          </a:p>
        </p:txBody>
      </p:sp>
      <p:sp>
        <p:nvSpPr>
          <p:cNvPr id="85" name="Text 53"/>
          <p:cNvSpPr txBox="1"/>
          <p:nvPr/>
        </p:nvSpPr>
        <p:spPr>
          <a:xfrm>
            <a:off x="13463626" y="9411005"/>
            <a:ext cx="4038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단계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6307" y="514807"/>
            <a:ext cx="77632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결론 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743" r="-743" t="0" b="0"/>
          <a:stretch/>
        </p:blipFill>
        <p:spPr>
          <a:xfrm>
            <a:off x="571500" y="614477"/>
            <a:ext cx="304495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506042" y="638251"/>
            <a:ext cx="381670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"자율 운영(Self-Driving Factory)로의 전환"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785970" y="2375611"/>
            <a:ext cx="872429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"모니터링을 넘어</a:t>
            </a:r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자율 운영으로" 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303520" y="2375611"/>
            <a:ext cx="4642409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"모니터링을 넘어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3232404"/>
            <a:ext cx="65919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분석 · 자동 판단 · 자동 실행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762756" y="4299509"/>
            <a:ext cx="3333902" cy="2391156"/>
          </a:xfrm>
          <a:prstGeom prst="roundRect">
            <a:avLst>
              <a:gd name="adj" fmla="val 4875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38598" y="4709160"/>
            <a:ext cx="381305" cy="3813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72154" y="5347411"/>
            <a:ext cx="29151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분석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028846" y="5737860"/>
            <a:ext cx="28008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데이터를 실시간으로 분석하여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이상 징후를 즉시 감지하고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예측 가능한 운영 환경 구축 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477049" y="4299509"/>
            <a:ext cx="3333902" cy="2391156"/>
          </a:xfrm>
          <a:prstGeom prst="roundRect">
            <a:avLst>
              <a:gd name="adj" fmla="val 4875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24" b="-24"/>
          <a:stretch/>
        </p:blipFill>
        <p:spPr>
          <a:xfrm>
            <a:off x="8906256" y="4709160"/>
            <a:ext cx="476402" cy="3813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686446" y="5347411"/>
            <a:ext cx="29151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판단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744054" y="5737860"/>
            <a:ext cx="28008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AI가 스스로 상황을 판단하고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최적의 대응 전략을 생성하여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의사결정 시간 단축 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11192256" y="4299509"/>
            <a:ext cx="3333902" cy="2391156"/>
          </a:xfrm>
          <a:prstGeom prst="roundRect">
            <a:avLst>
              <a:gd name="adj" fmla="val 4875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24" b="-24"/>
          <a:stretch/>
        </p:blipFill>
        <p:spPr>
          <a:xfrm>
            <a:off x="12620549" y="4709160"/>
            <a:ext cx="476402" cy="38130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401654" y="5347411"/>
            <a:ext cx="29151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실행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1458346" y="5737860"/>
            <a:ext cx="28008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판단 결과에 따라 자동으로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조치를 수행하여 생산 중단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시간을 최소화 </a:t>
            </a:r>
            <a:endParaRPr lang="en-US" sz="10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6" b="-6"/>
          <a:stretch/>
        </p:blipFill>
        <p:spPr>
          <a:xfrm>
            <a:off x="6041441" y="7349947"/>
            <a:ext cx="6205118" cy="1324051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536131" y="7654442"/>
            <a:ext cx="52203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PCB 생산라인의 </a:t>
            </a:r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 운영 플랫폼</a:t>
            </a:r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완성 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8600846" y="7654442"/>
            <a:ext cx="224393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 운영 플랫폼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289243" y="8139989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Multi-Agentic AI와 Digital Twin 기술을 통해 생산라인을 완전히 자율화합니다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1143000" y="9182405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1295705" y="9124798"/>
            <a:ext cx="12143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상태: 정상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8831275" y="9182405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983980" y="9124798"/>
            <a:ext cx="862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연결: 활성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16271748" y="9105595"/>
            <a:ext cx="10433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SiliconCube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2026-04-05T08:07:16Z</dcterms:created>
  <dcterms:modified xsi:type="dcterms:W3CDTF">2026-04-05T08:07:16Z</dcterms:modified>
</cp:coreProperties>
</file>