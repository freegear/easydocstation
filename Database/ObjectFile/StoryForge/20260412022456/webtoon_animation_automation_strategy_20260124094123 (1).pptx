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>
        <p:scale>
          <a:sx n="107" d="100"/>
          <a:sy n="107" d="100"/>
        </p:scale>
        <p:origin x="19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936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24305" y="154379"/>
            <a:ext cx="9563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STRATEGIC PROPOSAL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24305" y="433259"/>
            <a:ext cx="609905" cy="3840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524305" y="761695"/>
            <a:ext cx="11147450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웹툰 애니메이션</a:t>
            </a:r>
            <a:endParaRPr lang="en-US" sz="4500" dirty="0"/>
          </a:p>
          <a:p>
            <a:pPr marL="0" indent="0" algn="l">
              <a:buNone/>
            </a:pPr>
            <a:r>
              <a:rPr lang="en-US" sz="4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 자동화 전략</a:t>
            </a:r>
            <a:endParaRPr lang="en-US" sz="4500" dirty="0"/>
          </a:p>
        </p:txBody>
      </p:sp>
      <p:sp>
        <p:nvSpPr>
          <p:cNvPr id="8" name="Text 6"/>
          <p:cNvSpPr txBox="1"/>
          <p:nvPr/>
        </p:nvSpPr>
        <p:spPr>
          <a:xfrm>
            <a:off x="1524305" y="2419502"/>
            <a:ext cx="96396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상용 크레딧 의존에서</a:t>
            </a:r>
            <a:r>
              <a:rPr lang="en-US" sz="2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자동화로 비용 구조 전환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524305" y="5438851"/>
            <a:ext cx="94484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524305" y="5753405"/>
            <a:ext cx="4610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524305" y="5982005"/>
            <a:ext cx="46104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2026-01-24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76695" y="5753405"/>
            <a:ext cx="4610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76695" y="5982005"/>
            <a:ext cx="48545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3분/편, 일 1편 품질 유지 및 비용 예측가능성 확보</a:t>
            </a:r>
            <a:endParaRPr lang="en-US" sz="15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8382305" y="3047695"/>
            <a:ext cx="3810305" cy="3810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609905"/>
            <a:ext cx="1858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CURRENT CHALLENGES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09905" y="875995"/>
            <a:ext cx="761695" cy="3840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143000"/>
            <a:ext cx="112782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상용 AI 조합의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</a:t>
            </a:r>
            <a:r>
              <a:rPr lang="en-US" sz="3600" b="1" dirty="0" err="1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리스크와</a:t>
            </a:r>
            <a:r>
              <a:rPr lang="en-US" sz="3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3600" b="1" dirty="0" err="1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</a:t>
            </a:r>
            <a:r>
              <a:rPr lang="en-US" sz="3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한계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3522687"/>
            <a:ext cx="3534156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편리한 상용 서비스를 조합하여 제작할 경우, 초기 진입 장벽은 낮지만</a:t>
            </a: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규모가 커질수록 수익성이 급격히 악화</a:t>
            </a: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되는 구조를 가집니다.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905" y="5066194"/>
            <a:ext cx="3457346" cy="118140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09905" y="5066194"/>
            <a:ext cx="38405" cy="1181405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75995" y="5294794"/>
            <a:ext cx="30769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75995" y="5560885"/>
            <a:ext cx="3521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"기술적 난이도보다 비용 구조(Cost Structure)가 사업화의 더 큰 장벽입니다."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05" y="8220456"/>
            <a:ext cx="133502" cy="13350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19302" y="8191195"/>
            <a:ext cx="13606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Analysis 2026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124298" y="523951"/>
            <a:ext cx="6915607" cy="123809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362957" y="76169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95545" y="895197"/>
            <a:ext cx="190195" cy="1901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048757" y="761695"/>
            <a:ext cx="58677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단가 누적 (Stacking Costs)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048758" y="1104595"/>
            <a:ext cx="567464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생성, 영상 변환, 업스케일링 등 다수의 상용 API를 연쇄적으로 호출함에 따라 초/프레임당 비용이 이중, 삼중으로 누적됩니다.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124298" y="1990649"/>
            <a:ext cx="6915607" cy="123809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5362957" y="222930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95545" y="2361895"/>
            <a:ext cx="190195" cy="1901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048757" y="2229307"/>
            <a:ext cx="5943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변동비 비중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048757" y="2572207"/>
            <a:ext cx="567464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구축비(고정비) 대신 사용량 기반 요금(변동비)에 의존하므로, 트래픽이 늘어나도 마진율이 개선되지 않는 '규모의 불경제'가 발생합니다.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124298" y="3457346"/>
            <a:ext cx="6915607" cy="123809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5362957" y="369600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495545" y="3829507"/>
            <a:ext cx="190195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048757" y="3696005"/>
            <a:ext cx="5943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불안정한 품질과 재작업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6048757" y="4038905"/>
            <a:ext cx="552474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AI의 특성상 캐릭터 일관성이 깨지기 쉬워, 원하는 컷을 얻기 위해 여러 번 재생성(Reroll)하는 과정에서 숨겨진 비용이 발생합니다.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124298" y="4924958"/>
            <a:ext cx="6915607" cy="123809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4"/>
          <p:cNvSpPr/>
          <p:nvPr/>
        </p:nvSpPr>
        <p:spPr>
          <a:xfrm>
            <a:off x="5362957" y="516270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495545" y="5296205"/>
            <a:ext cx="190195" cy="19019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048757" y="5162702"/>
            <a:ext cx="58677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비효율 (No Caching)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6048757" y="5505602"/>
            <a:ext cx="567464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상용 서비스는 자체적인 캐싱이나 배치 처리가 어렵습니다. 동일한 컷이나 스타일을 재사용하지 못하고 매번 API를 호출해야 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57200"/>
            <a:ext cx="22814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STRUCTURE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09905" y="724205"/>
            <a:ext cx="761695" cy="3840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900355"/>
            <a:ext cx="112782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구조 비교:</a:t>
            </a:r>
            <a:r>
              <a:rPr lang="en-US" sz="27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상용 vs 자동화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1357555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30편 제작(편당 3분) 기준 시뮬레이션 결과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1619883"/>
            <a:ext cx="6096305" cy="5229454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087161" y="1619883"/>
            <a:ext cx="9144" cy="522945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115488"/>
            <a:ext cx="809244" cy="228600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571500" y="2143834"/>
            <a:ext cx="657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OPTION A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372514" y="2077083"/>
            <a:ext cx="199887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상용 크레딧 모델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534283"/>
            <a:ext cx="53629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3분 전체를 상용 영상 생성 AI로 처리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53993"/>
            <a:ext cx="5171846" cy="1104595"/>
          </a:xfrm>
          <a:prstGeom prst="roundRect">
            <a:avLst>
              <a:gd name="adj" fmla="val 57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94944" y="3363644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예상 비용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121201" y="3135044"/>
            <a:ext cx="114757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~$518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3334383"/>
            <a:ext cx="305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/월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80644" y="3668139"/>
            <a:ext cx="48106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*900 credits/편 × 30편 기준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897093"/>
            <a:ext cx="5171846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457200" y="4591683"/>
            <a:ext cx="5362956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특징</a:t>
            </a:r>
            <a:endParaRPr lang="en-US" sz="12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457200" y="5096432"/>
            <a:ext cx="133502" cy="15270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05002" y="5058942"/>
            <a:ext cx="2029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시작 (Time-to-market)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05002" y="5249137"/>
            <a:ext cx="272674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구축 없이 API 연동만으로 즉시 사용 가능</a:t>
            </a:r>
            <a:endParaRPr lang="en-US" sz="9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5592037"/>
            <a:ext cx="152705" cy="15270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24205" y="5553632"/>
            <a:ext cx="192755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변동비 리스크 (High OPEX)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724205" y="5744742"/>
            <a:ext cx="253014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제작량이 늘어날수록 비용이 정비례하여 증가</a:t>
            </a:r>
            <a:endParaRPr lang="en-US" sz="9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" y="6087642"/>
            <a:ext cx="152705" cy="152705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24205" y="6049237"/>
            <a:ext cx="11667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제어 어려움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724205" y="6239432"/>
            <a:ext cx="26718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캐릭터 일관성 유지가 어렵고 재시도 비용 발생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6096305" y="1619883"/>
            <a:ext cx="6096305" cy="5229454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rcRect/>
          <a:stretch/>
        </p:blipFill>
        <p:spPr>
          <a:xfrm>
            <a:off x="9334195" y="3991837"/>
            <a:ext cx="2857500" cy="285750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5810098" y="3948860"/>
            <a:ext cx="571500" cy="571500"/>
          </a:xfrm>
          <a:prstGeom prst="ellipse">
            <a:avLst/>
          </a:prstGeom>
          <a:solidFill>
            <a:srgbClr val="1F2937"/>
          </a:solidFill>
          <a:ln w="50800">
            <a:solidFill>
              <a:srgbClr val="FFFFFF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7"/>
          <p:cNvSpPr txBox="1"/>
          <p:nvPr/>
        </p:nvSpPr>
        <p:spPr>
          <a:xfrm>
            <a:off x="5975604" y="4091506"/>
            <a:ext cx="3246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10394899" y="1619883"/>
            <a:ext cx="1800454" cy="30449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/>
          <p:cNvSpPr txBox="1"/>
          <p:nvPr/>
        </p:nvSpPr>
        <p:spPr>
          <a:xfrm>
            <a:off x="10547604" y="1686634"/>
            <a:ext cx="1571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RECOMMENDED STRATEGY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6553505" y="2115488"/>
            <a:ext cx="809244" cy="228600"/>
          </a:xfrm>
          <a:prstGeom prst="roundRect">
            <a:avLst>
              <a:gd name="adj" fmla="val 66667"/>
            </a:avLst>
          </a:prstGeom>
          <a:solidFill>
            <a:srgbClr val="BFDB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1"/>
          <p:cNvSpPr txBox="1"/>
          <p:nvPr/>
        </p:nvSpPr>
        <p:spPr>
          <a:xfrm>
            <a:off x="7473391" y="2077083"/>
            <a:ext cx="224485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자동화/내재화 모델</a:t>
            </a:r>
            <a:endParaRPr lang="en-US" sz="1800" dirty="0"/>
          </a:p>
        </p:txBody>
      </p:sp>
      <p:sp>
        <p:nvSpPr>
          <p:cNvPr id="38" name="Shape 32"/>
          <p:cNvSpPr/>
          <p:nvPr/>
        </p:nvSpPr>
        <p:spPr>
          <a:xfrm>
            <a:off x="6553505" y="2953993"/>
            <a:ext cx="5181905" cy="1086307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3"/>
          <p:cNvSpPr/>
          <p:nvPr/>
        </p:nvSpPr>
        <p:spPr>
          <a:xfrm>
            <a:off x="6553505" y="2953993"/>
            <a:ext cx="38405" cy="108630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4"/>
          <p:cNvSpPr txBox="1"/>
          <p:nvPr/>
        </p:nvSpPr>
        <p:spPr>
          <a:xfrm>
            <a:off x="6705295" y="3658995"/>
            <a:ext cx="4800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상용($58)+GPU($41)</a:t>
            </a:r>
            <a:endParaRPr 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6667805" y="2143834"/>
            <a:ext cx="657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OPTION B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6819595" y="3353586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예상 비용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10137038" y="3124986"/>
            <a:ext cx="114757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~$100</a:t>
            </a:r>
            <a:endParaRPr lang="en-US" sz="2700" dirty="0"/>
          </a:p>
        </p:txBody>
      </p:sp>
      <p:sp>
        <p:nvSpPr>
          <p:cNvPr id="44" name="Text 38"/>
          <p:cNvSpPr txBox="1"/>
          <p:nvPr/>
        </p:nvSpPr>
        <p:spPr>
          <a:xfrm>
            <a:off x="11205058" y="3325239"/>
            <a:ext cx="305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/월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553505" y="2534283"/>
            <a:ext cx="5372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D4ED8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하이브리드(20초 상용 + 자체 렌더링)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6553505" y="4878805"/>
            <a:ext cx="5181905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1"/>
          <p:cNvSpPr txBox="1"/>
          <p:nvPr/>
        </p:nvSpPr>
        <p:spPr>
          <a:xfrm>
            <a:off x="6553505" y="4573395"/>
            <a:ext cx="5372100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특징</a:t>
            </a:r>
            <a:endParaRPr lang="en-US" sz="12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6553505" y="5078144"/>
            <a:ext cx="133502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6801307" y="5229934"/>
            <a:ext cx="280263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시간 단위 비용으로 대량 생산 시 단가 하락</a:t>
            </a:r>
            <a:endParaRPr lang="en-US" sz="9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53505" y="5572834"/>
            <a:ext cx="152705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6819595" y="5725539"/>
            <a:ext cx="2627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캐릭터/모션/배경 캐싱을 통해 중복 생성 방지</a:t>
            </a:r>
            <a:endParaRPr lang="en-US" sz="9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6553505" y="6068439"/>
            <a:ext cx="171907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838798" y="6221144"/>
            <a:ext cx="28867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구축 및 운영 노하우 필요 (초기 투자)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6801307" y="5039739"/>
            <a:ext cx="20409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고정비화 (Predictable Cost)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6819595" y="5535344"/>
            <a:ext cx="18251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 재사용 (Reusability)</a:t>
            </a:r>
            <a:endParaRPr lang="en-US" sz="1000" dirty="0"/>
          </a:p>
        </p:txBody>
      </p:sp>
      <p:sp>
        <p:nvSpPr>
          <p:cNvPr id="56" name="Text 47"/>
          <p:cNvSpPr txBox="1"/>
          <p:nvPr/>
        </p:nvSpPr>
        <p:spPr>
          <a:xfrm>
            <a:off x="6838798" y="6030034"/>
            <a:ext cx="10250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구축 필요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609905"/>
            <a:ext cx="20820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ALTERNATIVE SOLUTIONS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09905" y="875995"/>
            <a:ext cx="761695" cy="38405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143000"/>
            <a:ext cx="112782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 최소화와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재사용 극대화 전략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590495"/>
            <a:ext cx="35817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프레임을 생성하는 대신,</a:t>
            </a: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"꼭 필요한 부분만 생성하고 나머지는 기술로 채우는"</a:t>
            </a: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파이프라인이 핵심입니다.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905" y="3748126"/>
            <a:ext cx="3504895" cy="125730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09905" y="3748126"/>
            <a:ext cx="38405" cy="12573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75995" y="3976726"/>
            <a:ext cx="3124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STRATEGY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75995" y="4243730"/>
            <a:ext cx="470550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"생성하지 않는 것이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저렴하고 일관된 생성입니다."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05" y="5934456"/>
            <a:ext cx="133502" cy="13350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19302" y="5905195"/>
            <a:ext cx="17346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Optimization 2026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305349" y="3057754"/>
            <a:ext cx="750356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이미지를 레이어(인물/배경)로 분리하고 깊이감을 부여. 눈/입/고개 등 부분 움직임만 리깅으로 처리해 생성 비용 0.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988509" y="2733574"/>
            <a:ext cx="7010705" cy="1000354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5150358" y="304081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55514" y="3145054"/>
            <a:ext cx="171907" cy="17190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721858" y="2895423"/>
            <a:ext cx="63057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키프레임 생성 + 프레임 보간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785408" y="3176729"/>
            <a:ext cx="752002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프레임을 모두 생성하지 않고, 시작/끝 키프레임 사이를 보간(Interpolation) 기술로 채워 GPU 부하 최소화.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988509" y="3842741"/>
            <a:ext cx="7010705" cy="819302"/>
          </a:xfrm>
          <a:prstGeom prst="roundRect">
            <a:avLst>
              <a:gd name="adj" fmla="val 103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5150358" y="4058539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5245455" y="4163695"/>
            <a:ext cx="190195" cy="17190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721858" y="4005504"/>
            <a:ext cx="62298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(Hero Shots Only)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5721858" y="4309999"/>
            <a:ext cx="67354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영상이 아닌, 임팩트가 필요한 고난도 액션 컷(전체의 10% 미만)에만 고비용 상용 모델 선별 적용.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988509" y="4738420"/>
            <a:ext cx="7010705" cy="819302"/>
          </a:xfrm>
          <a:prstGeom prst="roundRect">
            <a:avLst>
              <a:gd name="adj" fmla="val 103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4"/>
          <p:cNvSpPr/>
          <p:nvPr/>
        </p:nvSpPr>
        <p:spPr>
          <a:xfrm>
            <a:off x="5150358" y="4954219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rcRect l="-1064" r="-1064"/>
          <a:stretch/>
        </p:blipFill>
        <p:spPr>
          <a:xfrm>
            <a:off x="5231739" y="5059375"/>
            <a:ext cx="219456" cy="171907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721858" y="4901183"/>
            <a:ext cx="62298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운영 (Cache &amp; Batch)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5721858" y="5205679"/>
            <a:ext cx="63514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컷/캐릭터는 재생성 금지(캐싱). 급하지 않은 작업은 야간 배치로 돌려 GPU 유휴 자원 활용.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988509" y="5664707"/>
            <a:ext cx="7010705" cy="819302"/>
          </a:xfrm>
          <a:prstGeom prst="roundRect">
            <a:avLst>
              <a:gd name="adj" fmla="val 103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8"/>
          <p:cNvSpPr/>
          <p:nvPr/>
        </p:nvSpPr>
        <p:spPr>
          <a:xfrm>
            <a:off x="5150358" y="588050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55514" y="5985662"/>
            <a:ext cx="171907" cy="171907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5721858" y="5827471"/>
            <a:ext cx="62298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자산화 (Asset Library)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5721858" y="6131966"/>
            <a:ext cx="6305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배경, 말풍선, 모션 템플릿(걷기, 끄덕임)을 라이브러리화하여 반복 작업 없이 즉시 호출.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85251"/>
            <a:ext cx="15151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BREAKDOWN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09905" y="351341"/>
            <a:ext cx="761695" cy="38405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633336"/>
            <a:ext cx="111639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상세 분석</a:t>
            </a:r>
            <a:endParaRPr lang="en-US" sz="36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(월 30편, 편당 3분 기준)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09905" y="1558036"/>
            <a:ext cx="4401007" cy="5257800"/>
          </a:xfrm>
          <a:prstGeom prst="roundRect">
            <a:avLst>
              <a:gd name="adj" fmla="val 720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923544" y="1871675"/>
            <a:ext cx="1463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비중 분석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84732" y="2148738"/>
            <a:ext cx="3047695" cy="30476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264054" y="3329229"/>
            <a:ext cx="10908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98%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2264054" y="3824833"/>
            <a:ext cx="10908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생성 비용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076249" y="5539333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266444" y="5500929"/>
            <a:ext cx="15416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생성 (Video Gen)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889858" y="5500929"/>
            <a:ext cx="7973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지배적 비용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076249" y="5806338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1266444" y="5767933"/>
            <a:ext cx="10661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합성 (TTS)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012387" y="5767933"/>
            <a:ext cx="65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극소 비용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76249" y="6072429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66444" y="6034938"/>
            <a:ext cx="773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자막/타이밍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012387" y="6034938"/>
            <a:ext cx="65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무시 가능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64454" y="1558036"/>
            <a:ext cx="6124651" cy="12188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5464454" y="1558036"/>
            <a:ext cx="75895" cy="1218895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 l="-266" r="-266"/>
          <a:stretch/>
        </p:blipFill>
        <p:spPr>
          <a:xfrm>
            <a:off x="5912510" y="2024380"/>
            <a:ext cx="323698" cy="286207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9827057" y="1786636"/>
            <a:ext cx="9144" cy="761695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6531559" y="1786636"/>
            <a:ext cx="3182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 Cost Driver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6531559" y="2015236"/>
            <a:ext cx="32580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생성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6531559" y="2358136"/>
            <a:ext cx="3258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초당 과금 모델 사용 시 비용 폭발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10676534" y="1881733"/>
            <a:ext cx="762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</a:t>
            </a:r>
            <a:endParaRPr lang="en-US" sz="2200" dirty="0"/>
          </a:p>
        </p:txBody>
      </p:sp>
      <p:sp>
        <p:nvSpPr>
          <p:cNvPr id="29" name="Text 25"/>
          <p:cNvSpPr txBox="1"/>
          <p:nvPr/>
        </p:nvSpPr>
        <p:spPr>
          <a:xfrm>
            <a:off x="10691165" y="2252980"/>
            <a:ext cx="7808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변동비 리스크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5464454" y="2929636"/>
            <a:ext cx="6124651" cy="12188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7"/>
          <p:cNvSpPr/>
          <p:nvPr/>
        </p:nvSpPr>
        <p:spPr>
          <a:xfrm>
            <a:off x="5464454" y="2929636"/>
            <a:ext cx="75895" cy="121889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rcRect l="-1118" r="-1118"/>
          <a:stretch/>
        </p:blipFill>
        <p:spPr>
          <a:xfrm>
            <a:off x="5964631" y="3395980"/>
            <a:ext cx="219456" cy="286207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9827057" y="3158236"/>
            <a:ext cx="9144" cy="761695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 txBox="1"/>
          <p:nvPr/>
        </p:nvSpPr>
        <p:spPr>
          <a:xfrm>
            <a:off x="6531559" y="3158236"/>
            <a:ext cx="3182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Affordable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6531559" y="3386836"/>
            <a:ext cx="31821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음성(TTS)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6531559" y="3729736"/>
            <a:ext cx="3182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90,000자(30편) 기준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10556748" y="3253333"/>
            <a:ext cx="9180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$1.35</a:t>
            </a:r>
            <a:endParaRPr lang="en-US" sz="2200" dirty="0"/>
          </a:p>
        </p:txBody>
      </p:sp>
      <p:sp>
        <p:nvSpPr>
          <p:cNvPr id="38" name="Text 33"/>
          <p:cNvSpPr txBox="1"/>
          <p:nvPr/>
        </p:nvSpPr>
        <p:spPr>
          <a:xfrm>
            <a:off x="10764317" y="3624580"/>
            <a:ext cx="73334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예상 비용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5464454" y="4301236"/>
            <a:ext cx="6124651" cy="12188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5"/>
          <p:cNvSpPr/>
          <p:nvPr/>
        </p:nvSpPr>
        <p:spPr>
          <a:xfrm>
            <a:off x="5464454" y="4301236"/>
            <a:ext cx="75895" cy="1218895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rcRect l="-266" r="-266"/>
          <a:stretch/>
        </p:blipFill>
        <p:spPr>
          <a:xfrm>
            <a:off x="5912510" y="4767580"/>
            <a:ext cx="323698" cy="286207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9827057" y="4529836"/>
            <a:ext cx="9144" cy="761695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7"/>
          <p:cNvSpPr txBox="1"/>
          <p:nvPr/>
        </p:nvSpPr>
        <p:spPr>
          <a:xfrm>
            <a:off x="6531559" y="4529836"/>
            <a:ext cx="3182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Negligible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6531559" y="4758436"/>
            <a:ext cx="32580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자막/타이밍</a:t>
            </a:r>
            <a:endParaRPr lang="en-US" sz="1800" dirty="0"/>
          </a:p>
        </p:txBody>
      </p:sp>
      <p:sp>
        <p:nvSpPr>
          <p:cNvPr id="45" name="Text 39"/>
          <p:cNvSpPr txBox="1"/>
          <p:nvPr/>
        </p:nvSpPr>
        <p:spPr>
          <a:xfrm>
            <a:off x="6531559" y="5101336"/>
            <a:ext cx="3182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Whisper API 또는 강제정렬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10382098" y="4624933"/>
            <a:ext cx="110276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~$0.54</a:t>
            </a:r>
            <a:endParaRPr lang="en-US" sz="2200" dirty="0"/>
          </a:p>
        </p:txBody>
      </p:sp>
      <p:sp>
        <p:nvSpPr>
          <p:cNvPr id="47" name="Text 41"/>
          <p:cNvSpPr txBox="1"/>
          <p:nvPr/>
        </p:nvSpPr>
        <p:spPr>
          <a:xfrm>
            <a:off x="10764317" y="4996180"/>
            <a:ext cx="73334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예상 비용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5464454" y="5672836"/>
            <a:ext cx="6124651" cy="1143000"/>
          </a:xfrm>
          <a:prstGeom prst="roundRect">
            <a:avLst>
              <a:gd name="adj" fmla="val 5333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5693054" y="6130036"/>
            <a:ext cx="171907" cy="228600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6016752" y="5901436"/>
            <a:ext cx="5458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Strategic Insight</a:t>
            </a:r>
            <a:endParaRPr lang="en-US" sz="1300" dirty="0"/>
          </a:p>
        </p:txBody>
      </p:sp>
      <p:sp>
        <p:nvSpPr>
          <p:cNvPr id="51" name="Text 44"/>
          <p:cNvSpPr txBox="1"/>
          <p:nvPr/>
        </p:nvSpPr>
        <p:spPr>
          <a:xfrm>
            <a:off x="6016752" y="6399885"/>
            <a:ext cx="74715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비용의 95% 이상이 영상에서 발생하므로,</a:t>
            </a: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구간을 정적 이미지+보간으로 </a:t>
            </a:r>
            <a:r>
              <a:rPr lang="en-US" sz="10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대체</a:t>
            </a:r>
            <a:r>
              <a:rPr lang="en-US" sz="10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할수록</a:t>
            </a: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비용은</a:t>
            </a: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급격히 감소합니다.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609905"/>
            <a:ext cx="18827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AUTOMATION PIPELINE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09905" y="875995"/>
            <a:ext cx="761695" cy="3840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143000"/>
            <a:ext cx="112782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웹툰 to 비디오</a:t>
            </a:r>
            <a:r>
              <a:rPr lang="en-US" sz="27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파이프라인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1144829" y="3215030"/>
            <a:ext cx="1010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45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 SOURCE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79038" y="2104949"/>
            <a:ext cx="11859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45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ANALYSIS &amp; PREP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79999" y="2104949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45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GENERATION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2104949"/>
            <a:ext cx="1467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45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COMPOSITE &amp; RENDER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215677" y="3215030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DELIVERY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51376" y="5848502"/>
            <a:ext cx="3895344" cy="323698"/>
          </a:xfrm>
          <a:prstGeom prst="roundRect">
            <a:avLst>
              <a:gd name="adj" fmla="val 282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313225" y="5583326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4519713" y="5911596"/>
            <a:ext cx="1590307" cy="13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자동화/저비용 구간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50992" y="5583326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5841187" y="5554980"/>
            <a:ext cx="8513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처리 구간</a:t>
            </a:r>
            <a:endParaRPr lang="en-US" sz="9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 l="-2571" r="-2571"/>
          <a:stretch/>
        </p:blipFill>
        <p:spPr>
          <a:xfrm>
            <a:off x="6764731" y="5583326"/>
            <a:ext cx="105156" cy="1143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374961" y="5919292"/>
            <a:ext cx="1671759" cy="13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배치 처리 대상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468880" y="3541471"/>
            <a:ext cx="533095" cy="19202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4602175" y="3541471"/>
            <a:ext cx="533095" cy="19202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6736385" y="3541471"/>
            <a:ext cx="533095" cy="19202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8869680" y="3541471"/>
            <a:ext cx="533095" cy="19202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48940" y="4100170"/>
            <a:ext cx="66751" cy="133502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761695" y="3461918"/>
            <a:ext cx="1772107" cy="1524305"/>
          </a:xfrm>
          <a:prstGeom prst="roundRect">
            <a:avLst>
              <a:gd name="adj" fmla="val 1500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4"/>
          <p:cNvSpPr txBox="1"/>
          <p:nvPr/>
        </p:nvSpPr>
        <p:spPr>
          <a:xfrm>
            <a:off x="875995" y="4201668"/>
            <a:ext cx="15435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웹툰 이미지</a:t>
            </a:r>
            <a:endParaRPr lang="en-US" sz="1300" dirty="0"/>
          </a:p>
        </p:txBody>
      </p:sp>
      <p:sp>
        <p:nvSpPr>
          <p:cNvPr id="35" name="Text 25"/>
          <p:cNvSpPr txBox="1"/>
          <p:nvPr/>
        </p:nvSpPr>
        <p:spPr>
          <a:xfrm>
            <a:off x="895198" y="4535899"/>
            <a:ext cx="1505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대본(Script)</a:t>
            </a:r>
            <a:endParaRPr lang="en-US" sz="9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5"/>
          <a:srcRect l="-266" r="-266"/>
          <a:stretch/>
        </p:blipFill>
        <p:spPr>
          <a:xfrm>
            <a:off x="1484071" y="3790188"/>
            <a:ext cx="323698" cy="286207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2987345" y="2505456"/>
            <a:ext cx="1772107" cy="1571854"/>
          </a:xfrm>
          <a:prstGeom prst="roundRect">
            <a:avLst>
              <a:gd name="adj" fmla="val 1410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7"/>
          <p:cNvSpPr/>
          <p:nvPr/>
        </p:nvSpPr>
        <p:spPr>
          <a:xfrm>
            <a:off x="3158338" y="2888590"/>
            <a:ext cx="295351" cy="190195"/>
          </a:xfrm>
          <a:prstGeom prst="roundRect">
            <a:avLst>
              <a:gd name="adj" fmla="val 96154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8"/>
          <p:cNvSpPr txBox="1"/>
          <p:nvPr/>
        </p:nvSpPr>
        <p:spPr>
          <a:xfrm>
            <a:off x="3522269" y="2888590"/>
            <a:ext cx="65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 분석</a:t>
            </a:r>
            <a:endParaRPr lang="en-US" sz="1000" dirty="0"/>
          </a:p>
        </p:txBody>
      </p:sp>
      <p:sp>
        <p:nvSpPr>
          <p:cNvPr id="40" name="Text 29"/>
          <p:cNvSpPr txBox="1"/>
          <p:nvPr/>
        </p:nvSpPr>
        <p:spPr>
          <a:xfrm>
            <a:off x="3234233" y="2897734"/>
            <a:ext cx="219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900" dirty="0"/>
          </a:p>
        </p:txBody>
      </p:sp>
      <p:sp>
        <p:nvSpPr>
          <p:cNvPr id="41" name="Text 30"/>
          <p:cNvSpPr txBox="1"/>
          <p:nvPr/>
        </p:nvSpPr>
        <p:spPr>
          <a:xfrm>
            <a:off x="3196742" y="3145536"/>
            <a:ext cx="81655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컷(Cut) 분리</a:t>
            </a:r>
            <a:endParaRPr lang="en-US" sz="900" dirty="0"/>
          </a:p>
        </p:txBody>
      </p:sp>
      <p:sp>
        <p:nvSpPr>
          <p:cNvPr id="42" name="Text 31"/>
          <p:cNvSpPr txBox="1"/>
          <p:nvPr/>
        </p:nvSpPr>
        <p:spPr>
          <a:xfrm>
            <a:off x="3196742" y="3335731"/>
            <a:ext cx="111373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대사/말풍선 추출</a:t>
            </a:r>
            <a:endParaRPr lang="en-US" sz="900" dirty="0"/>
          </a:p>
        </p:txBody>
      </p:sp>
      <p:sp>
        <p:nvSpPr>
          <p:cNvPr id="43" name="Text 32"/>
          <p:cNvSpPr txBox="1"/>
          <p:nvPr/>
        </p:nvSpPr>
        <p:spPr>
          <a:xfrm>
            <a:off x="3196742" y="3526841"/>
            <a:ext cx="11795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화자 식별 (ID 부여)</a:t>
            </a:r>
            <a:endParaRPr lang="en-US" sz="900" dirty="0"/>
          </a:p>
        </p:txBody>
      </p:sp>
      <p:sp>
        <p:nvSpPr>
          <p:cNvPr id="44" name="Shape 33"/>
          <p:cNvSpPr/>
          <p:nvPr/>
        </p:nvSpPr>
        <p:spPr>
          <a:xfrm>
            <a:off x="2987345" y="4159605"/>
            <a:ext cx="1772107" cy="1571854"/>
          </a:xfrm>
          <a:prstGeom prst="roundRect">
            <a:avLst>
              <a:gd name="adj" fmla="val 1410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4"/>
          <p:cNvSpPr/>
          <p:nvPr/>
        </p:nvSpPr>
        <p:spPr>
          <a:xfrm>
            <a:off x="3158338" y="4542739"/>
            <a:ext cx="295351" cy="190195"/>
          </a:xfrm>
          <a:prstGeom prst="roundRect">
            <a:avLst>
              <a:gd name="adj" fmla="val 96154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5"/>
          <p:cNvSpPr txBox="1"/>
          <p:nvPr/>
        </p:nvSpPr>
        <p:spPr>
          <a:xfrm>
            <a:off x="3522269" y="4542739"/>
            <a:ext cx="7973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레이어 분리</a:t>
            </a:r>
            <a:endParaRPr lang="en-US" sz="1000" dirty="0"/>
          </a:p>
        </p:txBody>
      </p:sp>
      <p:sp>
        <p:nvSpPr>
          <p:cNvPr id="47" name="Text 36"/>
          <p:cNvSpPr txBox="1"/>
          <p:nvPr/>
        </p:nvSpPr>
        <p:spPr>
          <a:xfrm>
            <a:off x="3234233" y="4552797"/>
            <a:ext cx="219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900" dirty="0"/>
          </a:p>
        </p:txBody>
      </p:sp>
      <p:sp>
        <p:nvSpPr>
          <p:cNvPr id="48" name="Text 37"/>
          <p:cNvSpPr txBox="1"/>
          <p:nvPr/>
        </p:nvSpPr>
        <p:spPr>
          <a:xfrm>
            <a:off x="3196742" y="4800600"/>
            <a:ext cx="10094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인물 / 배경 분리</a:t>
            </a:r>
            <a:endParaRPr lang="en-US" sz="900" dirty="0"/>
          </a:p>
        </p:txBody>
      </p:sp>
      <p:sp>
        <p:nvSpPr>
          <p:cNvPr id="49" name="Text 38"/>
          <p:cNvSpPr txBox="1"/>
          <p:nvPr/>
        </p:nvSpPr>
        <p:spPr>
          <a:xfrm>
            <a:off x="3196742" y="4990795"/>
            <a:ext cx="15307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Inpainting (빈공간 채움)</a:t>
            </a:r>
            <a:endParaRPr lang="en-US" sz="900" dirty="0"/>
          </a:p>
        </p:txBody>
      </p:sp>
      <p:sp>
        <p:nvSpPr>
          <p:cNvPr id="50" name="Text 39"/>
          <p:cNvSpPr txBox="1"/>
          <p:nvPr/>
        </p:nvSpPr>
        <p:spPr>
          <a:xfrm>
            <a:off x="3196742" y="5180990"/>
            <a:ext cx="124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900" dirty="0"/>
          </a:p>
        </p:txBody>
      </p:sp>
      <p:sp>
        <p:nvSpPr>
          <p:cNvPr id="51" name="Text 40"/>
          <p:cNvSpPr txBox="1"/>
          <p:nvPr/>
        </p:nvSpPr>
        <p:spPr>
          <a:xfrm>
            <a:off x="3235147" y="5180990"/>
            <a:ext cx="6958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Depth Map</a:t>
            </a:r>
            <a:endParaRPr lang="en-US" sz="900" dirty="0"/>
          </a:p>
        </p:txBody>
      </p:sp>
      <p:sp>
        <p:nvSpPr>
          <p:cNvPr id="52" name="Text 41"/>
          <p:cNvSpPr txBox="1"/>
          <p:nvPr/>
        </p:nvSpPr>
        <p:spPr>
          <a:xfrm>
            <a:off x="3845052" y="5180990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5212080" y="2505456"/>
            <a:ext cx="1772107" cy="1571854"/>
          </a:xfrm>
          <a:prstGeom prst="roundRect">
            <a:avLst>
              <a:gd name="adj" fmla="val 1410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3"/>
          <p:cNvSpPr/>
          <p:nvPr/>
        </p:nvSpPr>
        <p:spPr>
          <a:xfrm>
            <a:off x="5383073" y="2774290"/>
            <a:ext cx="295351" cy="190195"/>
          </a:xfrm>
          <a:prstGeom prst="roundRect">
            <a:avLst>
              <a:gd name="adj" fmla="val 96154"/>
            </a:avLst>
          </a:prstGeom>
          <a:solidFill>
            <a:srgbClr val="BFDB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4"/>
          <p:cNvSpPr txBox="1"/>
          <p:nvPr/>
        </p:nvSpPr>
        <p:spPr>
          <a:xfrm>
            <a:off x="5747004" y="2774290"/>
            <a:ext cx="8311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모션</a:t>
            </a:r>
            <a:r>
              <a:rPr lang="en-US" sz="10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000" dirty="0"/>
          </a:p>
        </p:txBody>
      </p:sp>
      <p:sp>
        <p:nvSpPr>
          <p:cNvPr id="56" name="Text 45"/>
          <p:cNvSpPr txBox="1"/>
          <p:nvPr/>
        </p:nvSpPr>
        <p:spPr>
          <a:xfrm>
            <a:off x="5383073" y="3041294"/>
            <a:ext cx="1543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절감의 핵심 구간</a:t>
            </a:r>
            <a:endParaRPr lang="en-US" sz="900" dirty="0"/>
          </a:p>
        </p:txBody>
      </p:sp>
      <p:sp>
        <p:nvSpPr>
          <p:cNvPr id="57" name="Text 46"/>
          <p:cNvSpPr txBox="1"/>
          <p:nvPr/>
        </p:nvSpPr>
        <p:spPr>
          <a:xfrm>
            <a:off x="5459882" y="2783434"/>
            <a:ext cx="219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900" dirty="0"/>
          </a:p>
        </p:txBody>
      </p:sp>
      <p:sp>
        <p:nvSpPr>
          <p:cNvPr id="58" name="Text 47"/>
          <p:cNvSpPr txBox="1"/>
          <p:nvPr/>
        </p:nvSpPr>
        <p:spPr>
          <a:xfrm>
            <a:off x="5421478" y="3259836"/>
            <a:ext cx="10771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2.5D 카메라 무빙</a:t>
            </a:r>
            <a:endParaRPr lang="en-US" sz="900" dirty="0"/>
          </a:p>
        </p:txBody>
      </p:sp>
      <p:sp>
        <p:nvSpPr>
          <p:cNvPr id="59" name="Text 48"/>
          <p:cNvSpPr txBox="1"/>
          <p:nvPr/>
        </p:nvSpPr>
        <p:spPr>
          <a:xfrm>
            <a:off x="5421478" y="3450031"/>
            <a:ext cx="68854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표정/고개</a:t>
            </a:r>
            <a:endParaRPr lang="en-US" sz="900" dirty="0"/>
          </a:p>
        </p:txBody>
      </p:sp>
      <p:sp>
        <p:nvSpPr>
          <p:cNvPr id="60" name="Text 49"/>
          <p:cNvSpPr txBox="1"/>
          <p:nvPr/>
        </p:nvSpPr>
        <p:spPr>
          <a:xfrm>
            <a:off x="5958230" y="3450031"/>
            <a:ext cx="68305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적용</a:t>
            </a:r>
            <a:endParaRPr lang="en-US" sz="900" dirty="0"/>
          </a:p>
        </p:txBody>
      </p:sp>
      <p:sp>
        <p:nvSpPr>
          <p:cNvPr id="61" name="Text 50"/>
          <p:cNvSpPr txBox="1"/>
          <p:nvPr/>
        </p:nvSpPr>
        <p:spPr>
          <a:xfrm>
            <a:off x="5421478" y="3641141"/>
            <a:ext cx="106619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부분 리깅 (눈/입)</a:t>
            </a:r>
            <a:endParaRPr lang="en-US" sz="900" dirty="0"/>
          </a:p>
        </p:txBody>
      </p:sp>
      <p:sp>
        <p:nvSpPr>
          <p:cNvPr id="62" name="Shape 51"/>
          <p:cNvSpPr/>
          <p:nvPr/>
        </p:nvSpPr>
        <p:spPr>
          <a:xfrm>
            <a:off x="5212080" y="4159605"/>
            <a:ext cx="1772107" cy="1571854"/>
          </a:xfrm>
          <a:prstGeom prst="roundRect">
            <a:avLst>
              <a:gd name="adj" fmla="val 1410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52"/>
          <p:cNvSpPr/>
          <p:nvPr/>
        </p:nvSpPr>
        <p:spPr>
          <a:xfrm>
            <a:off x="5383073" y="4542739"/>
            <a:ext cx="295351" cy="190195"/>
          </a:xfrm>
          <a:prstGeom prst="roundRect">
            <a:avLst>
              <a:gd name="adj" fmla="val 96154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3"/>
          <p:cNvSpPr txBox="1"/>
          <p:nvPr/>
        </p:nvSpPr>
        <p:spPr>
          <a:xfrm>
            <a:off x="5747004" y="4542739"/>
            <a:ext cx="8311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보간 &amp; 생성</a:t>
            </a:r>
            <a:endParaRPr lang="en-US" sz="1000" dirty="0"/>
          </a:p>
        </p:txBody>
      </p:sp>
      <p:sp>
        <p:nvSpPr>
          <p:cNvPr id="65" name="Text 54"/>
          <p:cNvSpPr txBox="1"/>
          <p:nvPr/>
        </p:nvSpPr>
        <p:spPr>
          <a:xfrm>
            <a:off x="5459882" y="4552797"/>
            <a:ext cx="219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900" dirty="0"/>
          </a:p>
        </p:txBody>
      </p:sp>
      <p:sp>
        <p:nvSpPr>
          <p:cNvPr id="66" name="Text 55"/>
          <p:cNvSpPr txBox="1"/>
          <p:nvPr/>
        </p:nvSpPr>
        <p:spPr>
          <a:xfrm>
            <a:off x="5421478" y="4800600"/>
            <a:ext cx="92354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키프레임 보정</a:t>
            </a:r>
            <a:endParaRPr lang="en-US" sz="900" dirty="0"/>
          </a:p>
        </p:txBody>
      </p:sp>
      <p:sp>
        <p:nvSpPr>
          <p:cNvPr id="67" name="Text 56"/>
          <p:cNvSpPr txBox="1"/>
          <p:nvPr/>
        </p:nvSpPr>
        <p:spPr>
          <a:xfrm>
            <a:off x="5421478" y="4990795"/>
            <a:ext cx="124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900" dirty="0"/>
          </a:p>
        </p:txBody>
      </p:sp>
      <p:sp>
        <p:nvSpPr>
          <p:cNvPr id="68" name="Text 57"/>
          <p:cNvSpPr txBox="1"/>
          <p:nvPr/>
        </p:nvSpPr>
        <p:spPr>
          <a:xfrm>
            <a:off x="5460797" y="4990795"/>
            <a:ext cx="68305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 보간</a:t>
            </a:r>
            <a:endParaRPr lang="en-US" sz="900" dirty="0"/>
          </a:p>
        </p:txBody>
      </p:sp>
      <p:sp>
        <p:nvSpPr>
          <p:cNvPr id="69" name="Text 58"/>
          <p:cNvSpPr txBox="1"/>
          <p:nvPr/>
        </p:nvSpPr>
        <p:spPr>
          <a:xfrm>
            <a:off x="6018581" y="4990795"/>
            <a:ext cx="92994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(Interpolation)</a:t>
            </a:r>
            <a:endParaRPr lang="en-US" sz="900" dirty="0"/>
          </a:p>
        </p:txBody>
      </p:sp>
      <p:sp>
        <p:nvSpPr>
          <p:cNvPr id="70" name="Text 59"/>
          <p:cNvSpPr txBox="1"/>
          <p:nvPr/>
        </p:nvSpPr>
        <p:spPr>
          <a:xfrm>
            <a:off x="5421478" y="5180990"/>
            <a:ext cx="14173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립싱크 생성 (Wav2Lip)</a:t>
            </a:r>
            <a:endParaRPr lang="en-US" sz="900" dirty="0"/>
          </a:p>
        </p:txBody>
      </p:sp>
      <p:sp>
        <p:nvSpPr>
          <p:cNvPr id="71" name="Shape 60"/>
          <p:cNvSpPr/>
          <p:nvPr/>
        </p:nvSpPr>
        <p:spPr>
          <a:xfrm>
            <a:off x="7436815" y="2505456"/>
            <a:ext cx="1772107" cy="1571854"/>
          </a:xfrm>
          <a:prstGeom prst="roundRect">
            <a:avLst>
              <a:gd name="adj" fmla="val 1410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61"/>
          <p:cNvSpPr/>
          <p:nvPr/>
        </p:nvSpPr>
        <p:spPr>
          <a:xfrm>
            <a:off x="7608722" y="2888590"/>
            <a:ext cx="295351" cy="190195"/>
          </a:xfrm>
          <a:prstGeom prst="roundRect">
            <a:avLst>
              <a:gd name="adj" fmla="val 96154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62"/>
          <p:cNvSpPr txBox="1"/>
          <p:nvPr/>
        </p:nvSpPr>
        <p:spPr>
          <a:xfrm>
            <a:off x="7971739" y="2888590"/>
            <a:ext cx="7982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오디오/자막</a:t>
            </a:r>
            <a:endParaRPr lang="en-US" sz="1000" dirty="0"/>
          </a:p>
        </p:txBody>
      </p:sp>
      <p:sp>
        <p:nvSpPr>
          <p:cNvPr id="74" name="Text 63"/>
          <p:cNvSpPr txBox="1"/>
          <p:nvPr/>
        </p:nvSpPr>
        <p:spPr>
          <a:xfrm>
            <a:off x="7684618" y="2897734"/>
            <a:ext cx="219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900" dirty="0"/>
          </a:p>
        </p:txBody>
      </p:sp>
      <p:sp>
        <p:nvSpPr>
          <p:cNvPr id="75" name="Text 64"/>
          <p:cNvSpPr txBox="1"/>
          <p:nvPr/>
        </p:nvSpPr>
        <p:spPr>
          <a:xfrm>
            <a:off x="7646213" y="3145536"/>
            <a:ext cx="90708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TTS 음성 합성</a:t>
            </a:r>
            <a:endParaRPr lang="en-US" sz="900" dirty="0"/>
          </a:p>
        </p:txBody>
      </p:sp>
      <p:sp>
        <p:nvSpPr>
          <p:cNvPr id="76" name="Text 65"/>
          <p:cNvSpPr txBox="1"/>
          <p:nvPr/>
        </p:nvSpPr>
        <p:spPr>
          <a:xfrm>
            <a:off x="7646213" y="3335731"/>
            <a:ext cx="10094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자막 싱크 (SRT)</a:t>
            </a:r>
            <a:endParaRPr lang="en-US" sz="900" dirty="0"/>
          </a:p>
        </p:txBody>
      </p:sp>
      <p:sp>
        <p:nvSpPr>
          <p:cNvPr id="77" name="Text 66"/>
          <p:cNvSpPr txBox="1"/>
          <p:nvPr/>
        </p:nvSpPr>
        <p:spPr>
          <a:xfrm>
            <a:off x="7646213" y="3526841"/>
            <a:ext cx="11795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BGM / 효과음 믹싱</a:t>
            </a:r>
            <a:endParaRPr lang="en-US" sz="900" dirty="0"/>
          </a:p>
        </p:txBody>
      </p:sp>
      <p:sp>
        <p:nvSpPr>
          <p:cNvPr id="78" name="Shape 67"/>
          <p:cNvSpPr/>
          <p:nvPr/>
        </p:nvSpPr>
        <p:spPr>
          <a:xfrm>
            <a:off x="7436815" y="4159605"/>
            <a:ext cx="1772107" cy="1571854"/>
          </a:xfrm>
          <a:prstGeom prst="roundRect">
            <a:avLst>
              <a:gd name="adj" fmla="val 1410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68"/>
          <p:cNvSpPr/>
          <p:nvPr/>
        </p:nvSpPr>
        <p:spPr>
          <a:xfrm>
            <a:off x="7608722" y="4542739"/>
            <a:ext cx="295351" cy="190195"/>
          </a:xfrm>
          <a:prstGeom prst="roundRect">
            <a:avLst>
              <a:gd name="adj" fmla="val 96154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69"/>
          <p:cNvSpPr txBox="1"/>
          <p:nvPr/>
        </p:nvSpPr>
        <p:spPr>
          <a:xfrm>
            <a:off x="7971739" y="4542739"/>
            <a:ext cx="7973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렌더링</a:t>
            </a:r>
            <a:endParaRPr lang="en-US" sz="1000" dirty="0"/>
          </a:p>
        </p:txBody>
      </p:sp>
      <p:sp>
        <p:nvSpPr>
          <p:cNvPr id="81" name="Text 70"/>
          <p:cNvSpPr txBox="1"/>
          <p:nvPr/>
        </p:nvSpPr>
        <p:spPr>
          <a:xfrm>
            <a:off x="7684618" y="4552797"/>
            <a:ext cx="219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900" dirty="0"/>
          </a:p>
        </p:txBody>
      </p:sp>
      <p:sp>
        <p:nvSpPr>
          <p:cNvPr id="82" name="Text 71"/>
          <p:cNvSpPr txBox="1"/>
          <p:nvPr/>
        </p:nvSpPr>
        <p:spPr>
          <a:xfrm>
            <a:off x="7646213" y="4800600"/>
            <a:ext cx="8668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FFmpeg 병합</a:t>
            </a:r>
            <a:endParaRPr lang="en-US" sz="900" dirty="0"/>
          </a:p>
        </p:txBody>
      </p:sp>
      <p:sp>
        <p:nvSpPr>
          <p:cNvPr id="83" name="Text 72"/>
          <p:cNvSpPr txBox="1"/>
          <p:nvPr/>
        </p:nvSpPr>
        <p:spPr>
          <a:xfrm>
            <a:off x="7646213" y="4990795"/>
            <a:ext cx="1032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포맷 변환 (MP4)</a:t>
            </a:r>
            <a:endParaRPr lang="en-US" sz="900" dirty="0"/>
          </a:p>
        </p:txBody>
      </p:sp>
      <p:sp>
        <p:nvSpPr>
          <p:cNvPr id="84" name="Text 73"/>
          <p:cNvSpPr txBox="1"/>
          <p:nvPr/>
        </p:nvSpPr>
        <p:spPr>
          <a:xfrm>
            <a:off x="7646213" y="5180990"/>
            <a:ext cx="124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900" dirty="0"/>
          </a:p>
        </p:txBody>
      </p:sp>
      <p:sp>
        <p:nvSpPr>
          <p:cNvPr id="85" name="Text 74"/>
          <p:cNvSpPr txBox="1"/>
          <p:nvPr/>
        </p:nvSpPr>
        <p:spPr>
          <a:xfrm>
            <a:off x="7685532" y="5180990"/>
            <a:ext cx="56144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캐시 저장</a:t>
            </a:r>
            <a:endParaRPr lang="en-US" sz="900" dirty="0"/>
          </a:p>
        </p:txBody>
      </p:sp>
      <p:sp>
        <p:nvSpPr>
          <p:cNvPr id="86" name="Text 75"/>
          <p:cNvSpPr txBox="1"/>
          <p:nvPr/>
        </p:nvSpPr>
        <p:spPr>
          <a:xfrm>
            <a:off x="8138160" y="5180990"/>
            <a:ext cx="657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(Asset DB)</a:t>
            </a:r>
            <a:endParaRPr lang="en-US" sz="900" dirty="0"/>
          </a:p>
        </p:txBody>
      </p:sp>
      <p:sp>
        <p:nvSpPr>
          <p:cNvPr id="87" name="Shape 76"/>
          <p:cNvSpPr/>
          <p:nvPr/>
        </p:nvSpPr>
        <p:spPr>
          <a:xfrm>
            <a:off x="9662465" y="3461918"/>
            <a:ext cx="1772107" cy="1524305"/>
          </a:xfrm>
          <a:prstGeom prst="roundRect">
            <a:avLst>
              <a:gd name="adj" fmla="val 1500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77"/>
          <p:cNvSpPr txBox="1"/>
          <p:nvPr/>
        </p:nvSpPr>
        <p:spPr>
          <a:xfrm>
            <a:off x="9776765" y="4125773"/>
            <a:ext cx="15435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영상 파일</a:t>
            </a:r>
            <a:endParaRPr lang="en-US" sz="1300" dirty="0"/>
          </a:p>
        </p:txBody>
      </p:sp>
      <p:pic>
        <p:nvPicPr>
          <p:cNvPr id="89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403129" y="3713378"/>
            <a:ext cx="286207" cy="286207"/>
          </a:xfrm>
          <a:prstGeom prst="rect">
            <a:avLst/>
          </a:prstGeom>
        </p:spPr>
      </p:pic>
      <p:sp>
        <p:nvSpPr>
          <p:cNvPr id="90" name="Shape 78"/>
          <p:cNvSpPr/>
          <p:nvPr/>
        </p:nvSpPr>
        <p:spPr>
          <a:xfrm>
            <a:off x="10100462" y="4506163"/>
            <a:ext cx="895198" cy="228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1" name="Image 10" descr="preencoded.png"/>
          <p:cNvPicPr>
            <a:picLocks noChangeAspect="1"/>
          </p:cNvPicPr>
          <p:nvPr/>
        </p:nvPicPr>
        <p:blipFill>
          <a:blip r:embed="rId7"/>
          <a:srcRect t="-80" b="-80"/>
          <a:stretch/>
        </p:blipFill>
        <p:spPr>
          <a:xfrm>
            <a:off x="10176358" y="4568342"/>
            <a:ext cx="142646" cy="114300"/>
          </a:xfrm>
          <a:prstGeom prst="rect">
            <a:avLst/>
          </a:prstGeom>
        </p:spPr>
      </p:pic>
      <p:sp>
        <p:nvSpPr>
          <p:cNvPr id="92" name="Text 79"/>
          <p:cNvSpPr txBox="1"/>
          <p:nvPr/>
        </p:nvSpPr>
        <p:spPr>
          <a:xfrm>
            <a:off x="10307117" y="4535424"/>
            <a:ext cx="6629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배치 업로드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182394"/>
            <a:ext cx="2268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IMPLEMENTATION ROADMAP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09905" y="448484"/>
            <a:ext cx="761695" cy="3840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715489"/>
            <a:ext cx="112782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사업화</a:t>
            </a:r>
            <a:r>
              <a:rPr lang="en-US" sz="27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1220238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 파이프라인 구축부터 하이브리드 고도화까지의 단계별 실행 계획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1450134"/>
            <a:ext cx="3276295" cy="5067605"/>
          </a:xfrm>
          <a:prstGeom prst="roundRect">
            <a:avLst>
              <a:gd name="adj" fmla="val 9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19049" y="1459278"/>
            <a:ext cx="3258007" cy="1248156"/>
          </a:xfrm>
          <a:prstGeom prst="roundRect">
            <a:avLst>
              <a:gd name="adj" fmla="val 6711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19049" y="2698290"/>
            <a:ext cx="325800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3038551" y="1525115"/>
            <a:ext cx="8193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F2937">
                    <a:alpha val="1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847649" y="1707080"/>
            <a:ext cx="599846" cy="228600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923544" y="1735426"/>
            <a:ext cx="523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47649" y="2011575"/>
            <a:ext cx="291236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MVP &amp; 기본 구축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00354" y="2316985"/>
            <a:ext cx="275965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~ 4 Weeks</a:t>
            </a:r>
            <a:endParaRPr lang="en-US" sz="10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847649" y="2352646"/>
            <a:ext cx="114300" cy="13350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47649" y="2936034"/>
            <a:ext cx="29123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Actions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847649" y="3316424"/>
            <a:ext cx="114300" cy="13350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57046" y="3278934"/>
            <a:ext cx="25136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컷 분리 &amp; 자막/TTS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기본적인 미디어 변환 자동화</a:t>
            </a:r>
            <a:endParaRPr lang="en-US" sz="10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847649" y="3812029"/>
            <a:ext cx="114300" cy="13350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57046" y="3773624"/>
            <a:ext cx="26343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2.5D 패럴럭스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레이어 분리 및 심플 모션 적용</a:t>
            </a:r>
            <a:endParaRPr lang="en-US" sz="10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847649" y="4307634"/>
            <a:ext cx="114300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57046" y="4269229"/>
            <a:ext cx="192664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배치 처리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유휴 시간 활용 렌더링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19049" y="5107734"/>
            <a:ext cx="3258007" cy="1399946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619049" y="5107734"/>
            <a:ext cx="32580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847649" y="5307987"/>
            <a:ext cx="2800807" cy="1009498"/>
          </a:xfrm>
          <a:prstGeom prst="roundRect">
            <a:avLst>
              <a:gd name="adj" fmla="val 512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847649" y="5307987"/>
            <a:ext cx="38405" cy="100949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 txBox="1"/>
          <p:nvPr/>
        </p:nvSpPr>
        <p:spPr>
          <a:xfrm>
            <a:off x="1000354" y="5422287"/>
            <a:ext cx="184251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PERFORMANCE INDICATOR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000354" y="5698436"/>
            <a:ext cx="9107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편당 제작시간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13532" y="5621626"/>
            <a:ext cx="4956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 2h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1000354" y="6002931"/>
            <a:ext cx="448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생산량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2888590" y="5927036"/>
            <a:ext cx="75803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1일 1편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8305495" y="1450134"/>
            <a:ext cx="3276295" cy="5067605"/>
          </a:xfrm>
          <a:prstGeom prst="roundRect">
            <a:avLst>
              <a:gd name="adj" fmla="val 9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8"/>
          <p:cNvSpPr/>
          <p:nvPr/>
        </p:nvSpPr>
        <p:spPr>
          <a:xfrm>
            <a:off x="8315554" y="1459278"/>
            <a:ext cx="3258007" cy="1248156"/>
          </a:xfrm>
          <a:prstGeom prst="roundRect">
            <a:avLst>
              <a:gd name="adj" fmla="val 6711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/>
          <p:cNvSpPr/>
          <p:nvPr/>
        </p:nvSpPr>
        <p:spPr>
          <a:xfrm>
            <a:off x="8315554" y="2698290"/>
            <a:ext cx="325800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0"/>
          <p:cNvSpPr txBox="1"/>
          <p:nvPr/>
        </p:nvSpPr>
        <p:spPr>
          <a:xfrm>
            <a:off x="10735056" y="1525115"/>
            <a:ext cx="8193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12E81">
                    <a:alpha val="1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4800" dirty="0"/>
          </a:p>
        </p:txBody>
      </p:sp>
      <p:sp>
        <p:nvSpPr>
          <p:cNvPr id="37" name="Shape 31"/>
          <p:cNvSpPr/>
          <p:nvPr/>
        </p:nvSpPr>
        <p:spPr>
          <a:xfrm>
            <a:off x="8544154" y="1707080"/>
            <a:ext cx="599846" cy="228600"/>
          </a:xfrm>
          <a:prstGeom prst="roundRect">
            <a:avLst>
              <a:gd name="adj" fmla="val 66667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2"/>
          <p:cNvSpPr txBox="1"/>
          <p:nvPr/>
        </p:nvSpPr>
        <p:spPr>
          <a:xfrm>
            <a:off x="8620049" y="1735426"/>
            <a:ext cx="523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3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8544154" y="2011575"/>
            <a:ext cx="2991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12E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&amp; 최적화</a:t>
            </a:r>
            <a:endParaRPr lang="en-US" sz="1500" dirty="0"/>
          </a:p>
        </p:txBody>
      </p:sp>
      <p:sp>
        <p:nvSpPr>
          <p:cNvPr id="40" name="Text 34"/>
          <p:cNvSpPr txBox="1"/>
          <p:nvPr/>
        </p:nvSpPr>
        <p:spPr>
          <a:xfrm>
            <a:off x="8696858" y="2316985"/>
            <a:ext cx="275965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 Weeks +</a:t>
            </a:r>
            <a:endParaRPr lang="en-US" sz="10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8544154" y="2352646"/>
            <a:ext cx="114300" cy="133502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8544154" y="2936034"/>
            <a:ext cx="29123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Actions</a:t>
            </a:r>
            <a:endParaRPr lang="en-US" sz="10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8544154" y="3316424"/>
            <a:ext cx="114300" cy="133502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8753551" y="3278934"/>
            <a:ext cx="23783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히어로샷 상용 연동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고난도 컷만 선별적 AI 생성</a:t>
            </a:r>
            <a:endParaRPr lang="en-US" sz="1000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8544154" y="3812029"/>
            <a:ext cx="114300" cy="133502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8753551" y="3773624"/>
            <a:ext cx="23783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오토 스케일링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트래픽 기반 워커 자동 증설</a:t>
            </a:r>
            <a:endParaRPr lang="en-US" sz="10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8544154" y="4307634"/>
            <a:ext cx="114300" cy="133502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8753551" y="4269229"/>
            <a:ext cx="249905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운영 안정화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 기반 엔터프라이즈 대응</a:t>
            </a:r>
            <a:endParaRPr lang="en-US" sz="1000" dirty="0"/>
          </a:p>
        </p:txBody>
      </p:sp>
      <p:sp>
        <p:nvSpPr>
          <p:cNvPr id="49" name="Shape 39"/>
          <p:cNvSpPr/>
          <p:nvPr/>
        </p:nvSpPr>
        <p:spPr>
          <a:xfrm>
            <a:off x="8315554" y="5107734"/>
            <a:ext cx="3258007" cy="1399946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0"/>
          <p:cNvSpPr/>
          <p:nvPr/>
        </p:nvSpPr>
        <p:spPr>
          <a:xfrm>
            <a:off x="8315554" y="5107734"/>
            <a:ext cx="32580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1"/>
          <p:cNvSpPr/>
          <p:nvPr/>
        </p:nvSpPr>
        <p:spPr>
          <a:xfrm>
            <a:off x="8544154" y="5307987"/>
            <a:ext cx="2800807" cy="1009498"/>
          </a:xfrm>
          <a:prstGeom prst="roundRect">
            <a:avLst>
              <a:gd name="adj" fmla="val 512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2"/>
          <p:cNvSpPr/>
          <p:nvPr/>
        </p:nvSpPr>
        <p:spPr>
          <a:xfrm>
            <a:off x="8544154" y="5307987"/>
            <a:ext cx="38405" cy="100949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3"/>
          <p:cNvSpPr txBox="1"/>
          <p:nvPr/>
        </p:nvSpPr>
        <p:spPr>
          <a:xfrm>
            <a:off x="8695944" y="5422287"/>
            <a:ext cx="184251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PERFORMANCE INDICATOR</a:t>
            </a:r>
            <a:endParaRPr lang="en-US" sz="900" dirty="0"/>
          </a:p>
        </p:txBody>
      </p:sp>
      <p:sp>
        <p:nvSpPr>
          <p:cNvPr id="54" name="Text 44"/>
          <p:cNvSpPr txBox="1"/>
          <p:nvPr/>
        </p:nvSpPr>
        <p:spPr>
          <a:xfrm>
            <a:off x="8695944" y="5698436"/>
            <a:ext cx="773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편당 변동비</a:t>
            </a:r>
            <a:endParaRPr lang="en-US" sz="1000" dirty="0"/>
          </a:p>
        </p:txBody>
      </p:sp>
      <p:sp>
        <p:nvSpPr>
          <p:cNvPr id="55" name="Text 45"/>
          <p:cNvSpPr txBox="1"/>
          <p:nvPr/>
        </p:nvSpPr>
        <p:spPr>
          <a:xfrm>
            <a:off x="10819181" y="5621626"/>
            <a:ext cx="48829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 $2</a:t>
            </a:r>
            <a:endParaRPr lang="en-US" sz="1500" dirty="0"/>
          </a:p>
        </p:txBody>
      </p:sp>
      <p:sp>
        <p:nvSpPr>
          <p:cNvPr id="56" name="Text 46"/>
          <p:cNvSpPr txBox="1"/>
          <p:nvPr/>
        </p:nvSpPr>
        <p:spPr>
          <a:xfrm>
            <a:off x="8695944" y="6002931"/>
            <a:ext cx="8558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운영 규모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10696651" y="5927036"/>
            <a:ext cx="6007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30편+</a:t>
            </a:r>
            <a:endParaRPr lang="en-US" sz="1500" dirty="0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7"/>
          <a:srcRect t="-80" b="-80"/>
          <a:stretch/>
        </p:blipFill>
        <p:spPr>
          <a:xfrm>
            <a:off x="4100170" y="3869636"/>
            <a:ext cx="142646" cy="228600"/>
          </a:xfrm>
          <a:prstGeom prst="rect">
            <a:avLst/>
          </a:prstGeom>
        </p:spPr>
      </p:pic>
      <p:sp>
        <p:nvSpPr>
          <p:cNvPr id="59" name="Shape 48"/>
          <p:cNvSpPr/>
          <p:nvPr/>
        </p:nvSpPr>
        <p:spPr>
          <a:xfrm>
            <a:off x="4457700" y="1373324"/>
            <a:ext cx="3276295" cy="5067605"/>
          </a:xfrm>
          <a:prstGeom prst="roundRect">
            <a:avLst>
              <a:gd name="adj" fmla="val 9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49"/>
          <p:cNvSpPr txBox="1"/>
          <p:nvPr/>
        </p:nvSpPr>
        <p:spPr>
          <a:xfrm>
            <a:off x="4695444" y="2859224"/>
            <a:ext cx="29123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Actions</a:t>
            </a:r>
            <a:endParaRPr lang="en-US" sz="1000" dirty="0"/>
          </a:p>
        </p:txBody>
      </p:sp>
      <p:pic>
        <p:nvPicPr>
          <p:cNvPr id="61" name="Image 9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4695444" y="3240529"/>
            <a:ext cx="114300" cy="133502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4905756" y="3202124"/>
            <a:ext cx="29498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키프레임 보간 &amp; 립싱크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자연스러운 움직임 및 입모양 매칭</a:t>
            </a:r>
            <a:endParaRPr lang="en-US" sz="1000" dirty="0"/>
          </a:p>
        </p:txBody>
      </p:sp>
      <p:pic>
        <p:nvPicPr>
          <p:cNvPr id="63" name="Image 10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4695444" y="3736134"/>
            <a:ext cx="114300" cy="133502"/>
          </a:xfrm>
          <a:prstGeom prst="rect">
            <a:avLst/>
          </a:prstGeom>
        </p:spPr>
      </p:pic>
      <p:sp>
        <p:nvSpPr>
          <p:cNvPr id="64" name="Text 51"/>
          <p:cNvSpPr txBox="1"/>
          <p:nvPr/>
        </p:nvSpPr>
        <p:spPr>
          <a:xfrm>
            <a:off x="4905756" y="3697729"/>
            <a:ext cx="293522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캐시 시스템 도입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캐릭터/배경 자산 DB화 및 재사용</a:t>
            </a:r>
            <a:endParaRPr lang="en-US" sz="1000" dirty="0"/>
          </a:p>
        </p:txBody>
      </p:sp>
      <p:pic>
        <p:nvPicPr>
          <p:cNvPr id="65" name="Image 11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4695444" y="4230824"/>
            <a:ext cx="114300" cy="133502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4905756" y="4193334"/>
            <a:ext cx="264901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 일관성 튜닝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LoRA/파인튜닝으로 작화 유지</a:t>
            </a:r>
            <a:endParaRPr lang="en-US" sz="1000" dirty="0"/>
          </a:p>
        </p:txBody>
      </p:sp>
      <p:sp>
        <p:nvSpPr>
          <p:cNvPr id="67" name="Shape 53"/>
          <p:cNvSpPr/>
          <p:nvPr/>
        </p:nvSpPr>
        <p:spPr>
          <a:xfrm>
            <a:off x="4466844" y="5030924"/>
            <a:ext cx="3258007" cy="1399946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54"/>
          <p:cNvSpPr/>
          <p:nvPr/>
        </p:nvSpPr>
        <p:spPr>
          <a:xfrm>
            <a:off x="4466844" y="5030924"/>
            <a:ext cx="32580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55"/>
          <p:cNvSpPr/>
          <p:nvPr/>
        </p:nvSpPr>
        <p:spPr>
          <a:xfrm>
            <a:off x="4695444" y="5231178"/>
            <a:ext cx="2800807" cy="1009498"/>
          </a:xfrm>
          <a:prstGeom prst="roundRect">
            <a:avLst>
              <a:gd name="adj" fmla="val 512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56"/>
          <p:cNvSpPr/>
          <p:nvPr/>
        </p:nvSpPr>
        <p:spPr>
          <a:xfrm>
            <a:off x="4695444" y="5231178"/>
            <a:ext cx="38405" cy="100949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57"/>
          <p:cNvSpPr txBox="1"/>
          <p:nvPr/>
        </p:nvSpPr>
        <p:spPr>
          <a:xfrm>
            <a:off x="4848149" y="5621626"/>
            <a:ext cx="571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재작업률</a:t>
            </a:r>
            <a:endParaRPr lang="en-US" sz="1000" dirty="0"/>
          </a:p>
        </p:txBody>
      </p:sp>
      <p:sp>
        <p:nvSpPr>
          <p:cNvPr id="72" name="Text 58"/>
          <p:cNvSpPr txBox="1"/>
          <p:nvPr/>
        </p:nvSpPr>
        <p:spPr>
          <a:xfrm>
            <a:off x="6783019" y="5545731"/>
            <a:ext cx="6675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 10%</a:t>
            </a:r>
            <a:endParaRPr lang="en-US" sz="1500" dirty="0"/>
          </a:p>
        </p:txBody>
      </p:sp>
      <p:sp>
        <p:nvSpPr>
          <p:cNvPr id="73" name="Text 59"/>
          <p:cNvSpPr txBox="1"/>
          <p:nvPr/>
        </p:nvSpPr>
        <p:spPr>
          <a:xfrm>
            <a:off x="4848149" y="5927036"/>
            <a:ext cx="9107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시청 지속시간</a:t>
            </a:r>
            <a:endParaRPr lang="en-US" sz="1000" dirty="0"/>
          </a:p>
        </p:txBody>
      </p:sp>
      <p:sp>
        <p:nvSpPr>
          <p:cNvPr id="74" name="Text 60"/>
          <p:cNvSpPr txBox="1"/>
          <p:nvPr/>
        </p:nvSpPr>
        <p:spPr>
          <a:xfrm>
            <a:off x="6718097" y="5850226"/>
            <a:ext cx="7342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↑ 30%</a:t>
            </a:r>
            <a:endParaRPr lang="en-US" sz="1500" dirty="0"/>
          </a:p>
        </p:txBody>
      </p:sp>
      <p:sp>
        <p:nvSpPr>
          <p:cNvPr id="75" name="Text 61"/>
          <p:cNvSpPr txBox="1"/>
          <p:nvPr/>
        </p:nvSpPr>
        <p:spPr>
          <a:xfrm>
            <a:off x="4848149" y="5345478"/>
            <a:ext cx="184251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PERFORMANCE INDICATOR</a:t>
            </a:r>
            <a:endParaRPr lang="en-US" sz="900" dirty="0"/>
          </a:p>
        </p:txBody>
      </p:sp>
      <p:sp>
        <p:nvSpPr>
          <p:cNvPr id="76" name="Shape 62"/>
          <p:cNvSpPr/>
          <p:nvPr/>
        </p:nvSpPr>
        <p:spPr>
          <a:xfrm>
            <a:off x="4466844" y="1383382"/>
            <a:ext cx="3258007" cy="1248156"/>
          </a:xfrm>
          <a:prstGeom prst="roundRect">
            <a:avLst>
              <a:gd name="adj" fmla="val 671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63"/>
          <p:cNvSpPr/>
          <p:nvPr/>
        </p:nvSpPr>
        <p:spPr>
          <a:xfrm>
            <a:off x="4466844" y="2622394"/>
            <a:ext cx="325800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64"/>
          <p:cNvSpPr txBox="1"/>
          <p:nvPr/>
        </p:nvSpPr>
        <p:spPr>
          <a:xfrm>
            <a:off x="6887261" y="1449219"/>
            <a:ext cx="8193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E3A8A">
                    <a:alpha val="1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4800" dirty="0"/>
          </a:p>
        </p:txBody>
      </p:sp>
      <p:sp>
        <p:nvSpPr>
          <p:cNvPr id="79" name="Shape 65"/>
          <p:cNvSpPr/>
          <p:nvPr/>
        </p:nvSpPr>
        <p:spPr>
          <a:xfrm>
            <a:off x="4695444" y="1631185"/>
            <a:ext cx="599846" cy="228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66"/>
          <p:cNvSpPr txBox="1"/>
          <p:nvPr/>
        </p:nvSpPr>
        <p:spPr>
          <a:xfrm>
            <a:off x="4772254" y="1659531"/>
            <a:ext cx="523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2</a:t>
            </a:r>
            <a:endParaRPr lang="en-US" sz="900" dirty="0"/>
          </a:p>
        </p:txBody>
      </p:sp>
      <p:sp>
        <p:nvSpPr>
          <p:cNvPr id="81" name="Text 67"/>
          <p:cNvSpPr txBox="1"/>
          <p:nvPr/>
        </p:nvSpPr>
        <p:spPr>
          <a:xfrm>
            <a:off x="4695444" y="1935680"/>
            <a:ext cx="2991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강화 &amp; 자산화</a:t>
            </a:r>
            <a:endParaRPr lang="en-US" sz="1500" dirty="0"/>
          </a:p>
        </p:txBody>
      </p:sp>
      <p:sp>
        <p:nvSpPr>
          <p:cNvPr id="82" name="Text 68"/>
          <p:cNvSpPr txBox="1"/>
          <p:nvPr/>
        </p:nvSpPr>
        <p:spPr>
          <a:xfrm>
            <a:off x="4848149" y="2240175"/>
            <a:ext cx="275965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~ 8 Weeks</a:t>
            </a:r>
            <a:endParaRPr lang="en-US" sz="1000" dirty="0"/>
          </a:p>
        </p:txBody>
      </p:sp>
      <p:pic>
        <p:nvPicPr>
          <p:cNvPr id="83" name="Image 12" descr="preencoded.png"/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4695444" y="2275837"/>
            <a:ext cx="114300" cy="133502"/>
          </a:xfrm>
          <a:prstGeom prst="rect">
            <a:avLst/>
          </a:prstGeom>
        </p:spPr>
      </p:pic>
      <p:pic>
        <p:nvPicPr>
          <p:cNvPr id="84" name="Image 13" descr="preencoded.png"/>
          <p:cNvPicPr>
            <a:picLocks noChangeAspect="1"/>
          </p:cNvPicPr>
          <p:nvPr/>
        </p:nvPicPr>
        <p:blipFill>
          <a:blip r:embed="rId7"/>
          <a:srcRect t="-80" b="-80"/>
          <a:stretch/>
        </p:blipFill>
        <p:spPr>
          <a:xfrm>
            <a:off x="7948879" y="3869636"/>
            <a:ext cx="142646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289272"/>
            <a:ext cx="22814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CONCLUSION &amp; NEXT STEPS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09905" y="555362"/>
            <a:ext cx="761695" cy="3840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898262"/>
            <a:ext cx="492587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결론 및</a:t>
            </a:r>
            <a:r>
              <a:rPr lang="en-US" sz="3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제언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336938" y="708067"/>
            <a:ext cx="2247595" cy="342900"/>
          </a:xfrm>
          <a:prstGeom prst="roundRect">
            <a:avLst>
              <a:gd name="adj" fmla="val 26666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89643" y="813223"/>
            <a:ext cx="133502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379001" y="708067"/>
            <a:ext cx="20537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Ready for Implementation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09905" y="1946069"/>
            <a:ext cx="44677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STRATEGIC DECISION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9905" y="2250564"/>
            <a:ext cx="4352544" cy="4343400"/>
          </a:xfrm>
          <a:prstGeom prst="roundRect">
            <a:avLst>
              <a:gd name="adj" fmla="val 739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101600" dir="16200000" algn="bl" rotWithShape="0">
              <a:srgbClr val="1E3A8A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/>
          <a:stretch/>
        </p:blipFill>
        <p:spPr>
          <a:xfrm>
            <a:off x="3054096" y="2250564"/>
            <a:ext cx="1904695" cy="19046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0096" y="1946069"/>
            <a:ext cx="3525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IMMEDIATE ACTIONS (NEXT 2 WEEKS)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340096" y="2250564"/>
            <a:ext cx="340979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5340096" y="2327374"/>
            <a:ext cx="38405" cy="743407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5568696" y="2327374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파이프라인 PoC 착수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568696" y="2631869"/>
            <a:ext cx="49633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컷 분리 → 2.5D 변환 → 렌더링까지의 자동화 스크립트 프로토타입 검증 (주요 5컷 대상)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340096" y="3293895"/>
            <a:ext cx="38405" cy="743407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5568696" y="3293895"/>
            <a:ext cx="3372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자산 라이브러리 구축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568696" y="3598390"/>
            <a:ext cx="49633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캐릭터(전면/측면), 배경, 말풍선 스타일을 분리 저장하여 재사용 DB 설계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340096" y="4260415"/>
            <a:ext cx="38405" cy="743407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5568696" y="4260415"/>
            <a:ext cx="3372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운영 환경 구성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5568696" y="4565825"/>
            <a:ext cx="377372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워커(Runpod/Vast.ai) + 작업 큐(Celery) 세팅 및 야간 배치 스케줄러 구성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340096" y="5770090"/>
            <a:ext cx="3409798" cy="819302"/>
          </a:xfrm>
          <a:prstGeom prst="roundRect">
            <a:avLst>
              <a:gd name="adj" fmla="val 1038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5501945" y="5931939"/>
            <a:ext cx="3200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TIMELINE GOAL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501945" y="6160539"/>
            <a:ext cx="3086100" cy="75895"/>
          </a:xfrm>
          <a:prstGeom prst="roundRect">
            <a:avLst>
              <a:gd name="adj" fmla="val 1204822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5501945" y="6160539"/>
            <a:ext cx="923544" cy="75895"/>
          </a:xfrm>
          <a:prstGeom prst="roundRect">
            <a:avLst>
              <a:gd name="adj" fmla="val 1204822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 txBox="1"/>
          <p:nvPr/>
        </p:nvSpPr>
        <p:spPr>
          <a:xfrm>
            <a:off x="5501945" y="6265695"/>
            <a:ext cx="333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7377379" y="6265695"/>
            <a:ext cx="1420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Launch (4 Weeks)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9124798" y="1946069"/>
            <a:ext cx="25557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9124798" y="2250564"/>
            <a:ext cx="2457907" cy="972007"/>
          </a:xfrm>
          <a:prstGeom prst="roundRect">
            <a:avLst>
              <a:gd name="adj" fmla="val 110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8"/>
          <p:cNvSpPr/>
          <p:nvPr/>
        </p:nvSpPr>
        <p:spPr>
          <a:xfrm>
            <a:off x="9325051" y="2470020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 txBox="1"/>
          <p:nvPr/>
        </p:nvSpPr>
        <p:spPr>
          <a:xfrm>
            <a:off x="10010851" y="245081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절감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10010851" y="2717823"/>
            <a:ext cx="21671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상용 대비 80% 이상 </a:t>
            </a:r>
            <a:r>
              <a:rPr lang="en-US" sz="9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절감</a:t>
            </a: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</a:t>
            </a:r>
            <a:endParaRPr lang="en-US" sz="900" dirty="0">
              <a:solidFill>
                <a:srgbClr val="6B728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예측 가능한 고정비화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9124798" y="3375276"/>
            <a:ext cx="2457907" cy="972007"/>
          </a:xfrm>
          <a:prstGeom prst="roundRect">
            <a:avLst>
              <a:gd name="adj" fmla="val 110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2"/>
          <p:cNvSpPr/>
          <p:nvPr/>
        </p:nvSpPr>
        <p:spPr>
          <a:xfrm>
            <a:off x="9325051" y="3593818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76842" y="3746523"/>
            <a:ext cx="228600" cy="228600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10010851" y="3574615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일관성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10010851" y="3841620"/>
            <a:ext cx="21671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캐릭터 ID 및 그림체 유지, </a:t>
            </a:r>
          </a:p>
          <a:p>
            <a:pPr marL="0" indent="0" algn="l">
              <a:buNone/>
            </a:pPr>
            <a:r>
              <a:rPr lang="en-US" sz="9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재작업</a:t>
            </a: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최소화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9124798" y="4499074"/>
            <a:ext cx="2457907" cy="972007"/>
          </a:xfrm>
          <a:prstGeom prst="roundRect">
            <a:avLst>
              <a:gd name="adj" fmla="val 110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6"/>
          <p:cNvSpPr/>
          <p:nvPr/>
        </p:nvSpPr>
        <p:spPr>
          <a:xfrm>
            <a:off x="9325051" y="4717615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476842" y="4870320"/>
            <a:ext cx="228600" cy="228600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10010851" y="4698413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확장성 확보</a:t>
            </a:r>
            <a:endParaRPr lang="en-US" sz="1200" dirty="0"/>
          </a:p>
        </p:txBody>
      </p:sp>
      <p:sp>
        <p:nvSpPr>
          <p:cNvPr id="44" name="Text 38"/>
          <p:cNvSpPr txBox="1"/>
          <p:nvPr/>
        </p:nvSpPr>
        <p:spPr>
          <a:xfrm>
            <a:off x="10010851" y="4965418"/>
            <a:ext cx="163311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증설만으로 일 1편 → 10편 이상 즉시 대응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990295" y="2631869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81405" y="2822064"/>
            <a:ext cx="228600" cy="228600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990295" y="3470374"/>
            <a:ext cx="3698748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"상용 영상 생성 올인"에서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자동화</a:t>
            </a: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전환해야 합니다.</a:t>
            </a:r>
            <a:endParaRPr lang="en-US" sz="2200" dirty="0"/>
          </a:p>
        </p:txBody>
      </p:sp>
      <p:sp>
        <p:nvSpPr>
          <p:cNvPr id="48" name="Text 41"/>
          <p:cNvSpPr txBox="1"/>
          <p:nvPr/>
        </p:nvSpPr>
        <p:spPr>
          <a:xfrm>
            <a:off x="990295" y="4877635"/>
            <a:ext cx="3667658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단가 누적형 구조(OpEx)를 기술 내재화(CapEx)로 전환하여,</a:t>
            </a: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통제력</a:t>
            </a:r>
            <a:r>
              <a:rPr lang="en-US" sz="13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</a:t>
            </a: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안정성</a:t>
            </a:r>
            <a:r>
              <a:rPr lang="en-US" sz="13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동시에 확보하는 것이 유일한 대안입니다.</a:t>
            </a:r>
            <a:endParaRPr lang="en-US" sz="1300" dirty="0"/>
          </a:p>
        </p:txBody>
      </p:sp>
      <p:sp>
        <p:nvSpPr>
          <p:cNvPr id="49" name="Shape 42"/>
          <p:cNvSpPr/>
          <p:nvPr/>
        </p:nvSpPr>
        <p:spPr>
          <a:xfrm>
            <a:off x="990295" y="6075499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3"/>
          <p:cNvSpPr txBox="1"/>
          <p:nvPr/>
        </p:nvSpPr>
        <p:spPr>
          <a:xfrm>
            <a:off x="1143000" y="6017892"/>
            <a:ext cx="2324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전략: Option B (자동화 중심)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1146</Words>
  <Application>Microsoft Macintosh PowerPoint</Application>
  <PresentationFormat>와이드스크린</PresentationFormat>
  <Paragraphs>243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종윤 임</cp:lastModifiedBy>
  <cp:revision>28</cp:revision>
  <dcterms:created xsi:type="dcterms:W3CDTF">2026-01-24T09:41:23Z</dcterms:created>
  <dcterms:modified xsi:type="dcterms:W3CDTF">2026-01-29T22:40:07Z</dcterms:modified>
</cp:coreProperties>
</file>