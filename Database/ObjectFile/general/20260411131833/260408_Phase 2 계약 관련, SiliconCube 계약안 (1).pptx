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901EE-5E9C-429F-B55F-068A5BC5446C}" v="5" dt="2026-04-08T07:13:08.835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9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 J" userId="9b3c7142ec981d42" providerId="LiveId" clId="{76C9870D-5849-42B8-8854-4BEA38412540}"/>
    <pc:docChg chg="custSel modSld">
      <pc:chgData name="JY J" userId="9b3c7142ec981d42" providerId="LiveId" clId="{76C9870D-5849-42B8-8854-4BEA38412540}" dt="2026-04-08T07:13:08.835" v="47"/>
      <pc:docMkLst>
        <pc:docMk/>
      </pc:docMkLst>
      <pc:sldChg chg="modSp mod">
        <pc:chgData name="JY J" userId="9b3c7142ec981d42" providerId="LiveId" clId="{76C9870D-5849-42B8-8854-4BEA38412540}" dt="2026-04-08T07:13:08.835" v="47"/>
        <pc:sldMkLst>
          <pc:docMk/>
          <pc:sldMk cId="3143051257" sldId="257"/>
        </pc:sldMkLst>
        <pc:spChg chg="mod">
          <ac:chgData name="JY J" userId="9b3c7142ec981d42" providerId="LiveId" clId="{76C9870D-5849-42B8-8854-4BEA38412540}" dt="2026-04-08T07:03:18.241" v="42" actId="14100"/>
          <ac:spMkLst>
            <pc:docMk/>
            <pc:sldMk cId="3143051257" sldId="257"/>
            <ac:spMk id="2" creationId="{C62D1770-C984-FCA9-D218-FACC6CE0EC78}"/>
          </ac:spMkLst>
        </pc:spChg>
        <pc:graphicFrameChg chg="mod modGraphic">
          <ac:chgData name="JY J" userId="9b3c7142ec981d42" providerId="LiveId" clId="{76C9870D-5849-42B8-8854-4BEA38412540}" dt="2026-04-08T07:13:08.835" v="47"/>
          <ac:graphicFrameMkLst>
            <pc:docMk/>
            <pc:sldMk cId="3143051257" sldId="257"/>
            <ac:graphicFrameMk id="8" creationId="{69839902-50E1-E8C8-8D1A-62477FE328A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7F3C7-372A-C810-1D9A-2D4D80D50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02D7E0-1313-D168-062D-A51B4EBA4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6085A5-764F-5622-ECE7-A4E622A2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8D2682-E50B-3A18-0329-228865555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91988-26A1-B052-DA85-7B77B99E0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78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3E24F-80B6-A50F-EA68-0ED13CE9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D3E0EB-A9AC-F71A-DDEE-B809022C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19D394-5A42-255F-2620-6AB62D62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1DF612-DD32-E864-051B-033F8877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861B1B-E231-1664-CF19-DB568983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94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119DF-EC70-31A9-5CC4-34917F332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4CE9D9-DD2D-0CE4-72DB-B1CD515F3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F91E9-CAF6-8B24-CD0F-642A75364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DFC6C-775E-7C5A-D3C1-27B803F0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A954EB-00F1-23B0-A7E2-49C46EDD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120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6491E-E3D4-6C4B-EAD5-6D1136FC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8015C7-49D0-3A62-4301-4F659E14D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56DB22-744E-8B3C-E51B-B0186F80B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47D36C-4BD4-B1A3-4241-40E99431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915139-97AD-E575-C28B-FD445365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73B346-0F9A-A697-778C-E02FD478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99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81DC9-746B-EA74-7AAF-091EC321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62D14-9509-8779-4ADC-A4107094C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940AB7-E46E-E4E4-1BE6-52802D6C9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B0112A-F311-2F40-2168-CCC47ADD3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CE90DD-EA33-5735-EF8D-E752E18E0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420470-E934-B0DF-03FA-9C5415CB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78684B-3936-AAE2-A546-7CADA996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07C379B-7FDC-9C71-A986-1AC8A05E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588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CC503-D9CE-7C85-6AE6-98559390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B3D644-3A6D-7CBA-2717-C069143A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4F60C3-D82F-4C1B-9B0A-B8C1DAA9D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C53AF8-8128-EB30-AF8D-D8D447FE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11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B05BD1-A4BA-6105-C3D1-D35A17F1C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84DA4A-37F8-DBF9-77F2-353D39890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11EEF-E6A3-3F06-ED9E-2433049B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79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25445-3F4A-4A6E-F82A-0C06A206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F2AA7-D05C-502F-06CE-ED7B8CF19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58AFD5-7898-F3D2-93CD-C56359516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008E23-77B4-ED37-5842-E6FAE896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70D856-19BE-137C-C7F0-5367DD53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AD8E0D-0045-3624-7FBD-DC4C9CBE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882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7ED19-EF3D-8C3E-CF17-8A11073E7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7F0B5D-927A-9342-6F86-9DC89ECF9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2C2A14-6923-D2CF-BBCB-FCB7F23E2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C90917-2ED0-8557-46EB-E106E690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C3BEA4-3895-49A0-0CF9-1468BCC9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C86360-ABAA-B741-CB32-17363428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56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79D17-D3C9-CE0B-65F3-8FB176BC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114B6E-4DA4-56BB-E174-282A951C4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C1BC23-5D55-07BD-1B7C-F66C71BB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471B84-691D-E526-18A4-F57C70EC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CC118-8C2F-AD44-0D46-EB2D9B41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193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A1B7AE4-C546-D391-8351-2B0B8DE45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070EA0-8264-3D12-818D-C76C8C117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F5880B-88AE-770B-B153-52B7CE8ED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27AA9-1E78-14C2-2362-611B1B58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39CCE-ABEB-107E-51DA-F794B247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07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B1D3ED-F78C-15E6-0584-8B268BB0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BE2CEA-16CF-E0F1-5CBA-FB70F272B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F818C2-2988-7D2D-7437-9A39AD251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88D3B-3678-477A-9A9D-A5CB66806A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7A592D-009D-3ADC-3D7F-44563F724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86F04-D97B-2F04-D5B4-E0C187436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4C4AA-4325-4ABD-8275-32B3886C60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80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D1770-C984-FCA9-D218-FACC6CE0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93667" cy="62447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Phase 2 </a:t>
            </a:r>
            <a:r>
              <a:rPr lang="ko-KR" altLang="en-US" sz="2400" b="1" dirty="0"/>
              <a:t>계약 관련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SiliconCube</a:t>
            </a:r>
            <a:r>
              <a:rPr lang="en-US" altLang="ko-KR" sz="2400" b="1" dirty="0"/>
              <a:t> </a:t>
            </a:r>
            <a:r>
              <a:rPr lang="ko-KR" altLang="en-US" sz="2400" b="1" dirty="0" err="1"/>
              <a:t>계약안</a:t>
            </a:r>
            <a:endParaRPr lang="ko-KR" altLang="en-US" sz="2400" dirty="0"/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69839902-50E1-E8C8-8D1A-62477FE32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029643"/>
              </p:ext>
            </p:extLst>
          </p:nvPr>
        </p:nvGraphicFramePr>
        <p:xfrm>
          <a:off x="203200" y="624475"/>
          <a:ext cx="11785598" cy="614450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38462">
                  <a:extLst>
                    <a:ext uri="{9D8B030D-6E8A-4147-A177-3AD203B41FA5}">
                      <a16:colId xmlns:a16="http://schemas.microsoft.com/office/drawing/2014/main" val="1785434524"/>
                    </a:ext>
                  </a:extLst>
                </a:gridCol>
                <a:gridCol w="2386784">
                  <a:extLst>
                    <a:ext uri="{9D8B030D-6E8A-4147-A177-3AD203B41FA5}">
                      <a16:colId xmlns:a16="http://schemas.microsoft.com/office/drawing/2014/main" val="2738824981"/>
                    </a:ext>
                  </a:extLst>
                </a:gridCol>
                <a:gridCol w="2386784">
                  <a:extLst>
                    <a:ext uri="{9D8B030D-6E8A-4147-A177-3AD203B41FA5}">
                      <a16:colId xmlns:a16="http://schemas.microsoft.com/office/drawing/2014/main" val="2519868875"/>
                    </a:ext>
                  </a:extLst>
                </a:gridCol>
                <a:gridCol w="2386784">
                  <a:extLst>
                    <a:ext uri="{9D8B030D-6E8A-4147-A177-3AD203B41FA5}">
                      <a16:colId xmlns:a16="http://schemas.microsoft.com/office/drawing/2014/main" val="1335547116"/>
                    </a:ext>
                  </a:extLst>
                </a:gridCol>
                <a:gridCol w="2386784">
                  <a:extLst>
                    <a:ext uri="{9D8B030D-6E8A-4147-A177-3AD203B41FA5}">
                      <a16:colId xmlns:a16="http://schemas.microsoft.com/office/drawing/2014/main" val="1821513918"/>
                    </a:ext>
                  </a:extLst>
                </a:gridCol>
              </a:tblGrid>
              <a:tr h="1958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/>
                        <a:t>구분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/>
                        <a:t>비고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2801"/>
                  </a:ext>
                </a:extLst>
              </a:tr>
              <a:tr h="325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계약총액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210,000,000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150,000,000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210,000,000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b="1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089580433"/>
                  </a:ext>
                </a:extLst>
              </a:tr>
              <a:tr h="381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선금 </a:t>
                      </a:r>
                      <a:r>
                        <a:rPr lang="en-US" altLang="ko-KR" sz="1050" b="1"/>
                        <a:t>/ </a:t>
                      </a:r>
                      <a:r>
                        <a:rPr lang="ko-KR" altLang="en-US" sz="1050" b="1"/>
                        <a:t>중도금 </a:t>
                      </a:r>
                      <a:r>
                        <a:rPr lang="en-US" altLang="ko-KR" sz="1050" b="1"/>
                        <a:t>/ </a:t>
                      </a:r>
                      <a:r>
                        <a:rPr lang="ko-KR" altLang="en-US" sz="1050" b="1"/>
                        <a:t>잔금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100,000,000 / 80,000,000 / 30,000,000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/>
                        <a:t>100,000,000 / 30,000,000 / 20,000,000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/>
                        <a:t>100,000,000 / 80,000,000 / 30,000,000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05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1636758480"/>
                  </a:ext>
                </a:extLst>
              </a:tr>
              <a:tr h="405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계약기간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9</a:t>
                      </a:r>
                      <a:r>
                        <a:rPr lang="ko-KR" altLang="en-US" sz="1050" b="1" dirty="0"/>
                        <a:t>개월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9</a:t>
                      </a:r>
                      <a:r>
                        <a:rPr lang="ko-KR" altLang="en-US" sz="1050" b="1" dirty="0"/>
                        <a:t>개월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6</a:t>
                      </a:r>
                      <a:r>
                        <a:rPr lang="ko-KR" altLang="en-US" sz="1050" b="1" dirty="0"/>
                        <a:t>개월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b="1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014341144"/>
                  </a:ext>
                </a:extLst>
              </a:tr>
              <a:tr h="1099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특약사항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-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50" dirty="0"/>
                        <a:t>SC</a:t>
                      </a:r>
                      <a:r>
                        <a:rPr lang="ko-KR" altLang="en-US" sz="1050" dirty="0"/>
                        <a:t>는 기기 공급 마진 총액이 </a:t>
                      </a:r>
                      <a:r>
                        <a:rPr lang="en-US" altLang="ko-KR" sz="1050" dirty="0"/>
                        <a:t>60,000,000</a:t>
                      </a:r>
                      <a:r>
                        <a:rPr lang="ko-KR" altLang="en-US" sz="1050" dirty="0"/>
                        <a:t>원 상당이 될 만큼의 수량을 계약기간 동안에 공급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전용기기 </a:t>
                      </a:r>
                      <a:r>
                        <a:rPr lang="en-US" altLang="ko-KR" sz="1050" dirty="0"/>
                        <a:t>= DGX Spark, SC</a:t>
                      </a:r>
                      <a:r>
                        <a:rPr lang="ko-KR" altLang="en-US" sz="1050" dirty="0"/>
                        <a:t>가 </a:t>
                      </a:r>
                      <a:r>
                        <a:rPr lang="en-US" altLang="ko-KR" sz="1050" dirty="0"/>
                        <a:t>CEN</a:t>
                      </a:r>
                      <a:r>
                        <a:rPr lang="ko-KR" altLang="en-US" sz="1050" dirty="0"/>
                        <a:t>에 판매하는 형태</a:t>
                      </a:r>
                      <a:r>
                        <a:rPr lang="en-US" altLang="ko-KR" sz="1050" dirty="0"/>
                        <a:t>, DGX Spark</a:t>
                      </a:r>
                      <a:r>
                        <a:rPr lang="ko-KR" altLang="en-US" sz="1050" dirty="0"/>
                        <a:t>의 </a:t>
                      </a:r>
                      <a:r>
                        <a:rPr lang="en-US" altLang="ko-KR" sz="1050" dirty="0"/>
                        <a:t>SC </a:t>
                      </a:r>
                      <a:r>
                        <a:rPr lang="ko-KR" altLang="en-US" sz="1050" dirty="0"/>
                        <a:t>매입가격변동에 비례해서 공급가를 변동하여 마진을 보전하도록 함</a:t>
                      </a:r>
                      <a:r>
                        <a:rPr lang="en-US" altLang="ko-KR" sz="1050" dirty="0"/>
                        <a:t>)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50" dirty="0"/>
                        <a:t>SC</a:t>
                      </a:r>
                      <a:r>
                        <a:rPr lang="ko-KR" altLang="en-US" sz="1050" dirty="0"/>
                        <a:t>는 기기 공급 마진 총액이 </a:t>
                      </a:r>
                      <a:r>
                        <a:rPr lang="en-US" altLang="ko-KR" sz="1050" dirty="0"/>
                        <a:t>60,000,000</a:t>
                      </a:r>
                      <a:r>
                        <a:rPr lang="ko-KR" altLang="en-US" sz="1050" dirty="0"/>
                        <a:t>원 상당이 될 만큼의 수량을 계약기간 동안에 공급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전용기기 </a:t>
                      </a:r>
                      <a:r>
                        <a:rPr lang="en-US" altLang="ko-KR" sz="1050" dirty="0"/>
                        <a:t>= DGX Spark, SC</a:t>
                      </a:r>
                      <a:r>
                        <a:rPr lang="ko-KR" altLang="en-US" sz="1050" dirty="0"/>
                        <a:t>가 </a:t>
                      </a:r>
                      <a:r>
                        <a:rPr lang="en-US" altLang="ko-KR" sz="1050" dirty="0"/>
                        <a:t>CEN</a:t>
                      </a:r>
                      <a:r>
                        <a:rPr lang="ko-KR" altLang="en-US" sz="1050" dirty="0"/>
                        <a:t>에 판매하는 형태</a:t>
                      </a:r>
                      <a:r>
                        <a:rPr lang="en-US" altLang="ko-KR" sz="1050" dirty="0"/>
                        <a:t>, DGX Spark</a:t>
                      </a:r>
                      <a:r>
                        <a:rPr lang="ko-KR" altLang="en-US" sz="1050" dirty="0"/>
                        <a:t>의 </a:t>
                      </a:r>
                      <a:r>
                        <a:rPr lang="en-US" altLang="ko-KR" sz="1050" dirty="0"/>
                        <a:t>SC </a:t>
                      </a:r>
                      <a:r>
                        <a:rPr lang="ko-KR" altLang="en-US" sz="1050" dirty="0"/>
                        <a:t>매입가격변동에 비례해서 공급가를 변동하여 마진을 보전하도록 함</a:t>
                      </a:r>
                      <a:r>
                        <a:rPr lang="en-US" altLang="ko-KR" sz="1050" dirty="0"/>
                        <a:t>)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451488583"/>
                  </a:ext>
                </a:extLst>
              </a:tr>
              <a:tr h="405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실질 금액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210,000,000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210,000,000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270,000,000</a:t>
                      </a:r>
                      <a:r>
                        <a:rPr lang="ko-KR" altLang="en-US" sz="1050" b="1" dirty="0"/>
                        <a:t>원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b="1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793138482"/>
                  </a:ext>
                </a:extLst>
              </a:tr>
              <a:tr h="1958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b="1" dirty="0"/>
                        <a:t>기능 구현 항목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2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안</a:t>
                      </a:r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b="1" dirty="0"/>
                    </a:p>
                  </a:txBody>
                  <a:tcPr marL="44859" marR="44859" marT="22430" marB="2243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269477"/>
                  </a:ext>
                </a:extLst>
              </a:tr>
              <a:tr h="325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Multi-Agent </a:t>
                      </a:r>
                      <a:r>
                        <a:rPr lang="ko-KR" altLang="en-US" sz="1050" b="1" dirty="0"/>
                        <a:t>아키텍처 도입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739122029"/>
                  </a:ext>
                </a:extLst>
              </a:tr>
              <a:tr h="405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Multi-Agent </a:t>
                      </a:r>
                      <a:r>
                        <a:rPr lang="ko-KR" altLang="en-US" sz="1050" b="1"/>
                        <a:t>개발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247640738"/>
                  </a:ext>
                </a:extLst>
              </a:tr>
              <a:tr h="34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사용자 맞춤형 </a:t>
                      </a:r>
                      <a:r>
                        <a:rPr lang="en-US" altLang="ko-KR" sz="1050" b="1" dirty="0"/>
                        <a:t>UI/UX </a:t>
                      </a:r>
                      <a:r>
                        <a:rPr lang="ko-KR" altLang="en-US" sz="1050" b="1" dirty="0"/>
                        <a:t>전면 개편 및 시각화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1787853548"/>
                  </a:ext>
                </a:extLst>
              </a:tr>
              <a:tr h="325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이미지 내 텍스트 인식 및 해석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4152004736"/>
                  </a:ext>
                </a:extLst>
              </a:tr>
              <a:tr h="325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클러스터링 기반 프로그램 개발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Phase 3</a:t>
                      </a:r>
                      <a:r>
                        <a:rPr lang="ko-KR" altLang="en-US" sz="1050" dirty="0"/>
                        <a:t>로 이전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1303609881"/>
                  </a:ext>
                </a:extLst>
              </a:tr>
              <a:tr h="325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네트워크 상태를 이해하는 </a:t>
                      </a:r>
                      <a:r>
                        <a:rPr lang="en-US" altLang="ko-KR" sz="1050" b="1"/>
                        <a:t>AI </a:t>
                      </a:r>
                      <a:r>
                        <a:rPr lang="ko-KR" altLang="en-US" sz="1050" b="1"/>
                        <a:t>구현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751710951"/>
                  </a:ext>
                </a:extLst>
              </a:tr>
              <a:tr h="325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/>
                        <a:t>네트워크 설정을 제안하는 </a:t>
                      </a:r>
                      <a:r>
                        <a:rPr lang="en-US" altLang="ko-KR" sz="1050" b="1" dirty="0"/>
                        <a:t>AI </a:t>
                      </a:r>
                      <a:r>
                        <a:rPr lang="ko-KR" altLang="en-US" sz="1050" b="1" dirty="0"/>
                        <a:t>구현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Phase 3</a:t>
                      </a:r>
                      <a:r>
                        <a:rPr lang="ko-KR" altLang="en-US" sz="1050" dirty="0"/>
                        <a:t>로 이전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942595145"/>
                  </a:ext>
                </a:extLst>
              </a:tr>
              <a:tr h="325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단위 </a:t>
                      </a:r>
                      <a:r>
                        <a:rPr lang="en-US" altLang="ko-KR" sz="1050" b="1"/>
                        <a:t>/ </a:t>
                      </a:r>
                      <a:r>
                        <a:rPr lang="ko-KR" altLang="en-US" sz="1050" b="1"/>
                        <a:t>통합 테스트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717694434"/>
                  </a:ext>
                </a:extLst>
              </a:tr>
              <a:tr h="325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/>
                        <a:t>최종 디버깅 및 사용자 검수 테스트</a:t>
                      </a:r>
                      <a:endParaRPr lang="ko-KR" altLang="en-US" sz="105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dirty="0"/>
                        <a:t>O</a:t>
                      </a: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050" dirty="0"/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61314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051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229</Words>
  <Application>Microsoft Office PowerPoint</Application>
  <PresentationFormat>와이드스크린</PresentationFormat>
  <Paragraphs>68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Phase 2 계약 관련, SiliconCube 계약안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 J</dc:creator>
  <cp:lastModifiedBy>JY J</cp:lastModifiedBy>
  <cp:revision>1</cp:revision>
  <dcterms:created xsi:type="dcterms:W3CDTF">2026-04-08T04:31:10Z</dcterms:created>
  <dcterms:modified xsi:type="dcterms:W3CDTF">2026-04-08T07:13:18Z</dcterms:modified>
</cp:coreProperties>
</file>